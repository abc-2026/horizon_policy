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6256000" cy="9144000"/>
  <p:notesSz cx="9144000" cy="16256000"/>
  <p:embeddedFontLst>
    <p:embeddedFont>
      <p:font typeface="Quattrocento Sans" charset="-122" pitchFamily="34"/>
      <p:regular r:id="rId40"/>
    </p:embeddedFont>
    <p:embeddedFont>
      <p:font typeface="Liter" charset="-122" pitchFamily="34"/>
      <p:regular r:id="rId4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font" Target="fonts/font1.fntdata"/><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lalpathlabs.com/" TargetMode="External"/><Relationship Id="rId2" Type="http://schemas.openxmlformats.org/officeDocument/2006/relationships/hyperlink" Target="https://www.metropolisindia.com/" TargetMode="External"/><Relationship Id="rId3" Type="http://schemas.openxmlformats.org/officeDocument/2006/relationships/hyperlink" Target="https://economictimes.indiatimes.com/markets/stocks/news/dr-lal-pathlabs-metropolis-other-diagnostic-stocks-fall-up-to-3-after-amazon-launches-home-testing-service/articleshow/122017962.cms"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timesofindia.indiatimes.com/city/lucknow/sgpgims-gets-states-first-fully-automated-pathology-laboratory/articleshow/123081507.cms" TargetMode="External"/><Relationship Id="rId2" Type="http://schemas.openxmlformats.org/officeDocument/2006/relationships/hyperlink" Target="https://timesofindia.indiatimes.com/city/bhopal/aiims-bhopals-diagnostic-system-to-boost-patient-care/articleshow/124199566.cms"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twrgmxeyd52h4/mnt/agents/output/business_model/images/7_Festo_EXCP_Gantry_System_Compact.png">    </p:cNvPr>
          <p:cNvPicPr>
            <a:picLocks noChangeAspect="1"/>
          </p:cNvPicPr>
          <p:nvPr/>
        </p:nvPicPr>
        <p:blipFill>
          <a:blip r:embed="rId1"/>
          <a:srcRect l="0" r="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172A">
                  <a:alpha val="90000"/>
                </a:srgbClr>
              </a:gs>
              <a:gs pos="50000">
                <a:srgbClr val="0F172A">
                  <a:alpha val="80000"/>
                </a:srgbClr>
              </a:gs>
              <a:gs pos="100000">
                <a:srgbClr val="0F172A">
                  <a:alpha val="94000"/>
                </a:srgbClr>
              </a:gs>
            </a:gsLst>
            <a:lin ang="5400000" scaled="1"/>
          </a:gradFill>
          <a:ln w="12700">
            <a:solidFill>
              <a:srgbClr val="333333"/>
            </a:solidFill>
            <a:prstDash val="solid"/>
          </a:ln>
        </p:spPr>
      </p:sp>
      <p:sp>
        <p:nvSpPr>
          <p:cNvPr id="4" name="Shape 1"/>
          <p:cNvSpPr/>
          <p:nvPr/>
        </p:nvSpPr>
        <p:spPr>
          <a:xfrm>
            <a:off x="6858000" y="2476500"/>
            <a:ext cx="2540000" cy="38100"/>
          </a:xfrm>
          <a:prstGeom prst="rect">
            <a:avLst/>
          </a:prstGeom>
          <a:solidFill>
            <a:srgbClr val="D97706"/>
          </a:solidFill>
          <a:ln/>
        </p:spPr>
      </p:sp>
      <p:sp>
        <p:nvSpPr>
          <p:cNvPr id="5" name="Text 2"/>
          <p:cNvSpPr/>
          <p:nvPr/>
        </p:nvSpPr>
        <p:spPr>
          <a:xfrm>
            <a:off x="1270000" y="2730500"/>
            <a:ext cx="13716000" cy="1651000"/>
          </a:xfrm>
          <a:prstGeom prst="rect">
            <a:avLst/>
          </a:prstGeom>
          <a:noFill/>
          <a:ln/>
        </p:spPr>
        <p:txBody>
          <a:bodyPr wrap="square" lIns="0" tIns="0" rIns="0" bIns="0" rtlCol="0" anchor="ctr"/>
          <a:lstStyle/>
          <a:p>
            <a:pPr algn="ctr">
              <a:lnSpc>
                <a:spcPct val="120000"/>
              </a:lnSpc>
            </a:pPr>
            <a:r>
              <a:rPr lang="en-US" sz="4200" spc="200" kern="0" dirty="0">
                <a:solidFill>
                  <a:srgbClr val="F1F5F9"/>
                </a:solidFill>
                <a:latin typeface="Liter" pitchFamily="34" charset="0"/>
                <a:ea typeface="Liter" pitchFamily="34" charset="-122"/>
                <a:cs typeface="Liter" pitchFamily="34" charset="-120"/>
              </a:rPr>
              <a:t>INDIA-FIRST BUSINESS MODELS</a:t>
            </a:r>
            <a:endParaRPr lang="en-US" sz="4400" dirty="0"/>
          </a:p>
          <a:p>
            <a:pPr algn="ctr">
              <a:lnSpc>
                <a:spcPct val="120000"/>
              </a:lnSpc>
            </a:pPr>
            <a:r>
              <a:rPr lang="en-US" sz="4200" spc="200" kern="0" dirty="0">
                <a:solidFill>
                  <a:srgbClr val="F1F5F9"/>
                </a:solidFill>
                <a:latin typeface="Liter" pitchFamily="34" charset="0"/>
                <a:ea typeface="Liter" pitchFamily="34" charset="-122"/>
                <a:cs typeface="Liter" pitchFamily="34" charset="-120"/>
              </a:rPr>
              <a:t>FOR ADAPTIVE GANTRY &amp; VLA</a:t>
            </a:r>
            <a:endParaRPr lang="en-US" sz="4400" dirty="0"/>
          </a:p>
        </p:txBody>
      </p:sp>
      <p:sp>
        <p:nvSpPr>
          <p:cNvPr id="6" name="Text 3"/>
          <p:cNvSpPr/>
          <p:nvPr/>
        </p:nvSpPr>
        <p:spPr>
          <a:xfrm>
            <a:off x="1270000" y="4508500"/>
            <a:ext cx="13716000" cy="635000"/>
          </a:xfrm>
          <a:prstGeom prst="rect">
            <a:avLst/>
          </a:prstGeom>
          <a:noFill/>
          <a:ln/>
        </p:spPr>
        <p:txBody>
          <a:bodyPr wrap="square" lIns="0" tIns="0" rIns="0" bIns="0" rtlCol="0" anchor="ctr"/>
          <a:lstStyle/>
          <a:p>
            <a:pPr algn="ctr">
              <a:lnSpc>
                <a:spcPct val="100000"/>
              </a:lnSpc>
            </a:pPr>
            <a:r>
              <a:rPr lang="en-US" sz="2600" dirty="0">
                <a:solidFill>
                  <a:srgbClr val="F1F5F9"/>
                </a:solidFill>
                <a:latin typeface="Quattrocento Sans" pitchFamily="34" charset="0"/>
                <a:ea typeface="Quattrocento Sans" pitchFamily="34" charset="-122"/>
                <a:cs typeface="Quattrocento Sans" pitchFamily="34" charset="-120"/>
              </a:rPr>
              <a:t>Lab Automation in Diagnostic Labs</a:t>
            </a:r>
            <a:endParaRPr lang="en-US" sz="1600" dirty="0"/>
          </a:p>
        </p:txBody>
      </p:sp>
      <p:sp>
        <p:nvSpPr>
          <p:cNvPr id="7" name="Shape 4"/>
          <p:cNvSpPr/>
          <p:nvPr/>
        </p:nvSpPr>
        <p:spPr>
          <a:xfrm>
            <a:off x="6858000" y="5397500"/>
            <a:ext cx="2540000" cy="38100"/>
          </a:xfrm>
          <a:prstGeom prst="rect">
            <a:avLst/>
          </a:prstGeom>
          <a:solidFill>
            <a:srgbClr val="D97706"/>
          </a:solidFill>
          <a:ln/>
        </p:spPr>
      </p:sp>
      <p:sp>
        <p:nvSpPr>
          <p:cNvPr id="8" name="Text 5"/>
          <p:cNvSpPr/>
          <p:nvPr/>
        </p:nvSpPr>
        <p:spPr>
          <a:xfrm>
            <a:off x="2540000" y="5651500"/>
            <a:ext cx="11176000" cy="444500"/>
          </a:xfrm>
          <a:prstGeom prst="rect">
            <a:avLst/>
          </a:prstGeom>
          <a:noFill/>
          <a:ln/>
        </p:spPr>
        <p:txBody>
          <a:bodyPr wrap="square" lIns="0" tIns="0" rIns="0" bIns="0" rtlCol="0" anchor="ctr"/>
          <a:lstStyle/>
          <a:p>
            <a:pPr algn="ctr">
              <a:lnSpc>
                <a:spcPct val="100000"/>
              </a:lnSpc>
            </a:pPr>
            <a:r>
              <a:rPr lang="en-US" sz="1800" spc="300" kern="0" dirty="0">
                <a:solidFill>
                  <a:srgbClr val="D97706"/>
                </a:solidFill>
                <a:latin typeface="Quattrocento Sans" pitchFamily="34" charset="0"/>
                <a:ea typeface="Quattrocento Sans" pitchFamily="34" charset="-122"/>
                <a:cs typeface="Quattrocento Sans" pitchFamily="34" charset="-120"/>
              </a:rPr>
              <a:t>A STRATEGIC FRAMEWORK FOR WORKFLOW INFRASTRUCTURE MONETIZATION</a:t>
            </a:r>
            <a:endParaRPr lang="en-US" sz="1600" dirty="0"/>
          </a:p>
        </p:txBody>
      </p:sp>
      <p:sp>
        <p:nvSpPr>
          <p:cNvPr id="9" name="Text 6"/>
          <p:cNvSpPr/>
          <p:nvPr/>
        </p:nvSpPr>
        <p:spPr>
          <a:xfrm>
            <a:off x="5588000" y="8128000"/>
            <a:ext cx="5080000" cy="317500"/>
          </a:xfrm>
          <a:prstGeom prst="rect">
            <a:avLst/>
          </a:prstGeom>
          <a:noFill/>
          <a:ln/>
        </p:spPr>
        <p:txBody>
          <a:bodyPr wrap="square" lIns="0" tIns="0" rIns="0" bIns="0" rtlCol="0" anchor="ctr"/>
          <a:lstStyle/>
          <a:p>
            <a:pPr algn="ctr">
              <a:lnSpc>
                <a:spcPct val="140000"/>
              </a:lnSpc>
            </a:pPr>
            <a:r>
              <a:rPr lang="en-US" sz="1300" dirty="0">
                <a:solidFill>
                  <a:srgbClr val="94A3B8"/>
                </a:solidFill>
                <a:latin typeface="QuattrocentoSans" pitchFamily="34" charset="0"/>
                <a:ea typeface="QuattrocentoSans" pitchFamily="34" charset="-122"/>
                <a:cs typeface="QuattrocentoSans" pitchFamily="34" charset="-120"/>
              </a:rPr>
              <a:t>June 2026</a:t>
            </a:r>
            <a:endParaRPr lang="en-US" sz="13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62000" y="635000"/>
            <a:ext cx="5080000" cy="381000"/>
          </a:xfrm>
          <a:prstGeom prst="rect">
            <a:avLst/>
          </a:prstGeom>
          <a:noFill/>
          <a:ln/>
        </p:spPr>
        <p:txBody>
          <a:bodyPr wrap="none" lIns="0" tIns="0" rIns="0" bIns="0" rtlCol="0" anchor="ctr"/>
          <a:lstStyle/>
          <a:p>
            <a:pPr>
              <a:lnSpc>
                <a:spcPct val="100000"/>
              </a:lnSpc>
            </a:pPr>
            <a:r>
              <a:rPr lang="en-US" sz="1400" spc="400" kern="0" dirty="0">
                <a:solidFill>
                  <a:srgbClr val="D97706"/>
                </a:solidFill>
                <a:latin typeface="Liter" pitchFamily="34" charset="0"/>
                <a:ea typeface="Liter" pitchFamily="34" charset="-122"/>
                <a:cs typeface="Liter" pitchFamily="34" charset="-120"/>
              </a:rPr>
              <a:t>EXECUTIVE OVERVIEW</a:t>
            </a:r>
            <a:endParaRPr lang="en-US" sz="1600" dirty="0"/>
          </a:p>
        </p:txBody>
      </p:sp>
      <p:sp>
        <p:nvSpPr>
          <p:cNvPr id="3" name="Text 1"/>
          <p:cNvSpPr/>
          <p:nvPr/>
        </p:nvSpPr>
        <p:spPr>
          <a:xfrm>
            <a:off x="762000" y="1079500"/>
            <a:ext cx="7620000" cy="635000"/>
          </a:xfrm>
          <a:prstGeom prst="rect">
            <a:avLst/>
          </a:prstGeom>
          <a:noFill/>
          <a:ln/>
        </p:spPr>
        <p:txBody>
          <a:bodyPr wrap="none" lIns="0" tIns="0" rIns="0" bIns="0" rtlCol="0" anchor="ctr"/>
          <a:lstStyle/>
          <a:p>
            <a:pPr>
              <a:lnSpc>
                <a:spcPct val="100000"/>
              </a:lnSpc>
            </a:pPr>
            <a:r>
              <a:rPr lang="en-US" sz="3600" dirty="0">
                <a:solidFill>
                  <a:srgbClr val="F1F5F9"/>
                </a:solidFill>
                <a:latin typeface="Liter" pitchFamily="34" charset="0"/>
                <a:ea typeface="Liter" pitchFamily="34" charset="-122"/>
                <a:cs typeface="Liter" pitchFamily="34" charset="-120"/>
              </a:rPr>
              <a:t>Table of Contents</a:t>
            </a:r>
            <a:endParaRPr lang="en-US" sz="1600" dirty="0"/>
          </a:p>
        </p:txBody>
      </p:sp>
      <p:sp>
        <p:nvSpPr>
          <p:cNvPr id="4" name="Shape 2"/>
          <p:cNvSpPr/>
          <p:nvPr/>
        </p:nvSpPr>
        <p:spPr>
          <a:xfrm>
            <a:off x="762000" y="1841500"/>
            <a:ext cx="1016000" cy="38100"/>
          </a:xfrm>
          <a:prstGeom prst="rect">
            <a:avLst/>
          </a:prstGeom>
          <a:solidFill>
            <a:srgbClr val="D97706"/>
          </a:solidFill>
          <a:ln/>
        </p:spPr>
      </p:sp>
      <p:sp>
        <p:nvSpPr>
          <p:cNvPr id="5" name="Text 3"/>
          <p:cNvSpPr/>
          <p:nvPr/>
        </p:nvSpPr>
        <p:spPr>
          <a:xfrm>
            <a:off x="762000" y="2286000"/>
            <a:ext cx="889000" cy="635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01</a:t>
            </a:r>
            <a:endParaRPr lang="en-US" sz="1600" dirty="0"/>
          </a:p>
        </p:txBody>
      </p:sp>
      <p:sp>
        <p:nvSpPr>
          <p:cNvPr id="6" name="Text 4"/>
          <p:cNvSpPr/>
          <p:nvPr/>
        </p:nvSpPr>
        <p:spPr>
          <a:xfrm>
            <a:off x="1651000" y="2286000"/>
            <a:ext cx="5080000" cy="635000"/>
          </a:xfrm>
          <a:prstGeom prst="rect">
            <a:avLst/>
          </a:prstGeom>
          <a:noFill/>
          <a:ln/>
        </p:spPr>
        <p:txBody>
          <a:bodyPr wrap="none" lIns="0" tIns="0" rIns="0" bIns="0" rtlCol="0" anchor="ctr"/>
          <a:lstStyle/>
          <a:p>
            <a:pPr>
              <a:lnSpc>
                <a:spcPct val="100000"/>
              </a:lnSpc>
            </a:pPr>
            <a:r>
              <a:rPr lang="en-US" sz="2000" dirty="0">
                <a:solidFill>
                  <a:srgbClr val="F1F5F9"/>
                </a:solidFill>
                <a:latin typeface="Quattrocento Sans" pitchFamily="34" charset="0"/>
                <a:ea typeface="Quattrocento Sans" pitchFamily="34" charset="-122"/>
                <a:cs typeface="Quattrocento Sans" pitchFamily="34" charset="-120"/>
              </a:rPr>
              <a:t>Executive Summary &amp; Strategic Vision</a:t>
            </a:r>
            <a:endParaRPr lang="en-US" sz="1600" dirty="0"/>
          </a:p>
        </p:txBody>
      </p:sp>
      <p:sp>
        <p:nvSpPr>
          <p:cNvPr id="7" name="Text 5"/>
          <p:cNvSpPr/>
          <p:nvPr/>
        </p:nvSpPr>
        <p:spPr>
          <a:xfrm>
            <a:off x="762000" y="3175000"/>
            <a:ext cx="889000" cy="635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02</a:t>
            </a:r>
            <a:endParaRPr lang="en-US" sz="1600" dirty="0"/>
          </a:p>
        </p:txBody>
      </p:sp>
      <p:sp>
        <p:nvSpPr>
          <p:cNvPr id="8" name="Text 6"/>
          <p:cNvSpPr/>
          <p:nvPr/>
        </p:nvSpPr>
        <p:spPr>
          <a:xfrm>
            <a:off x="1651000" y="3175000"/>
            <a:ext cx="5080000" cy="635000"/>
          </a:xfrm>
          <a:prstGeom prst="rect">
            <a:avLst/>
          </a:prstGeom>
          <a:noFill/>
          <a:ln/>
        </p:spPr>
        <p:txBody>
          <a:bodyPr wrap="none" lIns="0" tIns="0" rIns="0" bIns="0" rtlCol="0" anchor="ctr"/>
          <a:lstStyle/>
          <a:p>
            <a:pPr>
              <a:lnSpc>
                <a:spcPct val="100000"/>
              </a:lnSpc>
            </a:pPr>
            <a:r>
              <a:rPr lang="en-US" sz="2000" dirty="0">
                <a:solidFill>
                  <a:srgbClr val="F1F5F9"/>
                </a:solidFill>
                <a:latin typeface="Quattrocento Sans" pitchFamily="34" charset="0"/>
                <a:ea typeface="Quattrocento Sans" pitchFamily="34" charset="-122"/>
                <a:cs typeface="Quattrocento Sans" pitchFamily="34" charset="-120"/>
              </a:rPr>
              <a:t>Problem Definition &amp; Solution Architecture</a:t>
            </a:r>
            <a:endParaRPr lang="en-US" sz="1600" dirty="0"/>
          </a:p>
        </p:txBody>
      </p:sp>
      <p:sp>
        <p:nvSpPr>
          <p:cNvPr id="9" name="Text 7"/>
          <p:cNvSpPr/>
          <p:nvPr/>
        </p:nvSpPr>
        <p:spPr>
          <a:xfrm>
            <a:off x="762000" y="4064000"/>
            <a:ext cx="889000" cy="635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03</a:t>
            </a:r>
            <a:endParaRPr lang="en-US" sz="1600" dirty="0"/>
          </a:p>
        </p:txBody>
      </p:sp>
      <p:sp>
        <p:nvSpPr>
          <p:cNvPr id="10" name="Text 8"/>
          <p:cNvSpPr/>
          <p:nvPr/>
        </p:nvSpPr>
        <p:spPr>
          <a:xfrm>
            <a:off x="1651000" y="4064000"/>
            <a:ext cx="5080000" cy="635000"/>
          </a:xfrm>
          <a:prstGeom prst="rect">
            <a:avLst/>
          </a:prstGeom>
          <a:noFill/>
          <a:ln/>
        </p:spPr>
        <p:txBody>
          <a:bodyPr wrap="none" lIns="0" tIns="0" rIns="0" bIns="0" rtlCol="0" anchor="ctr"/>
          <a:lstStyle/>
          <a:p>
            <a:pPr>
              <a:lnSpc>
                <a:spcPct val="100000"/>
              </a:lnSpc>
            </a:pPr>
            <a:r>
              <a:rPr lang="en-US" sz="2000" dirty="0">
                <a:solidFill>
                  <a:srgbClr val="F1F5F9"/>
                </a:solidFill>
                <a:latin typeface="Quattrocento Sans" pitchFamily="34" charset="0"/>
                <a:ea typeface="Quattrocento Sans" pitchFamily="34" charset="-122"/>
                <a:cs typeface="Quattrocento Sans" pitchFamily="34" charset="-120"/>
              </a:rPr>
              <a:t>Market Validation &amp; Evidence</a:t>
            </a:r>
            <a:endParaRPr lang="en-US" sz="1600" dirty="0"/>
          </a:p>
        </p:txBody>
      </p:sp>
      <p:sp>
        <p:nvSpPr>
          <p:cNvPr id="11" name="Text 9"/>
          <p:cNvSpPr/>
          <p:nvPr/>
        </p:nvSpPr>
        <p:spPr>
          <a:xfrm>
            <a:off x="8382000" y="2286000"/>
            <a:ext cx="889000" cy="635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04</a:t>
            </a:r>
            <a:endParaRPr lang="en-US" sz="1600" dirty="0"/>
          </a:p>
        </p:txBody>
      </p:sp>
      <p:sp>
        <p:nvSpPr>
          <p:cNvPr id="12" name="Text 10"/>
          <p:cNvSpPr/>
          <p:nvPr/>
        </p:nvSpPr>
        <p:spPr>
          <a:xfrm>
            <a:off x="9271000" y="2286000"/>
            <a:ext cx="5080000" cy="635000"/>
          </a:xfrm>
          <a:prstGeom prst="rect">
            <a:avLst/>
          </a:prstGeom>
          <a:noFill/>
          <a:ln/>
        </p:spPr>
        <p:txBody>
          <a:bodyPr wrap="none" lIns="0" tIns="0" rIns="0" bIns="0" rtlCol="0" anchor="ctr"/>
          <a:lstStyle/>
          <a:p>
            <a:pPr>
              <a:lnSpc>
                <a:spcPct val="100000"/>
              </a:lnSpc>
            </a:pPr>
            <a:r>
              <a:rPr lang="en-US" sz="2000" dirty="0">
                <a:solidFill>
                  <a:srgbClr val="F1F5F9"/>
                </a:solidFill>
                <a:latin typeface="Quattrocento Sans" pitchFamily="34" charset="0"/>
                <a:ea typeface="Quattrocento Sans" pitchFamily="34" charset="-122"/>
                <a:cs typeface="Quattrocento Sans" pitchFamily="34" charset="-120"/>
              </a:rPr>
              <a:t>Business Model Architecture</a:t>
            </a:r>
            <a:endParaRPr lang="en-US" sz="1600" dirty="0"/>
          </a:p>
        </p:txBody>
      </p:sp>
      <p:sp>
        <p:nvSpPr>
          <p:cNvPr id="13" name="Text 11"/>
          <p:cNvSpPr/>
          <p:nvPr/>
        </p:nvSpPr>
        <p:spPr>
          <a:xfrm>
            <a:off x="8382000" y="3175000"/>
            <a:ext cx="889000" cy="635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05</a:t>
            </a:r>
            <a:endParaRPr lang="en-US" sz="1600" dirty="0"/>
          </a:p>
        </p:txBody>
      </p:sp>
      <p:sp>
        <p:nvSpPr>
          <p:cNvPr id="14" name="Text 12"/>
          <p:cNvSpPr/>
          <p:nvPr/>
        </p:nvSpPr>
        <p:spPr>
          <a:xfrm>
            <a:off x="9271000" y="3175000"/>
            <a:ext cx="5080000" cy="635000"/>
          </a:xfrm>
          <a:prstGeom prst="rect">
            <a:avLst/>
          </a:prstGeom>
          <a:noFill/>
          <a:ln/>
        </p:spPr>
        <p:txBody>
          <a:bodyPr wrap="none" lIns="0" tIns="0" rIns="0" bIns="0" rtlCol="0" anchor="ctr"/>
          <a:lstStyle/>
          <a:p>
            <a:pPr>
              <a:lnSpc>
                <a:spcPct val="100000"/>
              </a:lnSpc>
            </a:pPr>
            <a:r>
              <a:rPr lang="en-US" sz="2000" dirty="0">
                <a:solidFill>
                  <a:srgbClr val="F1F5F9"/>
                </a:solidFill>
                <a:latin typeface="Quattrocento Sans" pitchFamily="34" charset="0"/>
                <a:ea typeface="Quattrocento Sans" pitchFamily="34" charset="-122"/>
                <a:cs typeface="Quattrocento Sans" pitchFamily="34" charset="-120"/>
              </a:rPr>
              <a:t>Go-to-Market Strategy</a:t>
            </a:r>
            <a:endParaRPr lang="en-US" sz="1600" dirty="0"/>
          </a:p>
        </p:txBody>
      </p:sp>
      <p:sp>
        <p:nvSpPr>
          <p:cNvPr id="15" name="Text 13"/>
          <p:cNvSpPr/>
          <p:nvPr/>
        </p:nvSpPr>
        <p:spPr>
          <a:xfrm>
            <a:off x="8382000" y="4064000"/>
            <a:ext cx="889000" cy="635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06</a:t>
            </a:r>
            <a:endParaRPr lang="en-US" sz="1600" dirty="0"/>
          </a:p>
        </p:txBody>
      </p:sp>
      <p:sp>
        <p:nvSpPr>
          <p:cNvPr id="16" name="Text 14"/>
          <p:cNvSpPr/>
          <p:nvPr/>
        </p:nvSpPr>
        <p:spPr>
          <a:xfrm>
            <a:off x="9271000" y="4064000"/>
            <a:ext cx="5080000" cy="635000"/>
          </a:xfrm>
          <a:prstGeom prst="rect">
            <a:avLst/>
          </a:prstGeom>
          <a:noFill/>
          <a:ln/>
        </p:spPr>
        <p:txBody>
          <a:bodyPr wrap="none" lIns="0" tIns="0" rIns="0" bIns="0" rtlCol="0" anchor="ctr"/>
          <a:lstStyle/>
          <a:p>
            <a:pPr>
              <a:lnSpc>
                <a:spcPct val="100000"/>
              </a:lnSpc>
            </a:pPr>
            <a:r>
              <a:rPr lang="en-US" sz="2000" dirty="0">
                <a:solidFill>
                  <a:srgbClr val="F1F5F9"/>
                </a:solidFill>
                <a:latin typeface="Quattrocento Sans" pitchFamily="34" charset="0"/>
                <a:ea typeface="Quattrocento Sans" pitchFamily="34" charset="-122"/>
                <a:cs typeface="Quattrocento Sans" pitchFamily="34" charset="-120"/>
              </a:rPr>
              <a:t>Rejected Models &amp; Rationale</a:t>
            </a:r>
            <a:endParaRPr lang="en-US" sz="1600" dirty="0"/>
          </a:p>
        </p:txBody>
      </p:sp>
      <p:sp>
        <p:nvSpPr>
          <p:cNvPr id="17" name="Text 15"/>
          <p:cNvSpPr/>
          <p:nvPr/>
        </p:nvSpPr>
        <p:spPr>
          <a:xfrm>
            <a:off x="762000" y="4953000"/>
            <a:ext cx="889000" cy="635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07</a:t>
            </a:r>
            <a:endParaRPr lang="en-US" sz="1600" dirty="0"/>
          </a:p>
        </p:txBody>
      </p:sp>
      <p:sp>
        <p:nvSpPr>
          <p:cNvPr id="18" name="Text 16"/>
          <p:cNvSpPr/>
          <p:nvPr/>
        </p:nvSpPr>
        <p:spPr>
          <a:xfrm>
            <a:off x="1651000" y="4953000"/>
            <a:ext cx="5080000" cy="635000"/>
          </a:xfrm>
          <a:prstGeom prst="rect">
            <a:avLst/>
          </a:prstGeom>
          <a:noFill/>
          <a:ln/>
        </p:spPr>
        <p:txBody>
          <a:bodyPr wrap="none" lIns="0" tIns="0" rIns="0" bIns="0" rtlCol="0" anchor="ctr"/>
          <a:lstStyle/>
          <a:p>
            <a:pPr>
              <a:lnSpc>
                <a:spcPct val="100000"/>
              </a:lnSpc>
            </a:pPr>
            <a:r>
              <a:rPr lang="en-US" sz="2000" dirty="0">
                <a:solidFill>
                  <a:srgbClr val="F1F5F9"/>
                </a:solidFill>
                <a:latin typeface="Quattrocento Sans" pitchFamily="34" charset="0"/>
                <a:ea typeface="Quattrocento Sans" pitchFamily="34" charset="-122"/>
                <a:cs typeface="Quattrocento Sans" pitchFamily="34" charset="-120"/>
              </a:rPr>
              <a:t>Risks, Limitations &amp; Conclusion</a:t>
            </a:r>
            <a:endParaRPr lang="en-US" sz="1600" dirty="0"/>
          </a:p>
        </p:txBody>
      </p:sp>
      <p:sp>
        <p:nvSpPr>
          <p:cNvPr id="19" name="Shape 17"/>
          <p:cNvSpPr/>
          <p:nvPr/>
        </p:nvSpPr>
        <p:spPr>
          <a:xfrm>
            <a:off x="762000" y="6096000"/>
            <a:ext cx="14732000" cy="12700"/>
          </a:xfrm>
          <a:prstGeom prst="rect">
            <a:avLst/>
          </a:prstGeom>
          <a:solidFill>
            <a:srgbClr val="334155"/>
          </a:solidFill>
          <a:ln/>
        </p:spPr>
      </p:sp>
      <p:sp>
        <p:nvSpPr>
          <p:cNvPr id="20" name="Text 18"/>
          <p:cNvSpPr/>
          <p:nvPr/>
        </p:nvSpPr>
        <p:spPr>
          <a:xfrm>
            <a:off x="762000" y="6477000"/>
            <a:ext cx="3810000" cy="317500"/>
          </a:xfrm>
          <a:prstGeom prst="rect">
            <a:avLst/>
          </a:prstGeom>
          <a:noFill/>
          <a:ln/>
        </p:spPr>
        <p:txBody>
          <a:bodyPr wrap="none" lIns="0" tIns="0" rIns="0" bIns="0" rtlCol="0" anchor="ctr"/>
          <a:lstStyle/>
          <a:p>
            <a:pPr>
              <a:lnSpc>
                <a:spcPct val="100000"/>
              </a:lnSpc>
            </a:pPr>
            <a:r>
              <a:rPr lang="en-US" sz="1300" spc="200" kern="0" dirty="0">
                <a:solidFill>
                  <a:srgbClr val="94A3B8"/>
                </a:solidFill>
                <a:latin typeface="Quattrocento Sans" pitchFamily="34" charset="0"/>
                <a:ea typeface="Quattrocento Sans" pitchFamily="34" charset="-122"/>
                <a:cs typeface="Quattrocento Sans" pitchFamily="34" charset="-120"/>
              </a:rPr>
              <a:t>PRESENTATION AT A GLANCE</a:t>
            </a:r>
            <a:endParaRPr lang="en-US" sz="1600" dirty="0"/>
          </a:p>
        </p:txBody>
      </p:sp>
      <p:sp>
        <p:nvSpPr>
          <p:cNvPr id="21" name="Text 19"/>
          <p:cNvSpPr/>
          <p:nvPr/>
        </p:nvSpPr>
        <p:spPr>
          <a:xfrm>
            <a:off x="762000" y="6985000"/>
            <a:ext cx="1524000" cy="635000"/>
          </a:xfrm>
          <a:prstGeom prst="rect">
            <a:avLst/>
          </a:prstGeom>
          <a:noFill/>
          <a:ln/>
        </p:spPr>
        <p:txBody>
          <a:bodyPr wrap="none" lIns="0" tIns="0" rIns="0" bIns="0" rtlCol="0" anchor="ctr"/>
          <a:lstStyle/>
          <a:p>
            <a:pPr>
              <a:lnSpc>
                <a:spcPct val="100000"/>
              </a:lnSpc>
            </a:pPr>
            <a:r>
              <a:rPr lang="en-US" sz="4000" dirty="0">
                <a:solidFill>
                  <a:srgbClr val="D97706"/>
                </a:solidFill>
                <a:latin typeface="Liter" pitchFamily="34" charset="0"/>
                <a:ea typeface="Liter" pitchFamily="34" charset="-122"/>
                <a:cs typeface="Liter" pitchFamily="34" charset="-120"/>
              </a:rPr>
              <a:t>33</a:t>
            </a:r>
            <a:endParaRPr lang="en-US" sz="1600" dirty="0"/>
          </a:p>
        </p:txBody>
      </p:sp>
      <p:sp>
        <p:nvSpPr>
          <p:cNvPr id="22" name="Text 20"/>
          <p:cNvSpPr/>
          <p:nvPr/>
        </p:nvSpPr>
        <p:spPr>
          <a:xfrm>
            <a:off x="762000" y="7620000"/>
            <a:ext cx="1524000" cy="317500"/>
          </a:xfrm>
          <a:prstGeom prst="rect">
            <a:avLst/>
          </a:prstGeom>
          <a:noFill/>
          <a:ln/>
        </p:spPr>
        <p:txBody>
          <a:bodyPr wrap="none" lIns="0" tIns="0" rIns="0" bIns="0" rtlCol="0" anchor="ctr"/>
          <a:lstStyle/>
          <a:p>
            <a:pPr>
              <a:lnSpc>
                <a:spcPct val="100000"/>
              </a:lnSpc>
            </a:pPr>
            <a:r>
              <a:rPr lang="en-US" sz="1300" dirty="0">
                <a:solidFill>
                  <a:srgbClr val="94A3B8"/>
                </a:solidFill>
                <a:latin typeface="Quattrocento Sans" pitchFamily="34" charset="0"/>
                <a:ea typeface="Quattrocento Sans" pitchFamily="34" charset="-122"/>
                <a:cs typeface="Quattrocento Sans" pitchFamily="34" charset="-120"/>
              </a:rPr>
              <a:t>Slides</a:t>
            </a:r>
            <a:endParaRPr lang="en-US" sz="1600" dirty="0"/>
          </a:p>
        </p:txBody>
      </p:sp>
      <p:sp>
        <p:nvSpPr>
          <p:cNvPr id="23" name="Text 21"/>
          <p:cNvSpPr/>
          <p:nvPr/>
        </p:nvSpPr>
        <p:spPr>
          <a:xfrm>
            <a:off x="2794000" y="6985000"/>
            <a:ext cx="1524000" cy="635000"/>
          </a:xfrm>
          <a:prstGeom prst="rect">
            <a:avLst/>
          </a:prstGeom>
          <a:noFill/>
          <a:ln/>
        </p:spPr>
        <p:txBody>
          <a:bodyPr wrap="none" lIns="0" tIns="0" rIns="0" bIns="0" rtlCol="0" anchor="ctr"/>
          <a:lstStyle/>
          <a:p>
            <a:pPr>
              <a:lnSpc>
                <a:spcPct val="100000"/>
              </a:lnSpc>
            </a:pPr>
            <a:r>
              <a:rPr lang="en-US" sz="4000" dirty="0">
                <a:solidFill>
                  <a:srgbClr val="D97706"/>
                </a:solidFill>
                <a:latin typeface="Liter" pitchFamily="34" charset="0"/>
                <a:ea typeface="Liter" pitchFamily="34" charset="-122"/>
                <a:cs typeface="Liter" pitchFamily="34" charset="-120"/>
              </a:rPr>
              <a:t>6</a:t>
            </a:r>
            <a:endParaRPr lang="en-US" sz="1600" dirty="0"/>
          </a:p>
        </p:txBody>
      </p:sp>
      <p:sp>
        <p:nvSpPr>
          <p:cNvPr id="24" name="Text 22"/>
          <p:cNvSpPr/>
          <p:nvPr/>
        </p:nvSpPr>
        <p:spPr>
          <a:xfrm>
            <a:off x="2794000" y="7620000"/>
            <a:ext cx="1524000" cy="317500"/>
          </a:xfrm>
          <a:prstGeom prst="rect">
            <a:avLst/>
          </a:prstGeom>
          <a:noFill/>
          <a:ln/>
        </p:spPr>
        <p:txBody>
          <a:bodyPr wrap="none" lIns="0" tIns="0" rIns="0" bIns="0" rtlCol="0" anchor="ctr"/>
          <a:lstStyle/>
          <a:p>
            <a:pPr>
              <a:lnSpc>
                <a:spcPct val="100000"/>
              </a:lnSpc>
            </a:pPr>
            <a:r>
              <a:rPr lang="en-US" sz="1300" dirty="0">
                <a:solidFill>
                  <a:srgbClr val="94A3B8"/>
                </a:solidFill>
                <a:latin typeface="Quattrocento Sans" pitchFamily="34" charset="0"/>
                <a:ea typeface="Quattrocento Sans" pitchFamily="34" charset="-122"/>
                <a:cs typeface="Quattrocento Sans" pitchFamily="34" charset="-120"/>
              </a:rPr>
              <a:t>Models Analyzed</a:t>
            </a:r>
            <a:endParaRPr lang="en-US" sz="1600" dirty="0"/>
          </a:p>
        </p:txBody>
      </p:sp>
      <p:sp>
        <p:nvSpPr>
          <p:cNvPr id="25" name="Text 23"/>
          <p:cNvSpPr/>
          <p:nvPr/>
        </p:nvSpPr>
        <p:spPr>
          <a:xfrm>
            <a:off x="4826000" y="6985000"/>
            <a:ext cx="1524000" cy="635000"/>
          </a:xfrm>
          <a:prstGeom prst="rect">
            <a:avLst/>
          </a:prstGeom>
          <a:noFill/>
          <a:ln/>
        </p:spPr>
        <p:txBody>
          <a:bodyPr wrap="none" lIns="0" tIns="0" rIns="0" bIns="0" rtlCol="0" anchor="ctr"/>
          <a:lstStyle/>
          <a:p>
            <a:pPr>
              <a:lnSpc>
                <a:spcPct val="100000"/>
              </a:lnSpc>
            </a:pPr>
            <a:r>
              <a:rPr lang="en-US" sz="4000" dirty="0">
                <a:solidFill>
                  <a:srgbClr val="D97706"/>
                </a:solidFill>
                <a:latin typeface="Liter" pitchFamily="34" charset="0"/>
                <a:ea typeface="Liter" pitchFamily="34" charset="-122"/>
                <a:cs typeface="Liter" pitchFamily="34" charset="-120"/>
              </a:rPr>
              <a:t>3</a:t>
            </a:r>
            <a:endParaRPr lang="en-US" sz="1600" dirty="0"/>
          </a:p>
        </p:txBody>
      </p:sp>
      <p:sp>
        <p:nvSpPr>
          <p:cNvPr id="26" name="Text 24"/>
          <p:cNvSpPr/>
          <p:nvPr/>
        </p:nvSpPr>
        <p:spPr>
          <a:xfrm>
            <a:off x="4826000" y="7620000"/>
            <a:ext cx="1524000" cy="317500"/>
          </a:xfrm>
          <a:prstGeom prst="rect">
            <a:avLst/>
          </a:prstGeom>
          <a:noFill/>
          <a:ln/>
        </p:spPr>
        <p:txBody>
          <a:bodyPr wrap="none" lIns="0" tIns="0" rIns="0" bIns="0" rtlCol="0" anchor="ctr"/>
          <a:lstStyle/>
          <a:p>
            <a:pPr>
              <a:lnSpc>
                <a:spcPct val="100000"/>
              </a:lnSpc>
            </a:pPr>
            <a:r>
              <a:rPr lang="en-US" sz="1300" dirty="0">
                <a:solidFill>
                  <a:srgbClr val="94A3B8"/>
                </a:solidFill>
                <a:latin typeface="Quattrocento Sans" pitchFamily="34" charset="0"/>
                <a:ea typeface="Quattrocento Sans" pitchFamily="34" charset="-122"/>
                <a:cs typeface="Quattrocento Sans" pitchFamily="34" charset="-120"/>
              </a:rPr>
              <a:t>Revenue Pillars</a:t>
            </a:r>
            <a:endParaRPr lang="en-US" sz="1600" dirty="0"/>
          </a:p>
        </p:txBody>
      </p:sp>
      <p:sp>
        <p:nvSpPr>
          <p:cNvPr id="27" name="Text 25"/>
          <p:cNvSpPr/>
          <p:nvPr/>
        </p:nvSpPr>
        <p:spPr>
          <a:xfrm>
            <a:off x="6858000" y="6985000"/>
            <a:ext cx="1524000" cy="635000"/>
          </a:xfrm>
          <a:prstGeom prst="rect">
            <a:avLst/>
          </a:prstGeom>
          <a:noFill/>
          <a:ln/>
        </p:spPr>
        <p:txBody>
          <a:bodyPr wrap="none" lIns="0" tIns="0" rIns="0" bIns="0" rtlCol="0" anchor="ctr"/>
          <a:lstStyle/>
          <a:p>
            <a:pPr>
              <a:lnSpc>
                <a:spcPct val="100000"/>
              </a:lnSpc>
            </a:pPr>
            <a:r>
              <a:rPr lang="en-US" sz="4000" dirty="0">
                <a:solidFill>
                  <a:srgbClr val="D97706"/>
                </a:solidFill>
                <a:latin typeface="Liter" pitchFamily="34" charset="0"/>
                <a:ea typeface="Liter" pitchFamily="34" charset="-122"/>
                <a:cs typeface="Liter" pitchFamily="34" charset="-120"/>
              </a:rPr>
              <a:t>4</a:t>
            </a:r>
            <a:endParaRPr lang="en-US" sz="1600" dirty="0"/>
          </a:p>
        </p:txBody>
      </p:sp>
      <p:sp>
        <p:nvSpPr>
          <p:cNvPr id="28" name="Text 26"/>
          <p:cNvSpPr/>
          <p:nvPr/>
        </p:nvSpPr>
        <p:spPr>
          <a:xfrm>
            <a:off x="6858000" y="7620000"/>
            <a:ext cx="2032000" cy="317500"/>
          </a:xfrm>
          <a:prstGeom prst="rect">
            <a:avLst/>
          </a:prstGeom>
          <a:noFill/>
          <a:ln/>
        </p:spPr>
        <p:txBody>
          <a:bodyPr wrap="none" lIns="0" tIns="0" rIns="0" bIns="0" rtlCol="0" anchor="ctr"/>
          <a:lstStyle/>
          <a:p>
            <a:pPr>
              <a:lnSpc>
                <a:spcPct val="100000"/>
              </a:lnSpc>
            </a:pPr>
            <a:r>
              <a:rPr lang="en-US" sz="1300" dirty="0">
                <a:solidFill>
                  <a:srgbClr val="94A3B8"/>
                </a:solidFill>
                <a:latin typeface="Quattrocento Sans" pitchFamily="34" charset="0"/>
                <a:ea typeface="Quattrocento Sans" pitchFamily="34" charset="-122"/>
                <a:cs typeface="Quattrocento Sans" pitchFamily="34" charset="-120"/>
              </a:rPr>
              <a:t>Phases of Evolution</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62000" y="2286000"/>
            <a:ext cx="3810000" cy="1524000"/>
          </a:xfrm>
          <a:prstGeom prst="rect">
            <a:avLst/>
          </a:prstGeom>
          <a:noFill/>
          <a:ln/>
        </p:spPr>
        <p:txBody>
          <a:bodyPr wrap="none" lIns="0" tIns="0" rIns="0" bIns="0" rtlCol="0" anchor="ctr"/>
          <a:lstStyle/>
          <a:p>
            <a:pPr>
              <a:lnSpc>
                <a:spcPct val="100000"/>
              </a:lnSpc>
            </a:pPr>
            <a:r>
              <a:rPr lang="en-US" sz="9600" dirty="0">
                <a:solidFill>
                  <a:srgbClr val="D97706"/>
                </a:solidFill>
                <a:latin typeface="Liter" pitchFamily="34" charset="0"/>
                <a:ea typeface="Liter" pitchFamily="34" charset="-122"/>
                <a:cs typeface="Liter" pitchFamily="34" charset="-120"/>
              </a:rPr>
              <a:t>01</a:t>
            </a:r>
            <a:endParaRPr lang="en-US" sz="1600" dirty="0"/>
          </a:p>
        </p:txBody>
      </p:sp>
      <p:sp>
        <p:nvSpPr>
          <p:cNvPr id="3" name="Text 1"/>
          <p:cNvSpPr/>
          <p:nvPr/>
        </p:nvSpPr>
        <p:spPr>
          <a:xfrm>
            <a:off x="762000" y="3937000"/>
            <a:ext cx="11430000" cy="698500"/>
          </a:xfrm>
          <a:prstGeom prst="rect">
            <a:avLst/>
          </a:prstGeom>
          <a:noFill/>
          <a:ln/>
        </p:spPr>
        <p:txBody>
          <a:bodyPr wrap="none" lIns="0" tIns="0" rIns="0" bIns="0" rtlCol="0" anchor="ctr"/>
          <a:lstStyle/>
          <a:p>
            <a:pPr>
              <a:lnSpc>
                <a:spcPct val="100000"/>
              </a:lnSpc>
            </a:pPr>
            <a:r>
              <a:rPr lang="en-US" sz="3800" spc="100" kern="0" dirty="0">
                <a:solidFill>
                  <a:srgbClr val="F1F5F9"/>
                </a:solidFill>
                <a:latin typeface="Liter" pitchFamily="34" charset="0"/>
                <a:ea typeface="Liter" pitchFamily="34" charset="-122"/>
                <a:cs typeface="Liter" pitchFamily="34" charset="-120"/>
              </a:rPr>
              <a:t>EXECUTIVE SUMMARY &amp; STRATEGIC VISION</a:t>
            </a:r>
            <a:endParaRPr lang="en-US" sz="1600" dirty="0"/>
          </a:p>
        </p:txBody>
      </p:sp>
      <p:sp>
        <p:nvSpPr>
          <p:cNvPr id="4" name="Shape 2"/>
          <p:cNvSpPr/>
          <p:nvPr/>
        </p:nvSpPr>
        <p:spPr>
          <a:xfrm>
            <a:off x="762000" y="4826000"/>
            <a:ext cx="1524000" cy="50800"/>
          </a:xfrm>
          <a:prstGeom prst="rect">
            <a:avLst/>
          </a:prstGeom>
          <a:solidFill>
            <a:srgbClr val="D97706"/>
          </a:solidFill>
          <a:ln/>
        </p:spPr>
      </p:sp>
      <p:sp>
        <p:nvSpPr>
          <p:cNvPr id="5" name="Text 3"/>
          <p:cNvSpPr/>
          <p:nvPr/>
        </p:nvSpPr>
        <p:spPr>
          <a:xfrm>
            <a:off x="762000" y="5080000"/>
            <a:ext cx="10160000" cy="444500"/>
          </a:xfrm>
          <a:prstGeom prst="rect">
            <a:avLst/>
          </a:prstGeom>
          <a:noFill/>
          <a:ln/>
        </p:spPr>
        <p:txBody>
          <a:bodyPr wrap="square" lIns="0" tIns="0" rIns="0" bIns="0" rtlCol="0" anchor="ctr"/>
          <a:lstStyle/>
          <a:p>
            <a:pPr>
              <a:lnSpc>
                <a:spcPct val="100000"/>
              </a:lnSpc>
            </a:pPr>
            <a:r>
              <a:rPr lang="en-US" sz="1800" dirty="0">
                <a:solidFill>
                  <a:srgbClr val="475569"/>
                </a:solidFill>
                <a:latin typeface="Quattrocento Sans" pitchFamily="34" charset="0"/>
                <a:ea typeface="Quattrocento Sans" pitchFamily="34" charset="-122"/>
                <a:cs typeface="Quattrocento Sans" pitchFamily="34" charset="-120"/>
              </a:rPr>
              <a:t>The highest-probability commercial model and the strategic reasoning behind it</a:t>
            </a:r>
            <a:endParaRPr lang="en-US" sz="1600" dirty="0"/>
          </a:p>
        </p:txBody>
      </p:sp>
      <p:sp>
        <p:nvSpPr>
          <p:cNvPr id="6" name="Shape 4"/>
          <p:cNvSpPr/>
          <p:nvPr/>
        </p:nvSpPr>
        <p:spPr>
          <a:xfrm>
            <a:off x="15240000" y="0"/>
            <a:ext cx="1016000" cy="9144000"/>
          </a:xfrm>
          <a:prstGeom prst="rect">
            <a:avLst/>
          </a:prstGeom>
          <a:solidFill>
            <a:srgbClr val="D97706">
              <a:alpha val="15000"/>
            </a:srgbClr>
          </a:solidFill>
          <a:ln/>
        </p:spPr>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Hybrid Model: Upfront + Recurring Software + Service Revenue</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6858000" cy="3556000"/>
          </a:xfrm>
          <a:prstGeom prst="rect">
            <a:avLst/>
          </a:prstGeom>
          <a:solidFill>
            <a:srgbClr val="F1F5F9"/>
          </a:solidFill>
          <a:ln w="12700">
            <a:solidFill>
              <a:srgbClr val="E2E8F0"/>
            </a:solidFill>
            <a:prstDash val="solid"/>
          </a:ln>
        </p:spPr>
      </p:sp>
      <p:sp>
        <p:nvSpPr>
          <p:cNvPr id="5" name="Text 3"/>
          <p:cNvSpPr/>
          <p:nvPr/>
        </p:nvSpPr>
        <p:spPr>
          <a:xfrm>
            <a:off x="1016000" y="1397000"/>
            <a:ext cx="6350000" cy="3810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THE RECOMMENDED MODEL</a:t>
            </a:r>
            <a:endParaRPr lang="en-US" sz="1600" dirty="0"/>
          </a:p>
        </p:txBody>
      </p:sp>
      <p:sp>
        <p:nvSpPr>
          <p:cNvPr id="6" name="Text 4"/>
          <p:cNvSpPr/>
          <p:nvPr/>
        </p:nvSpPr>
        <p:spPr>
          <a:xfrm>
            <a:off x="1016000" y="1841500"/>
            <a:ext cx="6350000" cy="2794000"/>
          </a:xfrm>
          <a:prstGeom prst="rect">
            <a:avLst/>
          </a:prstGeom>
          <a:noFill/>
          <a:ln/>
        </p:spPr>
        <p:txBody>
          <a:bodyPr wrap="square" lIns="0" tIns="0" rIns="0" bIns="0" rtlCol="0" anchor="t"/>
          <a:lstStyle/>
          <a:p>
            <a:pPr>
              <a:lnSpc>
                <a:spcPct val="150000"/>
              </a:lnSpc>
            </a:pPr>
            <a:r>
              <a:rPr lang="en-US" sz="1600" b="1" dirty="0">
                <a:solidFill>
                  <a:srgbClr val="1E293B"/>
                </a:solidFill>
                <a:latin typeface="QuattrocentoSans" pitchFamily="34" charset="0"/>
                <a:ea typeface="QuattrocentoSans" pitchFamily="34" charset="-122"/>
                <a:cs typeface="QuattrocentoSans" pitchFamily="34" charset="-120"/>
              </a:rPr>
              <a:t>1. Upfront Deployment Fee</a:t>
            </a:r>
            <a:pPr>
              <a:lnSpc>
                <a:spcPct val="150000"/>
              </a:lnSpc>
            </a:pPr>
            <a:r>
              <a:rPr lang="en-US" sz="1600" dirty="0">
                <a:solidFill>
                  <a:srgbClr val="1E293B"/>
                </a:solidFill>
                <a:latin typeface="QuattrocentoSans" pitchFamily="34" charset="0"/>
                <a:ea typeface="QuattrocentoSans" pitchFamily="34" charset="-122"/>
                <a:cs typeface="QuattrocentoSans" pitchFamily="34" charset="-120"/>
              </a:rPr>
              <a:t> for hardware and integration</a:t>
            </a:r>
            <a:endParaRPr lang="en-US" sz="1800" dirty="0"/>
          </a:p>
          <a:p>
            <a:pPr>
              <a:lnSpc>
                <a:spcPct val="150000"/>
              </a:lnSpc>
            </a:pPr>
            <a:r>
              <a:rPr lang="en-US" sz="1600" b="1" dirty="0">
                <a:solidFill>
                  <a:srgbClr val="1E293B"/>
                </a:solidFill>
                <a:latin typeface="QuattrocentoSans" pitchFamily="34" charset="0"/>
                <a:ea typeface="QuattrocentoSans" pitchFamily="34" charset="-122"/>
                <a:cs typeface="QuattrocentoSans" pitchFamily="34" charset="-120"/>
              </a:rPr>
              <a:t>2. Recurring Software &amp; Support</a:t>
            </a:r>
            <a:pPr>
              <a:lnSpc>
                <a:spcPct val="150000"/>
              </a:lnSpc>
            </a:pPr>
            <a:r>
              <a:rPr lang="en-US" sz="1600" dirty="0">
                <a:solidFill>
                  <a:srgbClr val="1E293B"/>
                </a:solidFill>
                <a:latin typeface="QuattrocentoSans" pitchFamily="34" charset="0"/>
                <a:ea typeface="QuattrocentoSans" pitchFamily="34" charset="-122"/>
                <a:cs typeface="QuattrocentoSans" pitchFamily="34" charset="-120"/>
              </a:rPr>
              <a:t> revenue locked in</a:t>
            </a:r>
            <a:endParaRPr lang="en-US" sz="1800" dirty="0"/>
          </a:p>
          <a:p>
            <a:pPr>
              <a:lnSpc>
                <a:spcPct val="150000"/>
              </a:lnSpc>
            </a:pPr>
            <a:r>
              <a:rPr lang="en-US" sz="1600" b="1" dirty="0">
                <a:solidFill>
                  <a:srgbClr val="1E293B"/>
                </a:solidFill>
                <a:latin typeface="QuattrocentoSans" pitchFamily="34" charset="0"/>
                <a:ea typeface="QuattrocentoSans" pitchFamily="34" charset="-122"/>
                <a:cs typeface="QuattrocentoSans" pitchFamily="34" charset="-120"/>
              </a:rPr>
              <a:t>3. Smaller Recurring Revenue</a:t>
            </a:r>
            <a:pPr>
              <a:lnSpc>
                <a:spcPct val="150000"/>
              </a:lnSpc>
            </a:pPr>
            <a:r>
              <a:rPr lang="en-US" sz="1600" dirty="0">
                <a:solidFill>
                  <a:srgbClr val="1E293B"/>
                </a:solidFill>
                <a:latin typeface="QuattrocentoSans" pitchFamily="34" charset="0"/>
                <a:ea typeface="QuattrocentoSans" pitchFamily="34" charset="-122"/>
                <a:cs typeface="QuattrocentoSans" pitchFamily="34" charset="-120"/>
              </a:rPr>
              <a:t> from workflow packs, PM kits, SLA tiers</a:t>
            </a:r>
            <a:endParaRPr lang="en-US" sz="1800" dirty="0"/>
          </a:p>
          <a:p>
            <a:pPr>
              <a:lnSpc>
                <a:spcPct val="150000"/>
              </a:lnSpc>
              <a:spcBef>
                <a:spcPts val="1000"/>
              </a:spcBef>
            </a:pPr>
            <a:r>
              <a:rPr lang="en-US" sz="1600" dirty="0">
                <a:solidFill>
                  <a:srgbClr val="1E293B"/>
                </a:solidFill>
                <a:latin typeface="QuattrocentoSans" pitchFamily="34" charset="0"/>
                <a:ea typeface="QuattrocentoSans" pitchFamily="34" charset="-122"/>
                <a:cs typeface="QuattrocentoSans" pitchFamily="34" charset="-120"/>
              </a:rPr>
              <a:t>This structure matches the underlying problem: Indian labs have real pain in manual </a:t>
            </a:r>
            <a:pPr>
              <a:lnSpc>
                <a:spcPct val="150000"/>
              </a:lnSpc>
              <a:spcBef>
                <a:spcPts val="1000"/>
              </a:spcBef>
            </a:pPr>
            <a:r>
              <a:rPr lang="en-US" sz="1600" dirty="0">
                <a:solidFill>
                  <a:srgbClr val="D97706"/>
                </a:solidFill>
                <a:latin typeface="QuattrocentoSans" pitchFamily="34" charset="0"/>
                <a:ea typeface="QuattrocentoSans" pitchFamily="34" charset="-122"/>
                <a:cs typeface="QuattrocentoSans" pitchFamily="34" charset="-120"/>
              </a:rPr>
              <a:t>"glue work,"</a:t>
            </a:r>
            <a:pPr>
              <a:lnSpc>
                <a:spcPct val="150000"/>
              </a:lnSpc>
              <a:spcBef>
                <a:spcPts val="1000"/>
              </a:spcBef>
            </a:pPr>
            <a:r>
              <a:rPr lang="en-US" sz="1600" dirty="0">
                <a:solidFill>
                  <a:srgbClr val="1E293B"/>
                </a:solidFill>
                <a:latin typeface="QuattrocentoSans" pitchFamily="34" charset="0"/>
                <a:ea typeface="QuattrocentoSans" pitchFamily="34" charset="-122"/>
                <a:cs typeface="QuattrocentoSans" pitchFamily="34" charset="-120"/>
              </a:rPr>
              <a:t> sample movement, routing, and repetitive handoffs.</a:t>
            </a:r>
            <a:endParaRPr lang="en-US" sz="1800" dirty="0"/>
          </a:p>
        </p:txBody>
      </p:sp>
      <p:sp>
        <p:nvSpPr>
          <p:cNvPr id="7" name="Shape 5"/>
          <p:cNvSpPr/>
          <p:nvPr/>
        </p:nvSpPr>
        <p:spPr>
          <a:xfrm>
            <a:off x="7874000" y="1270000"/>
            <a:ext cx="7620000" cy="3556000"/>
          </a:xfrm>
          <a:prstGeom prst="rect">
            <a:avLst/>
          </a:prstGeom>
          <a:solidFill>
            <a:srgbClr val="1E293B"/>
          </a:solidFill>
          <a:ln/>
        </p:spPr>
      </p:sp>
      <p:sp>
        <p:nvSpPr>
          <p:cNvPr id="8" name="Text 6"/>
          <p:cNvSpPr/>
          <p:nvPr/>
        </p:nvSpPr>
        <p:spPr>
          <a:xfrm>
            <a:off x="8128000" y="1397000"/>
            <a:ext cx="7112000" cy="3810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PHASE-ONE WEDGE</a:t>
            </a:r>
            <a:endParaRPr lang="en-US" sz="1600" dirty="0"/>
          </a:p>
        </p:txBody>
      </p:sp>
      <p:sp>
        <p:nvSpPr>
          <p:cNvPr id="9" name="Text 7"/>
          <p:cNvSpPr/>
          <p:nvPr/>
        </p:nvSpPr>
        <p:spPr>
          <a:xfrm>
            <a:off x="8128000" y="1841500"/>
            <a:ext cx="7112000" cy="2794000"/>
          </a:xfrm>
          <a:prstGeom prst="rect">
            <a:avLst/>
          </a:prstGeom>
          <a:noFill/>
          <a:ln/>
        </p:spPr>
        <p:txBody>
          <a:bodyPr wrap="square" lIns="0" tIns="0" rIns="0" bIns="0" rtlCol="0" anchor="t"/>
          <a:lstStyle/>
          <a:p>
            <a:pPr>
              <a:lnSpc>
                <a:spcPct val="150000"/>
              </a:lnSpc>
            </a:pPr>
            <a:r>
              <a:rPr lang="en-US" sz="1600" b="1" dirty="0">
                <a:solidFill>
                  <a:srgbClr val="F1F5F9"/>
                </a:solidFill>
                <a:latin typeface="Quattrocento Sans" pitchFamily="34" charset="0"/>
                <a:ea typeface="Quattrocento Sans" pitchFamily="34" charset="-122"/>
                <a:cs typeface="Quattrocento Sans" pitchFamily="34" charset="-120"/>
              </a:rPr>
              <a:t>Gantry-based tube handling</a:t>
            </a:r>
            <a:pPr>
              <a:lnSpc>
                <a:spcPct val="150000"/>
              </a:lnSpc>
            </a:pPr>
            <a:r>
              <a:rPr lang="en-US" sz="1600" dirty="0">
                <a:solidFill>
                  <a:srgbClr val="F1F5F9"/>
                </a:solidFill>
                <a:latin typeface="Quattrocento Sans" pitchFamily="34" charset="0"/>
                <a:ea typeface="Quattrocento Sans" pitchFamily="34" charset="-122"/>
                <a:cs typeface="Quattrocento Sans" pitchFamily="34" charset="-120"/>
              </a:rPr>
              <a:t> in constrained lab spaces</a:t>
            </a:r>
            <a:endParaRPr lang="en-US" sz="1600" dirty="0"/>
          </a:p>
          <a:p>
            <a:pPr>
              <a:lnSpc>
                <a:spcPct val="150000"/>
              </a:lnSpc>
              <a:spcBef>
                <a:spcPts val="800"/>
              </a:spcBef>
            </a:pPr>
            <a:r>
              <a:rPr lang="en-US" sz="1600" dirty="0">
                <a:solidFill>
                  <a:srgbClr val="F1F5F9"/>
                </a:solidFill>
                <a:latin typeface="Quattrocento Sans" pitchFamily="34" charset="0"/>
                <a:ea typeface="Quattrocento Sans" pitchFamily="34" charset="-122"/>
                <a:cs typeface="Quattrocento Sans" pitchFamily="34" charset="-120"/>
              </a:rPr>
              <a:t>Fixed gantries carry </a:t>
            </a:r>
            <a:pPr>
              <a:lnSpc>
                <a:spcPct val="150000"/>
              </a:lnSpc>
              <a:spcBef>
                <a:spcPts val="800"/>
              </a:spcBef>
            </a:pPr>
            <a:r>
              <a:rPr lang="en-US" sz="1600" b="1" dirty="0">
                <a:solidFill>
                  <a:srgbClr val="F1F5F9"/>
                </a:solidFill>
                <a:latin typeface="Quattrocento Sans" pitchFamily="34" charset="0"/>
                <a:ea typeface="Quattrocento Sans" pitchFamily="34" charset="-122"/>
                <a:cs typeface="Quattrocento Sans" pitchFamily="34" charset="-120"/>
              </a:rPr>
              <a:t>lower safety and integration burden</a:t>
            </a:r>
            <a:pPr>
              <a:lnSpc>
                <a:spcPct val="150000"/>
              </a:lnSpc>
              <a:spcBef>
                <a:spcPts val="800"/>
              </a:spcBef>
            </a:pPr>
            <a:r>
              <a:rPr lang="en-US" sz="1600" dirty="0">
                <a:solidFill>
                  <a:srgbClr val="F1F5F9"/>
                </a:solidFill>
                <a:latin typeface="Quattrocento Sans" pitchFamily="34" charset="0"/>
                <a:ea typeface="Quattrocento Sans" pitchFamily="34" charset="-122"/>
                <a:cs typeface="Quattrocento Sans" pitchFamily="34" charset="-120"/>
              </a:rPr>
              <a:t> than general-purpose arms</a:t>
            </a:r>
            <a:endParaRPr lang="en-US" sz="1600" dirty="0"/>
          </a:p>
          <a:p>
            <a:pPr>
              <a:lnSpc>
                <a:spcPct val="150000"/>
              </a:lnSpc>
              <a:spcBef>
                <a:spcPts val="800"/>
              </a:spcBef>
            </a:pPr>
            <a:r>
              <a:rPr lang="en-US" sz="1600" dirty="0">
                <a:solidFill>
                  <a:srgbClr val="F1F5F9"/>
                </a:solidFill>
                <a:latin typeface="Quattrocento Sans" pitchFamily="34" charset="0"/>
                <a:ea typeface="Quattrocento Sans" pitchFamily="34" charset="-122"/>
                <a:cs typeface="Quattrocento Sans" pitchFamily="34" charset="-120"/>
              </a:rPr>
              <a:t>Modular automation cell for: tube pickup, barcode reading, sorting, buffer handling, rack transfer, analyzer handoff, traceability-heavy "glue work"</a:t>
            </a:r>
            <a:endParaRPr lang="en-US" sz="1600" dirty="0"/>
          </a:p>
        </p:txBody>
      </p:sp>
      <p:sp>
        <p:nvSpPr>
          <p:cNvPr id="10" name="Shape 8"/>
          <p:cNvSpPr/>
          <p:nvPr/>
        </p:nvSpPr>
        <p:spPr>
          <a:xfrm>
            <a:off x="762000" y="5080000"/>
            <a:ext cx="14732000" cy="1524000"/>
          </a:xfrm>
          <a:prstGeom prst="rect">
            <a:avLst/>
          </a:prstGeom>
          <a:solidFill>
            <a:srgbClr val="FEF3C7"/>
          </a:solidFill>
          <a:ln w="12700">
            <a:solidFill>
              <a:srgbClr val="FCD34D"/>
            </a:solidFill>
            <a:prstDash val="solid"/>
          </a:ln>
        </p:spPr>
      </p:sp>
      <p:sp>
        <p:nvSpPr>
          <p:cNvPr id="11" name="Shape 9"/>
          <p:cNvSpPr/>
          <p:nvPr/>
        </p:nvSpPr>
        <p:spPr>
          <a:xfrm>
            <a:off x="1073150" y="5461000"/>
            <a:ext cx="342900" cy="457200"/>
          </a:xfrm>
          <a:custGeom>
            <a:avLst/>
            <a:gdLst/>
            <a:ahLst/>
            <a:cxnLst/>
            <a:rect l="l" t="t" r="r" b="b"/>
            <a:pathLst>
              <a:path w="342900" h="457200">
                <a:moveTo>
                  <a:pt x="261551" y="342900"/>
                </a:moveTo>
                <a:cubicBezTo>
                  <a:pt x="268069" y="322987"/>
                  <a:pt x="281107" y="304949"/>
                  <a:pt x="295841" y="289411"/>
                </a:cubicBezTo>
                <a:cubicBezTo>
                  <a:pt x="325041" y="258693"/>
                  <a:pt x="342900" y="217170"/>
                  <a:pt x="342900" y="171450"/>
                </a:cubicBezTo>
                <a:cubicBezTo>
                  <a:pt x="342900" y="76795"/>
                  <a:pt x="266105" y="0"/>
                  <a:pt x="171450" y="0"/>
                </a:cubicBezTo>
                <a:cubicBezTo>
                  <a:pt x="76795" y="0"/>
                  <a:pt x="0" y="76795"/>
                  <a:pt x="0" y="171450"/>
                </a:cubicBezTo>
                <a:cubicBezTo>
                  <a:pt x="0" y="217170"/>
                  <a:pt x="17859" y="258693"/>
                  <a:pt x="47059" y="289411"/>
                </a:cubicBezTo>
                <a:cubicBezTo>
                  <a:pt x="61793" y="304949"/>
                  <a:pt x="74920" y="322987"/>
                  <a:pt x="81349" y="342900"/>
                </a:cubicBezTo>
                <a:lnTo>
                  <a:pt x="261461" y="342900"/>
                </a:lnTo>
                <a:close/>
                <a:moveTo>
                  <a:pt x="257175" y="385763"/>
                </a:moveTo>
                <a:lnTo>
                  <a:pt x="85725" y="385763"/>
                </a:lnTo>
                <a:lnTo>
                  <a:pt x="85725" y="400050"/>
                </a:lnTo>
                <a:cubicBezTo>
                  <a:pt x="85725" y="439519"/>
                  <a:pt x="117693" y="471488"/>
                  <a:pt x="157163" y="471488"/>
                </a:cubicBezTo>
                <a:lnTo>
                  <a:pt x="185738" y="471488"/>
                </a:lnTo>
                <a:cubicBezTo>
                  <a:pt x="225207" y="471488"/>
                  <a:pt x="257175" y="439519"/>
                  <a:pt x="257175" y="400050"/>
                </a:cubicBezTo>
                <a:lnTo>
                  <a:pt x="257175" y="385763"/>
                </a:lnTo>
                <a:close/>
                <a:moveTo>
                  <a:pt x="164306" y="100013"/>
                </a:moveTo>
                <a:cubicBezTo>
                  <a:pt x="128766" y="100013"/>
                  <a:pt x="100013" y="128766"/>
                  <a:pt x="100013" y="164306"/>
                </a:cubicBezTo>
                <a:cubicBezTo>
                  <a:pt x="100013" y="176183"/>
                  <a:pt x="90458" y="185738"/>
                  <a:pt x="78581" y="185738"/>
                </a:cubicBezTo>
                <a:cubicBezTo>
                  <a:pt x="66705" y="185738"/>
                  <a:pt x="57150" y="176183"/>
                  <a:pt x="57150" y="164306"/>
                </a:cubicBezTo>
                <a:cubicBezTo>
                  <a:pt x="57150" y="105102"/>
                  <a:pt x="105102" y="57150"/>
                  <a:pt x="164306" y="57150"/>
                </a:cubicBezTo>
                <a:cubicBezTo>
                  <a:pt x="176183" y="57150"/>
                  <a:pt x="185738" y="66705"/>
                  <a:pt x="185738" y="78581"/>
                </a:cubicBezTo>
                <a:cubicBezTo>
                  <a:pt x="185738" y="90458"/>
                  <a:pt x="176183" y="100013"/>
                  <a:pt x="164306" y="100013"/>
                </a:cubicBezTo>
                <a:close/>
              </a:path>
            </a:pathLst>
          </a:custGeom>
          <a:solidFill>
            <a:srgbClr val="D97706"/>
          </a:solidFill>
          <a:ln/>
        </p:spPr>
      </p:sp>
      <p:sp>
        <p:nvSpPr>
          <p:cNvPr id="12" name="Text 10"/>
          <p:cNvSpPr/>
          <p:nvPr/>
        </p:nvSpPr>
        <p:spPr>
          <a:xfrm>
            <a:off x="1651000" y="5207000"/>
            <a:ext cx="13589000" cy="1270000"/>
          </a:xfrm>
          <a:prstGeom prst="rect">
            <a:avLst/>
          </a:prstGeom>
          <a:noFill/>
          <a:ln/>
        </p:spPr>
        <p:txBody>
          <a:bodyPr wrap="square" lIns="0" tIns="0" rIns="0" bIns="0" rtlCol="0" anchor="ctr"/>
          <a:lstStyle/>
          <a:p>
            <a:pPr>
              <a:lnSpc>
                <a:spcPct val="150000"/>
              </a:lnSpc>
            </a:pPr>
            <a:r>
              <a:rPr lang="en-US" sz="1700" b="1" dirty="0">
                <a:solidFill>
                  <a:srgbClr val="1E293B"/>
                </a:solidFill>
                <a:latin typeface="Quattrocento Sans" pitchFamily="34" charset="0"/>
                <a:ea typeface="Quattrocento Sans" pitchFamily="34" charset="-122"/>
                <a:cs typeface="Quattrocento Sans" pitchFamily="34" charset="-120"/>
              </a:rPr>
              <a:t>Key Strategic Insight:</a:t>
            </a:r>
            <a:pPr>
              <a:lnSpc>
                <a:spcPct val="150000"/>
              </a:lnSpc>
            </a:pPr>
            <a:r>
              <a:rPr lang="en-US" sz="1700" dirty="0">
                <a:solidFill>
                  <a:srgbClr val="1E293B"/>
                </a:solidFill>
                <a:latin typeface="Quattrocento Sans" pitchFamily="34" charset="0"/>
                <a:ea typeface="Quattrocento Sans" pitchFamily="34" charset="-122"/>
                <a:cs typeface="Quattrocento Sans" pitchFamily="34" charset="-120"/>
              </a:rPr>
              <a:t> The buyer is not purchasing a fascinating robot. The buyer is purchasing fewer failure points, tighter TAT, lower manual handling, and a cleaner quality narrative during accreditation or audit. Recurring software and service must be part of the core offer, not an optional add-on.</a:t>
            </a:r>
            <a:endParaRPr lang="en-US" sz="1600" dirty="0"/>
          </a:p>
        </p:txBody>
      </p:sp>
      <p:sp>
        <p:nvSpPr>
          <p:cNvPr id="13" name="Text 11"/>
          <p:cNvSpPr/>
          <p:nvPr/>
        </p:nvSpPr>
        <p:spPr>
          <a:xfrm>
            <a:off x="762000" y="6858000"/>
            <a:ext cx="14732000" cy="635000"/>
          </a:xfrm>
          <a:prstGeom prst="rect">
            <a:avLst/>
          </a:prstGeom>
          <a:noFill/>
          <a:ln/>
        </p:spPr>
        <p:txBody>
          <a:bodyPr wrap="square" lIns="0" tIns="0" rIns="0" bIns="0" rtlCol="0" anchor="t"/>
          <a:lstStyle/>
          <a:p>
            <a:pPr>
              <a:lnSpc>
                <a:spcPct val="140000"/>
              </a:lnSpc>
            </a:pPr>
            <a:r>
              <a:rPr lang="en-US" sz="1300" b="1" dirty="0">
                <a:solidFill>
                  <a:srgbClr val="475569"/>
                </a:solidFill>
                <a:latin typeface="QuattrocentoSans" pitchFamily="34" charset="0"/>
                <a:ea typeface="QuattrocentoSans" pitchFamily="34" charset="-122"/>
                <a:cs typeface="QuattrocentoSans" pitchFamily="34" charset="-120"/>
              </a:rPr>
              <a:t>Why this model wins:</a:t>
            </a:r>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 CapEx creates lumpy revenue and weak recurring economics. Pure RaaS pushes asset-financing and utilization risk back onto the startup. Transactional per-test pricing under-monetizes value without minimum guarantees. Licensing is attractive later but not for day-one monetization.</a:t>
            </a:r>
            <a:endParaRPr lang="en-US" sz="1300" dirty="0"/>
          </a:p>
        </p:txBody>
      </p:sp>
      <p:sp>
        <p:nvSpPr>
          <p:cNvPr id="14" name="Shape 12"/>
          <p:cNvSpPr/>
          <p:nvPr/>
        </p:nvSpPr>
        <p:spPr>
          <a:xfrm>
            <a:off x="762000" y="8636000"/>
            <a:ext cx="14732000" cy="25400"/>
          </a:xfrm>
          <a:prstGeom prst="rect">
            <a:avLst/>
          </a:prstGeom>
          <a:solidFill>
            <a:srgbClr val="D97706"/>
          </a:solidFill>
          <a:ln/>
        </p:spPr>
      </p:sp>
      <p:sp>
        <p:nvSpPr>
          <p:cNvPr id="15" name="Text 13"/>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04</a:t>
            </a:r>
            <a:endParaRPr lang="en-US" sz="13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Three Critical Insights That Shape Our Strategy</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4699000" cy="3302000"/>
          </a:xfrm>
          <a:prstGeom prst="rect">
            <a:avLst/>
          </a:prstGeom>
          <a:solidFill>
            <a:srgbClr val="F1F5F9"/>
          </a:solidFill>
          <a:ln w="12700">
            <a:solidFill>
              <a:srgbClr val="E2E8F0"/>
            </a:solidFill>
            <a:prstDash val="solid"/>
          </a:ln>
        </p:spPr>
      </p:sp>
      <p:sp>
        <p:nvSpPr>
          <p:cNvPr id="5" name="Shape 3"/>
          <p:cNvSpPr/>
          <p:nvPr/>
        </p:nvSpPr>
        <p:spPr>
          <a:xfrm>
            <a:off x="762000" y="1270000"/>
            <a:ext cx="4699000" cy="63500"/>
          </a:xfrm>
          <a:prstGeom prst="rect">
            <a:avLst/>
          </a:prstGeom>
          <a:solidFill>
            <a:srgbClr val="D97706"/>
          </a:solidFill>
          <a:ln/>
        </p:spPr>
      </p:sp>
      <p:sp>
        <p:nvSpPr>
          <p:cNvPr id="6" name="Shape 4"/>
          <p:cNvSpPr/>
          <p:nvPr/>
        </p:nvSpPr>
        <p:spPr>
          <a:xfrm>
            <a:off x="1016000" y="1524000"/>
            <a:ext cx="406400" cy="4064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D97706"/>
          </a:solidFill>
          <a:ln/>
        </p:spPr>
      </p:sp>
      <p:sp>
        <p:nvSpPr>
          <p:cNvPr id="7" name="Text 5"/>
          <p:cNvSpPr/>
          <p:nvPr/>
        </p:nvSpPr>
        <p:spPr>
          <a:xfrm>
            <a:off x="1016000" y="2057400"/>
            <a:ext cx="4191000" cy="381000"/>
          </a:xfrm>
          <a:prstGeom prst="rect">
            <a:avLst/>
          </a:prstGeom>
          <a:noFill/>
          <a:ln/>
        </p:spPr>
        <p:txBody>
          <a:bodyPr wrap="none" lIns="0" tIns="0" rIns="0" bIns="0" rtlCol="0" anchor="ctr"/>
          <a:lstStyle/>
          <a:p>
            <a:pPr>
              <a:lnSpc>
                <a:spcPct val="100000"/>
              </a:lnSpc>
            </a:pPr>
            <a:r>
              <a:rPr lang="en-US" sz="1800" dirty="0">
                <a:solidFill>
                  <a:srgbClr val="1E293B"/>
                </a:solidFill>
                <a:latin typeface="Liter" pitchFamily="34" charset="0"/>
                <a:ea typeface="Liter" pitchFamily="34" charset="-122"/>
                <a:cs typeface="Liter" pitchFamily="34" charset="-120"/>
              </a:rPr>
              <a:t>MEASURE SUCCESS QUANTIFIABLY</a:t>
            </a:r>
            <a:endParaRPr lang="en-US" sz="1600" dirty="0"/>
          </a:p>
        </p:txBody>
      </p:sp>
      <p:sp>
        <p:nvSpPr>
          <p:cNvPr id="8" name="Text 6"/>
          <p:cNvSpPr/>
          <p:nvPr/>
        </p:nvSpPr>
        <p:spPr>
          <a:xfrm>
            <a:off x="1016000" y="2514600"/>
            <a:ext cx="4191000" cy="1841500"/>
          </a:xfrm>
          <a:prstGeom prst="rect">
            <a:avLst/>
          </a:prstGeom>
          <a:noFill/>
          <a:ln/>
        </p:spPr>
        <p:txBody>
          <a:bodyPr wrap="square" lIns="0" tIns="0" rIns="0" bIns="0" rtlCol="0" anchor="t"/>
          <a:lstStyle/>
          <a:p>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The biggest challenge is measuring our success with hard numbers. Every claim must be backed by data: TAT reduction, error rates, uptime percentages, manual touch reduction.</a:t>
            </a:r>
            <a:endParaRPr lang="en-US" sz="1600" dirty="0"/>
          </a:p>
        </p:txBody>
      </p:sp>
      <p:sp>
        <p:nvSpPr>
          <p:cNvPr id="9" name="Shape 7"/>
          <p:cNvSpPr/>
          <p:nvPr/>
        </p:nvSpPr>
        <p:spPr>
          <a:xfrm>
            <a:off x="5715000" y="1270000"/>
            <a:ext cx="4699000" cy="3302000"/>
          </a:xfrm>
          <a:prstGeom prst="rect">
            <a:avLst/>
          </a:prstGeom>
          <a:solidFill>
            <a:srgbClr val="F1F5F9"/>
          </a:solidFill>
          <a:ln w="12700">
            <a:solidFill>
              <a:srgbClr val="E2E8F0"/>
            </a:solidFill>
            <a:prstDash val="solid"/>
          </a:ln>
        </p:spPr>
      </p:sp>
      <p:sp>
        <p:nvSpPr>
          <p:cNvPr id="10" name="Shape 8"/>
          <p:cNvSpPr/>
          <p:nvPr/>
        </p:nvSpPr>
        <p:spPr>
          <a:xfrm>
            <a:off x="5715000" y="1270000"/>
            <a:ext cx="4699000" cy="63500"/>
          </a:xfrm>
          <a:prstGeom prst="rect">
            <a:avLst/>
          </a:prstGeom>
          <a:solidFill>
            <a:srgbClr val="D97706"/>
          </a:solidFill>
          <a:ln/>
        </p:spPr>
      </p:sp>
      <p:sp>
        <p:nvSpPr>
          <p:cNvPr id="11" name="Shape 9"/>
          <p:cNvSpPr/>
          <p:nvPr/>
        </p:nvSpPr>
        <p:spPr>
          <a:xfrm>
            <a:off x="5969000" y="1524000"/>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D97706"/>
          </a:solidFill>
          <a:ln/>
        </p:spPr>
      </p:sp>
      <p:sp>
        <p:nvSpPr>
          <p:cNvPr id="12" name="Text 10"/>
          <p:cNvSpPr/>
          <p:nvPr/>
        </p:nvSpPr>
        <p:spPr>
          <a:xfrm>
            <a:off x="5969000" y="2057400"/>
            <a:ext cx="4318000" cy="381000"/>
          </a:xfrm>
          <a:prstGeom prst="rect">
            <a:avLst/>
          </a:prstGeom>
          <a:noFill/>
          <a:ln/>
        </p:spPr>
        <p:txBody>
          <a:bodyPr wrap="none" lIns="0" tIns="0" rIns="0" bIns="0" rtlCol="0" anchor="ctr"/>
          <a:lstStyle/>
          <a:p>
            <a:pPr>
              <a:lnSpc>
                <a:spcPct val="100000"/>
              </a:lnSpc>
            </a:pPr>
            <a:r>
              <a:rPr lang="en-US" sz="1800" dirty="0">
                <a:solidFill>
                  <a:srgbClr val="1E293B"/>
                </a:solidFill>
                <a:latin typeface="Liter" pitchFamily="34" charset="0"/>
                <a:ea typeface="Liter" pitchFamily="34" charset="-122"/>
                <a:cs typeface="Liter" pitchFamily="34" charset="-120"/>
              </a:rPr>
              <a:t>QUALITY NARRATIVE OVER NOVELTY</a:t>
            </a:r>
            <a:endParaRPr lang="en-US" sz="1600" dirty="0"/>
          </a:p>
        </p:txBody>
      </p:sp>
      <p:sp>
        <p:nvSpPr>
          <p:cNvPr id="13" name="Text 11"/>
          <p:cNvSpPr/>
          <p:nvPr/>
        </p:nvSpPr>
        <p:spPr>
          <a:xfrm>
            <a:off x="5969000" y="2514600"/>
            <a:ext cx="4191000" cy="1841500"/>
          </a:xfrm>
          <a:prstGeom prst="rect">
            <a:avLst/>
          </a:prstGeom>
          <a:noFill/>
          <a:ln/>
        </p:spPr>
        <p:txBody>
          <a:bodyPr wrap="square" lIns="0" tIns="0" rIns="0" bIns="0" rtlCol="0" anchor="t"/>
          <a:lstStyle/>
          <a:p>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Don't sell the robot by marketing its technology as novelty. Sell using the narrative: </a:t>
            </a:r>
            <a:pPr>
              <a:lnSpc>
                <a:spcPct val="150000"/>
              </a:lnSpc>
            </a:pPr>
            <a:r>
              <a:rPr lang="en-US" sz="1500" b="1" dirty="0">
                <a:solidFill>
                  <a:srgbClr val="D97706"/>
                </a:solidFill>
                <a:latin typeface="Quattrocento Sans" pitchFamily="34" charset="0"/>
                <a:ea typeface="Quattrocento Sans" pitchFamily="34" charset="-122"/>
                <a:cs typeface="Quattrocento Sans" pitchFamily="34" charset="-120"/>
              </a:rPr>
              <a:t>"Our robots keep all the other robots in your lab busy."</a:t>
            </a:r>
            <a:endParaRPr lang="en-US" sz="1600" dirty="0"/>
          </a:p>
        </p:txBody>
      </p:sp>
      <p:sp>
        <p:nvSpPr>
          <p:cNvPr id="14" name="Shape 12"/>
          <p:cNvSpPr/>
          <p:nvPr/>
        </p:nvSpPr>
        <p:spPr>
          <a:xfrm>
            <a:off x="10668000" y="1270000"/>
            <a:ext cx="4826000" cy="3302000"/>
          </a:xfrm>
          <a:prstGeom prst="rect">
            <a:avLst/>
          </a:prstGeom>
          <a:solidFill>
            <a:srgbClr val="F1F5F9"/>
          </a:solidFill>
          <a:ln w="12700">
            <a:solidFill>
              <a:srgbClr val="E2E8F0"/>
            </a:solidFill>
            <a:prstDash val="solid"/>
          </a:ln>
        </p:spPr>
      </p:sp>
      <p:sp>
        <p:nvSpPr>
          <p:cNvPr id="15" name="Shape 13"/>
          <p:cNvSpPr/>
          <p:nvPr/>
        </p:nvSpPr>
        <p:spPr>
          <a:xfrm>
            <a:off x="10668000" y="1270000"/>
            <a:ext cx="4826000" cy="63500"/>
          </a:xfrm>
          <a:prstGeom prst="rect">
            <a:avLst/>
          </a:prstGeom>
          <a:solidFill>
            <a:srgbClr val="D97706"/>
          </a:solidFill>
          <a:ln/>
        </p:spPr>
      </p:sp>
      <p:sp>
        <p:nvSpPr>
          <p:cNvPr id="16" name="Shape 14"/>
          <p:cNvSpPr/>
          <p:nvPr/>
        </p:nvSpPr>
        <p:spPr>
          <a:xfrm>
            <a:off x="10896600" y="1524000"/>
            <a:ext cx="457200" cy="406400"/>
          </a:xfrm>
          <a:custGeom>
            <a:avLst/>
            <a:gdLst/>
            <a:ahLst/>
            <a:cxnLst/>
            <a:rect l="l" t="t" r="r" b="b"/>
            <a:pathLst>
              <a:path w="457200" h="406400">
                <a:moveTo>
                  <a:pt x="286385" y="953"/>
                </a:moveTo>
                <a:cubicBezTo>
                  <a:pt x="272891" y="-2937"/>
                  <a:pt x="258842" y="4921"/>
                  <a:pt x="254953" y="18415"/>
                </a:cubicBezTo>
                <a:lnTo>
                  <a:pt x="153353" y="374015"/>
                </a:lnTo>
                <a:cubicBezTo>
                  <a:pt x="149463" y="387509"/>
                  <a:pt x="157321" y="401558"/>
                  <a:pt x="170815" y="405448"/>
                </a:cubicBezTo>
                <a:cubicBezTo>
                  <a:pt x="184309" y="409337"/>
                  <a:pt x="198358" y="401479"/>
                  <a:pt x="202248" y="387985"/>
                </a:cubicBezTo>
                <a:lnTo>
                  <a:pt x="303848" y="32385"/>
                </a:lnTo>
                <a:cubicBezTo>
                  <a:pt x="307737" y="18891"/>
                  <a:pt x="299879" y="4842"/>
                  <a:pt x="286385" y="953"/>
                </a:cubicBezTo>
                <a:close/>
                <a:moveTo>
                  <a:pt x="337661" y="108982"/>
                </a:moveTo>
                <a:cubicBezTo>
                  <a:pt x="327739" y="118904"/>
                  <a:pt x="327739" y="135017"/>
                  <a:pt x="337661" y="144939"/>
                </a:cubicBezTo>
                <a:lnTo>
                  <a:pt x="395922" y="203200"/>
                </a:lnTo>
                <a:lnTo>
                  <a:pt x="337661" y="261461"/>
                </a:lnTo>
                <a:cubicBezTo>
                  <a:pt x="327739" y="271383"/>
                  <a:pt x="327739" y="287496"/>
                  <a:pt x="337661" y="297418"/>
                </a:cubicBezTo>
                <a:cubicBezTo>
                  <a:pt x="347583" y="307340"/>
                  <a:pt x="363696" y="307340"/>
                  <a:pt x="373618" y="297418"/>
                </a:cubicBezTo>
                <a:lnTo>
                  <a:pt x="449818" y="221218"/>
                </a:lnTo>
                <a:cubicBezTo>
                  <a:pt x="459740" y="211296"/>
                  <a:pt x="459740" y="195183"/>
                  <a:pt x="449818" y="185261"/>
                </a:cubicBezTo>
                <a:lnTo>
                  <a:pt x="373618" y="109061"/>
                </a:lnTo>
                <a:cubicBezTo>
                  <a:pt x="363696" y="99139"/>
                  <a:pt x="347583" y="99139"/>
                  <a:pt x="337661" y="109061"/>
                </a:cubicBezTo>
                <a:close/>
                <a:moveTo>
                  <a:pt x="119618" y="108982"/>
                </a:moveTo>
                <a:cubicBezTo>
                  <a:pt x="109696" y="99060"/>
                  <a:pt x="93583" y="99060"/>
                  <a:pt x="83661" y="108982"/>
                </a:cubicBezTo>
                <a:lnTo>
                  <a:pt x="7461" y="185182"/>
                </a:lnTo>
                <a:cubicBezTo>
                  <a:pt x="-2461" y="195104"/>
                  <a:pt x="-2461" y="211217"/>
                  <a:pt x="7461" y="221139"/>
                </a:cubicBezTo>
                <a:lnTo>
                  <a:pt x="83661" y="297339"/>
                </a:lnTo>
                <a:cubicBezTo>
                  <a:pt x="93583" y="307261"/>
                  <a:pt x="109696" y="307261"/>
                  <a:pt x="119618" y="297339"/>
                </a:cubicBezTo>
                <a:cubicBezTo>
                  <a:pt x="129540" y="287417"/>
                  <a:pt x="129540" y="271304"/>
                  <a:pt x="119618" y="261382"/>
                </a:cubicBezTo>
                <a:lnTo>
                  <a:pt x="61357" y="203200"/>
                </a:lnTo>
                <a:lnTo>
                  <a:pt x="119539" y="144939"/>
                </a:lnTo>
                <a:cubicBezTo>
                  <a:pt x="129461" y="135017"/>
                  <a:pt x="129461" y="118904"/>
                  <a:pt x="119539" y="108982"/>
                </a:cubicBezTo>
                <a:close/>
              </a:path>
            </a:pathLst>
          </a:custGeom>
          <a:solidFill>
            <a:srgbClr val="D97706"/>
          </a:solidFill>
          <a:ln/>
        </p:spPr>
      </p:sp>
      <p:sp>
        <p:nvSpPr>
          <p:cNvPr id="17" name="Text 15"/>
          <p:cNvSpPr/>
          <p:nvPr/>
        </p:nvSpPr>
        <p:spPr>
          <a:xfrm>
            <a:off x="10922000" y="2057400"/>
            <a:ext cx="4318000" cy="381000"/>
          </a:xfrm>
          <a:prstGeom prst="rect">
            <a:avLst/>
          </a:prstGeom>
          <a:noFill/>
          <a:ln/>
        </p:spPr>
        <p:txBody>
          <a:bodyPr wrap="none" lIns="0" tIns="0" rIns="0" bIns="0" rtlCol="0" anchor="ctr"/>
          <a:lstStyle/>
          <a:p>
            <a:pPr>
              <a:lnSpc>
                <a:spcPct val="100000"/>
              </a:lnSpc>
            </a:pPr>
            <a:r>
              <a:rPr lang="en-US" sz="1800" dirty="0">
                <a:solidFill>
                  <a:srgbClr val="1E293B"/>
                </a:solidFill>
                <a:latin typeface="Liter" pitchFamily="34" charset="0"/>
                <a:ea typeface="Liter" pitchFamily="34" charset="-122"/>
                <a:cs typeface="Liter" pitchFamily="34" charset="-120"/>
              </a:rPr>
              <a:t>SOFTWARE IS THE MOAT</a:t>
            </a:r>
            <a:endParaRPr lang="en-US" sz="1600" dirty="0"/>
          </a:p>
        </p:txBody>
      </p:sp>
      <p:sp>
        <p:nvSpPr>
          <p:cNvPr id="18" name="Text 16"/>
          <p:cNvSpPr/>
          <p:nvPr/>
        </p:nvSpPr>
        <p:spPr>
          <a:xfrm>
            <a:off x="10922000" y="2514600"/>
            <a:ext cx="4318000" cy="1841500"/>
          </a:xfrm>
          <a:prstGeom prst="rect">
            <a:avLst/>
          </a:prstGeom>
          <a:noFill/>
          <a:ln/>
        </p:spPr>
        <p:txBody>
          <a:bodyPr wrap="square" lIns="0" tIns="0" rIns="0" bIns="0" rtlCol="0" anchor="t"/>
          <a:lstStyle/>
          <a:p>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Selling software as part of the package lets us track performance and gather data. This enables calculating TAT, IQ, OQ - metrics that help push our robot and create lock-in.</a:t>
            </a:r>
            <a:endParaRPr lang="en-US" sz="1600" dirty="0"/>
          </a:p>
        </p:txBody>
      </p:sp>
      <p:sp>
        <p:nvSpPr>
          <p:cNvPr id="19" name="Shape 17"/>
          <p:cNvSpPr/>
          <p:nvPr/>
        </p:nvSpPr>
        <p:spPr>
          <a:xfrm>
            <a:off x="762000" y="4826000"/>
            <a:ext cx="14732000" cy="1270000"/>
          </a:xfrm>
          <a:prstGeom prst="rect">
            <a:avLst/>
          </a:prstGeom>
          <a:solidFill>
            <a:srgbClr val="1E293B"/>
          </a:solidFill>
          <a:ln/>
        </p:spPr>
      </p:sp>
      <p:sp>
        <p:nvSpPr>
          <p:cNvPr id="20" name="Shape 18"/>
          <p:cNvSpPr/>
          <p:nvPr/>
        </p:nvSpPr>
        <p:spPr>
          <a:xfrm>
            <a:off x="965200" y="5143500"/>
            <a:ext cx="508000" cy="406400"/>
          </a:xfrm>
          <a:custGeom>
            <a:avLst/>
            <a:gdLst/>
            <a:ahLst/>
            <a:cxnLst/>
            <a:rect l="l" t="t" r="r" b="b"/>
            <a:pathLst>
              <a:path w="508000" h="406400">
                <a:moveTo>
                  <a:pt x="279400" y="0"/>
                </a:moveTo>
                <a:cubicBezTo>
                  <a:pt x="279400" y="-14049"/>
                  <a:pt x="268049" y="-25400"/>
                  <a:pt x="254000" y="-25400"/>
                </a:cubicBezTo>
                <a:cubicBezTo>
                  <a:pt x="239951" y="-25400"/>
                  <a:pt x="228600" y="-14049"/>
                  <a:pt x="228600" y="0"/>
                </a:cubicBezTo>
                <a:lnTo>
                  <a:pt x="228600" y="50800"/>
                </a:lnTo>
                <a:lnTo>
                  <a:pt x="152400" y="50800"/>
                </a:lnTo>
                <a:cubicBezTo>
                  <a:pt x="110331" y="50800"/>
                  <a:pt x="76200" y="84931"/>
                  <a:pt x="76200" y="127000"/>
                </a:cubicBezTo>
                <a:lnTo>
                  <a:pt x="76200" y="304800"/>
                </a:lnTo>
                <a:cubicBezTo>
                  <a:pt x="76200" y="346869"/>
                  <a:pt x="110331" y="381000"/>
                  <a:pt x="152400" y="381000"/>
                </a:cubicBezTo>
                <a:lnTo>
                  <a:pt x="355600" y="381000"/>
                </a:lnTo>
                <a:cubicBezTo>
                  <a:pt x="397669" y="381000"/>
                  <a:pt x="431800" y="346869"/>
                  <a:pt x="431800" y="304800"/>
                </a:cubicBezTo>
                <a:lnTo>
                  <a:pt x="431800" y="127000"/>
                </a:lnTo>
                <a:cubicBezTo>
                  <a:pt x="431800" y="84931"/>
                  <a:pt x="397669" y="50800"/>
                  <a:pt x="355600" y="50800"/>
                </a:cubicBezTo>
                <a:lnTo>
                  <a:pt x="279400" y="50800"/>
                </a:lnTo>
                <a:lnTo>
                  <a:pt x="279400" y="0"/>
                </a:lnTo>
                <a:close/>
                <a:moveTo>
                  <a:pt x="127000" y="292100"/>
                </a:moveTo>
                <a:cubicBezTo>
                  <a:pt x="127000" y="281543"/>
                  <a:pt x="135493" y="273050"/>
                  <a:pt x="146050" y="273050"/>
                </a:cubicBezTo>
                <a:lnTo>
                  <a:pt x="171450" y="273050"/>
                </a:lnTo>
                <a:cubicBezTo>
                  <a:pt x="182007" y="273050"/>
                  <a:pt x="190500" y="281543"/>
                  <a:pt x="190500" y="292100"/>
                </a:cubicBezTo>
                <a:cubicBezTo>
                  <a:pt x="190500" y="302657"/>
                  <a:pt x="182007" y="311150"/>
                  <a:pt x="171450" y="311150"/>
                </a:cubicBezTo>
                <a:lnTo>
                  <a:pt x="146050" y="311150"/>
                </a:lnTo>
                <a:cubicBezTo>
                  <a:pt x="135493" y="311150"/>
                  <a:pt x="127000" y="302657"/>
                  <a:pt x="127000" y="292100"/>
                </a:cubicBezTo>
                <a:close/>
                <a:moveTo>
                  <a:pt x="222250" y="292100"/>
                </a:moveTo>
                <a:cubicBezTo>
                  <a:pt x="222250" y="281543"/>
                  <a:pt x="230743" y="273050"/>
                  <a:pt x="241300" y="273050"/>
                </a:cubicBezTo>
                <a:lnTo>
                  <a:pt x="266700" y="273050"/>
                </a:lnTo>
                <a:cubicBezTo>
                  <a:pt x="277257" y="273050"/>
                  <a:pt x="285750" y="281543"/>
                  <a:pt x="285750" y="292100"/>
                </a:cubicBezTo>
                <a:cubicBezTo>
                  <a:pt x="285750" y="302657"/>
                  <a:pt x="277257" y="311150"/>
                  <a:pt x="266700" y="311150"/>
                </a:cubicBezTo>
                <a:lnTo>
                  <a:pt x="241300" y="311150"/>
                </a:lnTo>
                <a:cubicBezTo>
                  <a:pt x="230743" y="311150"/>
                  <a:pt x="222250" y="302657"/>
                  <a:pt x="222250" y="292100"/>
                </a:cubicBezTo>
                <a:close/>
                <a:moveTo>
                  <a:pt x="317500" y="292100"/>
                </a:moveTo>
                <a:cubicBezTo>
                  <a:pt x="317500" y="281543"/>
                  <a:pt x="325993" y="273050"/>
                  <a:pt x="336550" y="273050"/>
                </a:cubicBezTo>
                <a:lnTo>
                  <a:pt x="361950" y="273050"/>
                </a:lnTo>
                <a:cubicBezTo>
                  <a:pt x="372507" y="273050"/>
                  <a:pt x="381000" y="281543"/>
                  <a:pt x="381000" y="292100"/>
                </a:cubicBezTo>
                <a:cubicBezTo>
                  <a:pt x="381000" y="302657"/>
                  <a:pt x="372507" y="311150"/>
                  <a:pt x="361950" y="311150"/>
                </a:cubicBezTo>
                <a:lnTo>
                  <a:pt x="336550" y="311150"/>
                </a:lnTo>
                <a:cubicBezTo>
                  <a:pt x="325993" y="311150"/>
                  <a:pt x="317500" y="302657"/>
                  <a:pt x="317500" y="292100"/>
                </a:cubicBezTo>
                <a:close/>
                <a:moveTo>
                  <a:pt x="177800" y="139700"/>
                </a:moveTo>
                <a:cubicBezTo>
                  <a:pt x="198828" y="139700"/>
                  <a:pt x="215900" y="156772"/>
                  <a:pt x="215900" y="177800"/>
                </a:cubicBezTo>
                <a:cubicBezTo>
                  <a:pt x="215900" y="198828"/>
                  <a:pt x="198828" y="215900"/>
                  <a:pt x="177800" y="215900"/>
                </a:cubicBezTo>
                <a:cubicBezTo>
                  <a:pt x="156772" y="215900"/>
                  <a:pt x="139700" y="198828"/>
                  <a:pt x="139700" y="177800"/>
                </a:cubicBezTo>
                <a:cubicBezTo>
                  <a:pt x="139700" y="156772"/>
                  <a:pt x="156772" y="139700"/>
                  <a:pt x="177800" y="139700"/>
                </a:cubicBezTo>
                <a:close/>
                <a:moveTo>
                  <a:pt x="292100" y="177800"/>
                </a:moveTo>
                <a:cubicBezTo>
                  <a:pt x="292100" y="156772"/>
                  <a:pt x="309172" y="139700"/>
                  <a:pt x="330200" y="139700"/>
                </a:cubicBezTo>
                <a:cubicBezTo>
                  <a:pt x="351228" y="139700"/>
                  <a:pt x="368300" y="156772"/>
                  <a:pt x="368300" y="177800"/>
                </a:cubicBezTo>
                <a:cubicBezTo>
                  <a:pt x="368300" y="198828"/>
                  <a:pt x="351228" y="215900"/>
                  <a:pt x="330200" y="215900"/>
                </a:cubicBezTo>
                <a:cubicBezTo>
                  <a:pt x="309172" y="215900"/>
                  <a:pt x="292100" y="198828"/>
                  <a:pt x="292100" y="177800"/>
                </a:cubicBezTo>
                <a:close/>
                <a:moveTo>
                  <a:pt x="50800" y="177800"/>
                </a:moveTo>
                <a:cubicBezTo>
                  <a:pt x="50800" y="163751"/>
                  <a:pt x="39449" y="152400"/>
                  <a:pt x="25400" y="152400"/>
                </a:cubicBezTo>
                <a:cubicBezTo>
                  <a:pt x="11351" y="152400"/>
                  <a:pt x="0" y="163751"/>
                  <a:pt x="0" y="177800"/>
                </a:cubicBezTo>
                <a:lnTo>
                  <a:pt x="0" y="254000"/>
                </a:lnTo>
                <a:cubicBezTo>
                  <a:pt x="0" y="268049"/>
                  <a:pt x="11351" y="279400"/>
                  <a:pt x="25400" y="279400"/>
                </a:cubicBezTo>
                <a:cubicBezTo>
                  <a:pt x="39449" y="279400"/>
                  <a:pt x="50800" y="268049"/>
                  <a:pt x="50800" y="254000"/>
                </a:cubicBezTo>
                <a:lnTo>
                  <a:pt x="50800" y="177800"/>
                </a:lnTo>
                <a:close/>
                <a:moveTo>
                  <a:pt x="482600" y="152400"/>
                </a:moveTo>
                <a:cubicBezTo>
                  <a:pt x="468551" y="152400"/>
                  <a:pt x="457200" y="163751"/>
                  <a:pt x="457200" y="177800"/>
                </a:cubicBezTo>
                <a:lnTo>
                  <a:pt x="457200" y="254000"/>
                </a:lnTo>
                <a:cubicBezTo>
                  <a:pt x="457200" y="268049"/>
                  <a:pt x="468551" y="279400"/>
                  <a:pt x="482600" y="279400"/>
                </a:cubicBezTo>
                <a:cubicBezTo>
                  <a:pt x="496649" y="279400"/>
                  <a:pt x="508000" y="268049"/>
                  <a:pt x="508000" y="254000"/>
                </a:cubicBezTo>
                <a:lnTo>
                  <a:pt x="508000" y="177800"/>
                </a:lnTo>
                <a:cubicBezTo>
                  <a:pt x="508000" y="163751"/>
                  <a:pt x="496649" y="152400"/>
                  <a:pt x="482600" y="152400"/>
                </a:cubicBezTo>
                <a:close/>
              </a:path>
            </a:pathLst>
          </a:custGeom>
          <a:solidFill>
            <a:srgbClr val="D97706"/>
          </a:solidFill>
          <a:ln/>
        </p:spPr>
      </p:sp>
      <p:sp>
        <p:nvSpPr>
          <p:cNvPr id="21" name="Text 19"/>
          <p:cNvSpPr/>
          <p:nvPr/>
        </p:nvSpPr>
        <p:spPr>
          <a:xfrm>
            <a:off x="1587500" y="49530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FRAMEWORKS, NOT POINT SOLUTIONS</a:t>
            </a:r>
            <a:endParaRPr lang="en-US" sz="1600" dirty="0"/>
          </a:p>
        </p:txBody>
      </p:sp>
      <p:sp>
        <p:nvSpPr>
          <p:cNvPr id="22" name="Text 20"/>
          <p:cNvSpPr/>
          <p:nvPr/>
        </p:nvSpPr>
        <p:spPr>
          <a:xfrm>
            <a:off x="1587500" y="5334000"/>
            <a:ext cx="13589000" cy="635000"/>
          </a:xfrm>
          <a:prstGeom prst="rect">
            <a:avLst/>
          </a:prstGeom>
          <a:noFill/>
          <a:ln/>
        </p:spPr>
        <p:txBody>
          <a:bodyPr wrap="square" lIns="0" tIns="0" rIns="0" bIns="0" rtlCol="0" anchor="ctr"/>
          <a:lstStyle/>
          <a:p>
            <a:pPr>
              <a:lnSpc>
                <a:spcPct val="140000"/>
              </a:lnSpc>
            </a:pPr>
            <a:r>
              <a:rPr lang="en-US" sz="1500" dirty="0">
                <a:solidFill>
                  <a:srgbClr val="F1F5F9"/>
                </a:solidFill>
                <a:latin typeface="Quattrocento Sans" pitchFamily="34" charset="0"/>
                <a:ea typeface="Quattrocento Sans" pitchFamily="34" charset="-122"/>
                <a:cs typeface="Quattrocento Sans" pitchFamily="34" charset="-120"/>
              </a:rPr>
              <a:t>We are building frameworks that must theoretically automate every general-purpose task. Test tube handling is just the demonstration. The bet is on VLA-based systems growing to enable full automation.</a:t>
            </a:r>
            <a:endParaRPr lang="en-US" sz="1600" dirty="0"/>
          </a:p>
        </p:txBody>
      </p:sp>
      <p:sp>
        <p:nvSpPr>
          <p:cNvPr id="23" name="Shape 21"/>
          <p:cNvSpPr/>
          <p:nvPr/>
        </p:nvSpPr>
        <p:spPr>
          <a:xfrm>
            <a:off x="762000" y="8636000"/>
            <a:ext cx="14732000" cy="25400"/>
          </a:xfrm>
          <a:prstGeom prst="rect">
            <a:avLst/>
          </a:prstGeom>
          <a:solidFill>
            <a:srgbClr val="D97706"/>
          </a:solidFill>
          <a:ln/>
        </p:spPr>
      </p:sp>
      <p:sp>
        <p:nvSpPr>
          <p:cNvPr id="24" name="Text 22"/>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05</a:t>
            </a:r>
            <a:endParaRPr lang="en-US" sz="13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62000" y="2286000"/>
            <a:ext cx="3810000" cy="1524000"/>
          </a:xfrm>
          <a:prstGeom prst="rect">
            <a:avLst/>
          </a:prstGeom>
          <a:noFill/>
          <a:ln/>
        </p:spPr>
        <p:txBody>
          <a:bodyPr wrap="none" lIns="0" tIns="0" rIns="0" bIns="0" rtlCol="0" anchor="ctr"/>
          <a:lstStyle/>
          <a:p>
            <a:pPr>
              <a:lnSpc>
                <a:spcPct val="100000"/>
              </a:lnSpc>
            </a:pPr>
            <a:r>
              <a:rPr lang="en-US" sz="9600" dirty="0">
                <a:solidFill>
                  <a:srgbClr val="D97706"/>
                </a:solidFill>
                <a:latin typeface="Liter" pitchFamily="34" charset="0"/>
                <a:ea typeface="Liter" pitchFamily="34" charset="-122"/>
                <a:cs typeface="Liter" pitchFamily="34" charset="-120"/>
              </a:rPr>
              <a:t>02</a:t>
            </a:r>
            <a:endParaRPr lang="en-US" sz="1600" dirty="0"/>
          </a:p>
        </p:txBody>
      </p:sp>
      <p:sp>
        <p:nvSpPr>
          <p:cNvPr id="3" name="Text 1"/>
          <p:cNvSpPr/>
          <p:nvPr/>
        </p:nvSpPr>
        <p:spPr>
          <a:xfrm>
            <a:off x="762000" y="3937000"/>
            <a:ext cx="11430000" cy="698500"/>
          </a:xfrm>
          <a:prstGeom prst="rect">
            <a:avLst/>
          </a:prstGeom>
          <a:noFill/>
          <a:ln/>
        </p:spPr>
        <p:txBody>
          <a:bodyPr wrap="none" lIns="0" tIns="0" rIns="0" bIns="0" rtlCol="0" anchor="ctr"/>
          <a:lstStyle/>
          <a:p>
            <a:pPr>
              <a:lnSpc>
                <a:spcPct val="100000"/>
              </a:lnSpc>
            </a:pPr>
            <a:r>
              <a:rPr lang="en-US" sz="3800" spc="100" kern="0" dirty="0">
                <a:solidFill>
                  <a:srgbClr val="F1F5F9"/>
                </a:solidFill>
                <a:latin typeface="Liter" pitchFamily="34" charset="0"/>
                <a:ea typeface="Liter" pitchFamily="34" charset="-122"/>
                <a:cs typeface="Liter" pitchFamily="34" charset="-120"/>
              </a:rPr>
              <a:t>PROBLEM DEFINITION &amp; SOLUTION</a:t>
            </a:r>
            <a:endParaRPr lang="en-US" sz="1600" dirty="0"/>
          </a:p>
        </p:txBody>
      </p:sp>
      <p:sp>
        <p:nvSpPr>
          <p:cNvPr id="4" name="Shape 2"/>
          <p:cNvSpPr/>
          <p:nvPr/>
        </p:nvSpPr>
        <p:spPr>
          <a:xfrm>
            <a:off x="762000" y="4826000"/>
            <a:ext cx="1524000" cy="50800"/>
          </a:xfrm>
          <a:prstGeom prst="rect">
            <a:avLst/>
          </a:prstGeom>
          <a:solidFill>
            <a:srgbClr val="D97706"/>
          </a:solidFill>
          <a:ln/>
        </p:spPr>
      </p:sp>
      <p:sp>
        <p:nvSpPr>
          <p:cNvPr id="5" name="Text 3"/>
          <p:cNvSpPr/>
          <p:nvPr/>
        </p:nvSpPr>
        <p:spPr>
          <a:xfrm>
            <a:off x="762000" y="5080000"/>
            <a:ext cx="10160000" cy="444500"/>
          </a:xfrm>
          <a:prstGeom prst="rect">
            <a:avLst/>
          </a:prstGeom>
          <a:noFill/>
          <a:ln/>
        </p:spPr>
        <p:txBody>
          <a:bodyPr wrap="square" lIns="0" tIns="0" rIns="0" bIns="0" rtlCol="0" anchor="ctr"/>
          <a:lstStyle/>
          <a:p>
            <a:pPr>
              <a:lnSpc>
                <a:spcPct val="100000"/>
              </a:lnSpc>
            </a:pPr>
            <a:r>
              <a:rPr lang="en-US" sz="1800" dirty="0">
                <a:solidFill>
                  <a:srgbClr val="475569"/>
                </a:solidFill>
                <a:latin typeface="Quattrocento Sans" pitchFamily="34" charset="0"/>
                <a:ea typeface="Quattrocento Sans" pitchFamily="34" charset="-122"/>
                <a:cs typeface="Quattrocento Sans" pitchFamily="34" charset="-120"/>
              </a:rPr>
              <a:t>What we are solving, why gantry-first, and the phased evolution path</a:t>
            </a:r>
            <a:endParaRPr lang="en-US" sz="1600" dirty="0"/>
          </a:p>
        </p:txBody>
      </p:sp>
      <p:sp>
        <p:nvSpPr>
          <p:cNvPr id="6" name="Shape 4"/>
          <p:cNvSpPr/>
          <p:nvPr/>
        </p:nvSpPr>
        <p:spPr>
          <a:xfrm>
            <a:off x="15240000" y="0"/>
            <a:ext cx="1016000" cy="9144000"/>
          </a:xfrm>
          <a:prstGeom prst="rect">
            <a:avLst/>
          </a:prstGeom>
          <a:solidFill>
            <a:srgbClr val="D97706">
              <a:alpha val="15000"/>
            </a:srgbClr>
          </a:solidFill>
          <a:ln/>
        </p:spPr>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270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The Problem: Manual "Glue Work" Killing Lab Efficiency</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206500"/>
            <a:ext cx="5080000" cy="3810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THE PAIN POINTS</a:t>
            </a:r>
            <a:endParaRPr lang="en-US" sz="1600" dirty="0"/>
          </a:p>
        </p:txBody>
      </p:sp>
      <p:sp>
        <p:nvSpPr>
          <p:cNvPr id="5" name="Shape 3"/>
          <p:cNvSpPr/>
          <p:nvPr/>
        </p:nvSpPr>
        <p:spPr>
          <a:xfrm>
            <a:off x="762000" y="1714500"/>
            <a:ext cx="7112000" cy="762000"/>
          </a:xfrm>
          <a:prstGeom prst="rect">
            <a:avLst/>
          </a:prstGeom>
          <a:solidFill>
            <a:srgbClr val="F1F5F9"/>
          </a:solidFill>
          <a:ln w="12700">
            <a:solidFill>
              <a:srgbClr val="E2E8F0"/>
            </a:solidFill>
            <a:prstDash val="solid"/>
          </a:ln>
        </p:spPr>
      </p:sp>
      <p:sp>
        <p:nvSpPr>
          <p:cNvPr id="6" name="Shape 4"/>
          <p:cNvSpPr/>
          <p:nvPr/>
        </p:nvSpPr>
        <p:spPr>
          <a:xfrm>
            <a:off x="952500" y="1905000"/>
            <a:ext cx="355600" cy="355600"/>
          </a:xfrm>
          <a:custGeom>
            <a:avLst/>
            <a:gdLst/>
            <a:ahLst/>
            <a:cxnLst/>
            <a:rect l="l" t="t" r="r" b="b"/>
            <a:pathLst>
              <a:path w="355600" h="355600">
                <a:moveTo>
                  <a:pt x="200025" y="22225"/>
                </a:moveTo>
                <a:cubicBezTo>
                  <a:pt x="200025" y="9932"/>
                  <a:pt x="190093" y="0"/>
                  <a:pt x="177800" y="0"/>
                </a:cubicBezTo>
                <a:cubicBezTo>
                  <a:pt x="165507" y="0"/>
                  <a:pt x="155575" y="9932"/>
                  <a:pt x="155575" y="22225"/>
                </a:cubicBezTo>
                <a:lnTo>
                  <a:pt x="155575" y="166688"/>
                </a:lnTo>
                <a:cubicBezTo>
                  <a:pt x="155575" y="172799"/>
                  <a:pt x="150574" y="177800"/>
                  <a:pt x="144463" y="177800"/>
                </a:cubicBezTo>
                <a:cubicBezTo>
                  <a:pt x="138351" y="177800"/>
                  <a:pt x="133350" y="172799"/>
                  <a:pt x="133350" y="166688"/>
                </a:cubicBezTo>
                <a:lnTo>
                  <a:pt x="133350" y="44450"/>
                </a:lnTo>
                <a:cubicBezTo>
                  <a:pt x="133350" y="32157"/>
                  <a:pt x="123418" y="22225"/>
                  <a:pt x="111125" y="22225"/>
                </a:cubicBezTo>
                <a:cubicBezTo>
                  <a:pt x="98832" y="22225"/>
                  <a:pt x="88900" y="32157"/>
                  <a:pt x="88900" y="44450"/>
                </a:cubicBezTo>
                <a:lnTo>
                  <a:pt x="88900" y="233363"/>
                </a:lnTo>
                <a:cubicBezTo>
                  <a:pt x="88900" y="234404"/>
                  <a:pt x="88900" y="235516"/>
                  <a:pt x="88969" y="236557"/>
                </a:cubicBezTo>
                <a:lnTo>
                  <a:pt x="46950" y="196552"/>
                </a:lnTo>
                <a:cubicBezTo>
                  <a:pt x="35838" y="185995"/>
                  <a:pt x="18266" y="186412"/>
                  <a:pt x="7640" y="197525"/>
                </a:cubicBezTo>
                <a:cubicBezTo>
                  <a:pt x="-2986" y="208637"/>
                  <a:pt x="-2500" y="226209"/>
                  <a:pt x="8612" y="236835"/>
                </a:cubicBezTo>
                <a:lnTo>
                  <a:pt x="86678" y="311150"/>
                </a:lnTo>
                <a:cubicBezTo>
                  <a:pt x="116612" y="339695"/>
                  <a:pt x="156408" y="355600"/>
                  <a:pt x="197803" y="355600"/>
                </a:cubicBezTo>
                <a:lnTo>
                  <a:pt x="211138" y="355600"/>
                </a:lnTo>
                <a:cubicBezTo>
                  <a:pt x="278646" y="355600"/>
                  <a:pt x="333375" y="300871"/>
                  <a:pt x="333375" y="233363"/>
                </a:cubicBezTo>
                <a:lnTo>
                  <a:pt x="333375" y="88900"/>
                </a:lnTo>
                <a:cubicBezTo>
                  <a:pt x="333375" y="76607"/>
                  <a:pt x="323443" y="66675"/>
                  <a:pt x="311150" y="66675"/>
                </a:cubicBezTo>
                <a:cubicBezTo>
                  <a:pt x="298857" y="66675"/>
                  <a:pt x="288925" y="76607"/>
                  <a:pt x="288925" y="88900"/>
                </a:cubicBezTo>
                <a:lnTo>
                  <a:pt x="288925" y="166688"/>
                </a:lnTo>
                <a:cubicBezTo>
                  <a:pt x="288925" y="172799"/>
                  <a:pt x="283924" y="177800"/>
                  <a:pt x="277813" y="177800"/>
                </a:cubicBezTo>
                <a:cubicBezTo>
                  <a:pt x="271701" y="177800"/>
                  <a:pt x="266700" y="172799"/>
                  <a:pt x="266700" y="166688"/>
                </a:cubicBezTo>
                <a:lnTo>
                  <a:pt x="266700" y="44450"/>
                </a:lnTo>
                <a:cubicBezTo>
                  <a:pt x="266700" y="32157"/>
                  <a:pt x="256768" y="22225"/>
                  <a:pt x="244475" y="22225"/>
                </a:cubicBezTo>
                <a:cubicBezTo>
                  <a:pt x="232182" y="22225"/>
                  <a:pt x="222250" y="32157"/>
                  <a:pt x="222250" y="44450"/>
                </a:cubicBezTo>
                <a:lnTo>
                  <a:pt x="222250" y="166688"/>
                </a:lnTo>
                <a:cubicBezTo>
                  <a:pt x="222250" y="172799"/>
                  <a:pt x="217249" y="177800"/>
                  <a:pt x="211138" y="177800"/>
                </a:cubicBezTo>
                <a:cubicBezTo>
                  <a:pt x="205026" y="177800"/>
                  <a:pt x="200025" y="172799"/>
                  <a:pt x="200025" y="166688"/>
                </a:cubicBezTo>
                <a:lnTo>
                  <a:pt x="200025" y="22225"/>
                </a:lnTo>
                <a:close/>
              </a:path>
            </a:pathLst>
          </a:custGeom>
          <a:solidFill>
            <a:srgbClr val="D97706"/>
          </a:solidFill>
          <a:ln/>
        </p:spPr>
      </p:sp>
      <p:sp>
        <p:nvSpPr>
          <p:cNvPr id="7" name="Text 5"/>
          <p:cNvSpPr/>
          <p:nvPr/>
        </p:nvSpPr>
        <p:spPr>
          <a:xfrm>
            <a:off x="1460500" y="1778000"/>
            <a:ext cx="6223000" cy="635000"/>
          </a:xfrm>
          <a:prstGeom prst="rect">
            <a:avLst/>
          </a:prstGeom>
          <a:noFill/>
          <a:ln/>
        </p:spPr>
        <p:txBody>
          <a:bodyPr wrap="square" lIns="0" tIns="0" rIns="0" bIns="0" rtlCol="0" anchor="ctr"/>
          <a:lstStyle/>
          <a:p>
            <a:pPr>
              <a:lnSpc>
                <a:spcPct val="130000"/>
              </a:lnSpc>
            </a:pPr>
            <a:r>
              <a:rPr lang="en-US" sz="1500" b="1" dirty="0">
                <a:solidFill>
                  <a:srgbClr val="1E293B"/>
                </a:solidFill>
                <a:latin typeface="Quattrocento Sans" pitchFamily="34" charset="0"/>
                <a:ea typeface="Quattrocento Sans" pitchFamily="34" charset="-122"/>
                <a:cs typeface="Quattrocento Sans" pitchFamily="34" charset="-120"/>
              </a:rPr>
              <a:t>Manual "glue work"</a:t>
            </a:r>
            <a:pPr>
              <a:lnSpc>
                <a:spcPct val="130000"/>
              </a:lnSpc>
            </a:pPr>
            <a:r>
              <a:rPr lang="en-US" sz="1500" dirty="0">
                <a:solidFill>
                  <a:srgbClr val="1E293B"/>
                </a:solidFill>
                <a:latin typeface="Quattrocento Sans" pitchFamily="34" charset="0"/>
                <a:ea typeface="Quattrocento Sans" pitchFamily="34" charset="-122"/>
                <a:cs typeface="Quattrocento Sans" pitchFamily="34" charset="-120"/>
              </a:rPr>
              <a:t> - Sample movement, routing, repetitive handoffs</a:t>
            </a:r>
            <a:endParaRPr lang="en-US" sz="1600" dirty="0"/>
          </a:p>
        </p:txBody>
      </p:sp>
      <p:sp>
        <p:nvSpPr>
          <p:cNvPr id="8" name="Shape 6"/>
          <p:cNvSpPr/>
          <p:nvPr/>
        </p:nvSpPr>
        <p:spPr>
          <a:xfrm>
            <a:off x="762000" y="2603500"/>
            <a:ext cx="7112000" cy="762000"/>
          </a:xfrm>
          <a:prstGeom prst="rect">
            <a:avLst/>
          </a:prstGeom>
          <a:solidFill>
            <a:srgbClr val="F1F5F9"/>
          </a:solidFill>
          <a:ln w="12700">
            <a:solidFill>
              <a:srgbClr val="E2E8F0"/>
            </a:solidFill>
            <a:prstDash val="solid"/>
          </a:ln>
        </p:spPr>
      </p:sp>
      <p:sp>
        <p:nvSpPr>
          <p:cNvPr id="9" name="Shape 7"/>
          <p:cNvSpPr/>
          <p:nvPr/>
        </p:nvSpPr>
        <p:spPr>
          <a:xfrm>
            <a:off x="996950" y="2794000"/>
            <a:ext cx="266700" cy="355600"/>
          </a:xfrm>
          <a:custGeom>
            <a:avLst/>
            <a:gdLst/>
            <a:ahLst/>
            <a:cxnLst/>
            <a:rect l="l" t="t" r="r" b="b"/>
            <a:pathLst>
              <a:path w="266700" h="355600">
                <a:moveTo>
                  <a:pt x="44450" y="0"/>
                </a:moveTo>
                <a:cubicBezTo>
                  <a:pt x="19933" y="0"/>
                  <a:pt x="0" y="19933"/>
                  <a:pt x="0" y="44450"/>
                </a:cubicBezTo>
                <a:lnTo>
                  <a:pt x="0" y="311150"/>
                </a:lnTo>
                <a:cubicBezTo>
                  <a:pt x="0" y="335667"/>
                  <a:pt x="19933" y="355600"/>
                  <a:pt x="44450" y="355600"/>
                </a:cubicBezTo>
                <a:lnTo>
                  <a:pt x="222250" y="355600"/>
                </a:lnTo>
                <a:cubicBezTo>
                  <a:pt x="246767" y="355600"/>
                  <a:pt x="266700" y="335667"/>
                  <a:pt x="266700" y="311150"/>
                </a:cubicBezTo>
                <a:lnTo>
                  <a:pt x="266700" y="44450"/>
                </a:lnTo>
                <a:cubicBezTo>
                  <a:pt x="266700" y="19933"/>
                  <a:pt x="246767" y="0"/>
                  <a:pt x="222250" y="0"/>
                </a:cubicBezTo>
                <a:lnTo>
                  <a:pt x="44450" y="0"/>
                </a:lnTo>
                <a:close/>
                <a:moveTo>
                  <a:pt x="122238" y="244475"/>
                </a:moveTo>
                <a:lnTo>
                  <a:pt x="144463" y="244475"/>
                </a:lnTo>
                <a:cubicBezTo>
                  <a:pt x="156756" y="244475"/>
                  <a:pt x="166688" y="254407"/>
                  <a:pt x="166688" y="266700"/>
                </a:cubicBezTo>
                <a:lnTo>
                  <a:pt x="166688" y="322263"/>
                </a:lnTo>
                <a:lnTo>
                  <a:pt x="100013" y="322263"/>
                </a:lnTo>
                <a:lnTo>
                  <a:pt x="100013" y="266700"/>
                </a:lnTo>
                <a:cubicBezTo>
                  <a:pt x="100013" y="254407"/>
                  <a:pt x="109944" y="244475"/>
                  <a:pt x="122238" y="244475"/>
                </a:cubicBezTo>
                <a:close/>
                <a:moveTo>
                  <a:pt x="66675" y="77788"/>
                </a:moveTo>
                <a:cubicBezTo>
                  <a:pt x="66675" y="71676"/>
                  <a:pt x="71676" y="66675"/>
                  <a:pt x="77788" y="66675"/>
                </a:cubicBezTo>
                <a:lnTo>
                  <a:pt x="100013" y="66675"/>
                </a:lnTo>
                <a:cubicBezTo>
                  <a:pt x="106124" y="66675"/>
                  <a:pt x="111125" y="71676"/>
                  <a:pt x="111125" y="77788"/>
                </a:cubicBezTo>
                <a:lnTo>
                  <a:pt x="111125" y="100013"/>
                </a:lnTo>
                <a:cubicBezTo>
                  <a:pt x="111125" y="106124"/>
                  <a:pt x="106124" y="111125"/>
                  <a:pt x="100013" y="111125"/>
                </a:cubicBezTo>
                <a:lnTo>
                  <a:pt x="77788" y="111125"/>
                </a:lnTo>
                <a:cubicBezTo>
                  <a:pt x="71676" y="111125"/>
                  <a:pt x="66675" y="106124"/>
                  <a:pt x="66675" y="100013"/>
                </a:cubicBezTo>
                <a:lnTo>
                  <a:pt x="66675" y="77788"/>
                </a:lnTo>
                <a:close/>
                <a:moveTo>
                  <a:pt x="166688" y="66675"/>
                </a:moveTo>
                <a:lnTo>
                  <a:pt x="188913" y="66675"/>
                </a:lnTo>
                <a:cubicBezTo>
                  <a:pt x="195024" y="66675"/>
                  <a:pt x="200025" y="71676"/>
                  <a:pt x="200025" y="77788"/>
                </a:cubicBezTo>
                <a:lnTo>
                  <a:pt x="200025" y="100013"/>
                </a:lnTo>
                <a:cubicBezTo>
                  <a:pt x="200025" y="106124"/>
                  <a:pt x="195024" y="111125"/>
                  <a:pt x="188913" y="111125"/>
                </a:cubicBezTo>
                <a:lnTo>
                  <a:pt x="166688" y="111125"/>
                </a:lnTo>
                <a:cubicBezTo>
                  <a:pt x="160576" y="111125"/>
                  <a:pt x="155575" y="106124"/>
                  <a:pt x="155575" y="100013"/>
                </a:cubicBezTo>
                <a:lnTo>
                  <a:pt x="155575" y="77788"/>
                </a:lnTo>
                <a:cubicBezTo>
                  <a:pt x="155575" y="71676"/>
                  <a:pt x="160576" y="66675"/>
                  <a:pt x="166688" y="66675"/>
                </a:cubicBezTo>
                <a:close/>
                <a:moveTo>
                  <a:pt x="66675" y="166688"/>
                </a:moveTo>
                <a:cubicBezTo>
                  <a:pt x="66675" y="160576"/>
                  <a:pt x="71676" y="155575"/>
                  <a:pt x="77788" y="155575"/>
                </a:cubicBezTo>
                <a:lnTo>
                  <a:pt x="100013" y="155575"/>
                </a:lnTo>
                <a:cubicBezTo>
                  <a:pt x="106124" y="155575"/>
                  <a:pt x="111125" y="160576"/>
                  <a:pt x="111125" y="166688"/>
                </a:cubicBezTo>
                <a:lnTo>
                  <a:pt x="111125" y="188913"/>
                </a:lnTo>
                <a:cubicBezTo>
                  <a:pt x="111125" y="195024"/>
                  <a:pt x="106124" y="200025"/>
                  <a:pt x="100013" y="200025"/>
                </a:cubicBezTo>
                <a:lnTo>
                  <a:pt x="77788" y="200025"/>
                </a:lnTo>
                <a:cubicBezTo>
                  <a:pt x="71676" y="200025"/>
                  <a:pt x="66675" y="195024"/>
                  <a:pt x="66675" y="188913"/>
                </a:cubicBezTo>
                <a:lnTo>
                  <a:pt x="66675" y="166688"/>
                </a:lnTo>
                <a:close/>
                <a:moveTo>
                  <a:pt x="166688" y="155575"/>
                </a:moveTo>
                <a:lnTo>
                  <a:pt x="188913" y="155575"/>
                </a:lnTo>
                <a:cubicBezTo>
                  <a:pt x="195024" y="155575"/>
                  <a:pt x="200025" y="160576"/>
                  <a:pt x="200025" y="166688"/>
                </a:cubicBezTo>
                <a:lnTo>
                  <a:pt x="200025" y="188913"/>
                </a:lnTo>
                <a:cubicBezTo>
                  <a:pt x="200025" y="195024"/>
                  <a:pt x="195024" y="200025"/>
                  <a:pt x="188913" y="200025"/>
                </a:cubicBezTo>
                <a:lnTo>
                  <a:pt x="166688" y="200025"/>
                </a:lnTo>
                <a:cubicBezTo>
                  <a:pt x="160576" y="200025"/>
                  <a:pt x="155575" y="195024"/>
                  <a:pt x="155575" y="188913"/>
                </a:cubicBezTo>
                <a:lnTo>
                  <a:pt x="155575" y="166688"/>
                </a:lnTo>
                <a:cubicBezTo>
                  <a:pt x="155575" y="160576"/>
                  <a:pt x="160576" y="155575"/>
                  <a:pt x="166688" y="155575"/>
                </a:cubicBezTo>
                <a:close/>
              </a:path>
            </a:pathLst>
          </a:custGeom>
          <a:solidFill>
            <a:srgbClr val="D97706"/>
          </a:solidFill>
          <a:ln/>
        </p:spPr>
      </p:sp>
      <p:sp>
        <p:nvSpPr>
          <p:cNvPr id="10" name="Text 8"/>
          <p:cNvSpPr/>
          <p:nvPr/>
        </p:nvSpPr>
        <p:spPr>
          <a:xfrm>
            <a:off x="1460500" y="2667000"/>
            <a:ext cx="6223000" cy="635000"/>
          </a:xfrm>
          <a:prstGeom prst="rect">
            <a:avLst/>
          </a:prstGeom>
          <a:noFill/>
          <a:ln/>
        </p:spPr>
        <p:txBody>
          <a:bodyPr wrap="square" lIns="0" tIns="0" rIns="0" bIns="0" rtlCol="0" anchor="ctr"/>
          <a:lstStyle/>
          <a:p>
            <a:pPr>
              <a:lnSpc>
                <a:spcPct val="130000"/>
              </a:lnSpc>
            </a:pPr>
            <a:r>
              <a:rPr lang="en-US" sz="1500" b="1" dirty="0">
                <a:solidFill>
                  <a:srgbClr val="1E293B"/>
                </a:solidFill>
                <a:latin typeface="Quattrocento Sans" pitchFamily="34" charset="0"/>
                <a:ea typeface="Quattrocento Sans" pitchFamily="34" charset="-122"/>
                <a:cs typeface="Quattrocento Sans" pitchFamily="34" charset="-120"/>
              </a:rPr>
              <a:t>Fragmented departments</a:t>
            </a:r>
            <a:pPr>
              <a:lnSpc>
                <a:spcPct val="130000"/>
              </a:lnSpc>
            </a:pPr>
            <a:r>
              <a:rPr lang="en-US" sz="1500" dirty="0">
                <a:solidFill>
                  <a:srgbClr val="1E293B"/>
                </a:solidFill>
                <a:latin typeface="Quattrocento Sans" pitchFamily="34" charset="0"/>
                <a:ea typeface="Quattrocento Sans" pitchFamily="34" charset="-122"/>
                <a:cs typeface="Quattrocento Sans" pitchFamily="34" charset="-120"/>
              </a:rPr>
              <a:t> - No seamless workflow between departments</a:t>
            </a:r>
            <a:endParaRPr lang="en-US" sz="1600" dirty="0"/>
          </a:p>
        </p:txBody>
      </p:sp>
      <p:sp>
        <p:nvSpPr>
          <p:cNvPr id="11" name="Shape 9"/>
          <p:cNvSpPr/>
          <p:nvPr/>
        </p:nvSpPr>
        <p:spPr>
          <a:xfrm>
            <a:off x="762000" y="3492500"/>
            <a:ext cx="7112000" cy="762000"/>
          </a:xfrm>
          <a:prstGeom prst="rect">
            <a:avLst/>
          </a:prstGeom>
          <a:solidFill>
            <a:srgbClr val="F1F5F9"/>
          </a:solidFill>
          <a:ln w="12700">
            <a:solidFill>
              <a:srgbClr val="E2E8F0"/>
            </a:solidFill>
            <a:prstDash val="solid"/>
          </a:ln>
        </p:spPr>
      </p:sp>
      <p:sp>
        <p:nvSpPr>
          <p:cNvPr id="12" name="Shape 10"/>
          <p:cNvSpPr/>
          <p:nvPr/>
        </p:nvSpPr>
        <p:spPr>
          <a:xfrm>
            <a:off x="1019175" y="3683000"/>
            <a:ext cx="222250" cy="355600"/>
          </a:xfrm>
          <a:custGeom>
            <a:avLst/>
            <a:gdLst/>
            <a:ahLst/>
            <a:cxnLst/>
            <a:rect l="l" t="t" r="r" b="b"/>
            <a:pathLst>
              <a:path w="222250" h="355600">
                <a:moveTo>
                  <a:pt x="94456" y="16669"/>
                </a:moveTo>
                <a:cubicBezTo>
                  <a:pt x="94456" y="7431"/>
                  <a:pt x="101888" y="0"/>
                  <a:pt x="111125" y="0"/>
                </a:cubicBezTo>
                <a:cubicBezTo>
                  <a:pt x="120362" y="0"/>
                  <a:pt x="127794" y="7431"/>
                  <a:pt x="127794" y="16669"/>
                </a:cubicBezTo>
                <a:lnTo>
                  <a:pt x="127794" y="44450"/>
                </a:lnTo>
                <a:lnTo>
                  <a:pt x="166688" y="44450"/>
                </a:lnTo>
                <a:cubicBezTo>
                  <a:pt x="178981" y="44450"/>
                  <a:pt x="188913" y="54382"/>
                  <a:pt x="188913" y="66675"/>
                </a:cubicBezTo>
                <a:cubicBezTo>
                  <a:pt x="188913" y="78968"/>
                  <a:pt x="178981" y="88900"/>
                  <a:pt x="166688" y="88900"/>
                </a:cubicBezTo>
                <a:lnTo>
                  <a:pt x="86886" y="88900"/>
                </a:lnTo>
                <a:cubicBezTo>
                  <a:pt x="69592" y="88900"/>
                  <a:pt x="55563" y="102930"/>
                  <a:pt x="55563" y="120223"/>
                </a:cubicBezTo>
                <a:cubicBezTo>
                  <a:pt x="55563" y="135850"/>
                  <a:pt x="67022" y="149046"/>
                  <a:pt x="82441" y="151269"/>
                </a:cubicBezTo>
                <a:lnTo>
                  <a:pt x="146060" y="160367"/>
                </a:lnTo>
                <a:cubicBezTo>
                  <a:pt x="183426" y="165715"/>
                  <a:pt x="211138" y="197664"/>
                  <a:pt x="211138" y="235377"/>
                </a:cubicBezTo>
                <a:cubicBezTo>
                  <a:pt x="211138" y="277257"/>
                  <a:pt x="177175" y="311150"/>
                  <a:pt x="135364" y="311150"/>
                </a:cubicBezTo>
                <a:lnTo>
                  <a:pt x="127794" y="311150"/>
                </a:lnTo>
                <a:lnTo>
                  <a:pt x="127794" y="338931"/>
                </a:lnTo>
                <a:cubicBezTo>
                  <a:pt x="127794" y="348169"/>
                  <a:pt x="120362" y="355600"/>
                  <a:pt x="111125" y="355600"/>
                </a:cubicBezTo>
                <a:cubicBezTo>
                  <a:pt x="101888" y="355600"/>
                  <a:pt x="94456" y="348169"/>
                  <a:pt x="94456" y="338931"/>
                </a:cubicBezTo>
                <a:lnTo>
                  <a:pt x="94456" y="311150"/>
                </a:lnTo>
                <a:lnTo>
                  <a:pt x="44450" y="311150"/>
                </a:lnTo>
                <a:cubicBezTo>
                  <a:pt x="32157" y="311150"/>
                  <a:pt x="22225" y="301218"/>
                  <a:pt x="22225" y="288925"/>
                </a:cubicBezTo>
                <a:cubicBezTo>
                  <a:pt x="22225" y="276632"/>
                  <a:pt x="32157" y="266700"/>
                  <a:pt x="44450" y="266700"/>
                </a:cubicBezTo>
                <a:lnTo>
                  <a:pt x="135364" y="266700"/>
                </a:lnTo>
                <a:cubicBezTo>
                  <a:pt x="152658" y="266700"/>
                  <a:pt x="166688" y="252670"/>
                  <a:pt x="166688" y="235377"/>
                </a:cubicBezTo>
                <a:cubicBezTo>
                  <a:pt x="166688" y="219750"/>
                  <a:pt x="155228" y="206554"/>
                  <a:pt x="139809" y="204331"/>
                </a:cubicBezTo>
                <a:lnTo>
                  <a:pt x="76190" y="195233"/>
                </a:lnTo>
                <a:cubicBezTo>
                  <a:pt x="38824" y="189954"/>
                  <a:pt x="11112" y="157936"/>
                  <a:pt x="11112" y="120223"/>
                </a:cubicBezTo>
                <a:cubicBezTo>
                  <a:pt x="11112" y="78413"/>
                  <a:pt x="45075" y="44450"/>
                  <a:pt x="86886" y="44450"/>
                </a:cubicBezTo>
                <a:lnTo>
                  <a:pt x="94456" y="44450"/>
                </a:lnTo>
                <a:lnTo>
                  <a:pt x="94456" y="16669"/>
                </a:lnTo>
                <a:close/>
              </a:path>
            </a:pathLst>
          </a:custGeom>
          <a:solidFill>
            <a:srgbClr val="D97706"/>
          </a:solidFill>
          <a:ln/>
        </p:spPr>
      </p:sp>
      <p:sp>
        <p:nvSpPr>
          <p:cNvPr id="13" name="Text 11"/>
          <p:cNvSpPr/>
          <p:nvPr/>
        </p:nvSpPr>
        <p:spPr>
          <a:xfrm>
            <a:off x="1460500" y="3556000"/>
            <a:ext cx="6223000" cy="635000"/>
          </a:xfrm>
          <a:prstGeom prst="rect">
            <a:avLst/>
          </a:prstGeom>
          <a:noFill/>
          <a:ln/>
        </p:spPr>
        <p:txBody>
          <a:bodyPr wrap="square" lIns="0" tIns="0" rIns="0" bIns="0" rtlCol="0" anchor="ctr"/>
          <a:lstStyle/>
          <a:p>
            <a:pPr>
              <a:lnSpc>
                <a:spcPct val="130000"/>
              </a:lnSpc>
            </a:pPr>
            <a:r>
              <a:rPr lang="en-US" sz="1500" b="1" dirty="0">
                <a:solidFill>
                  <a:srgbClr val="1E293B"/>
                </a:solidFill>
                <a:latin typeface="Quattrocento Sans" pitchFamily="34" charset="0"/>
                <a:ea typeface="Quattrocento Sans" pitchFamily="34" charset="-122"/>
                <a:cs typeface="Quattrocento Sans" pitchFamily="34" charset="-120"/>
              </a:rPr>
              <a:t>High-cost consultant-driven automation</a:t>
            </a:r>
            <a:pPr>
              <a:lnSpc>
                <a:spcPct val="130000"/>
              </a:lnSpc>
            </a:pPr>
            <a:r>
              <a:rPr lang="en-US" sz="1500" dirty="0">
                <a:solidFill>
                  <a:srgbClr val="1E293B"/>
                </a:solidFill>
                <a:latin typeface="Quattrocento Sans" pitchFamily="34" charset="0"/>
                <a:ea typeface="Quattrocento Sans" pitchFamily="34" charset="-122"/>
                <a:cs typeface="Quattrocento Sans" pitchFamily="34" charset="-120"/>
              </a:rPr>
              <a:t> - Expensive external consultants</a:t>
            </a:r>
            <a:endParaRPr lang="en-US" sz="1600" dirty="0"/>
          </a:p>
        </p:txBody>
      </p:sp>
      <p:sp>
        <p:nvSpPr>
          <p:cNvPr id="14" name="Shape 12"/>
          <p:cNvSpPr/>
          <p:nvPr/>
        </p:nvSpPr>
        <p:spPr>
          <a:xfrm>
            <a:off x="762000" y="4381500"/>
            <a:ext cx="7112000" cy="762000"/>
          </a:xfrm>
          <a:prstGeom prst="rect">
            <a:avLst/>
          </a:prstGeom>
          <a:solidFill>
            <a:srgbClr val="F1F5F9"/>
          </a:solidFill>
          <a:ln w="12700">
            <a:solidFill>
              <a:srgbClr val="E2E8F0"/>
            </a:solidFill>
            <a:prstDash val="solid"/>
          </a:ln>
        </p:spPr>
      </p:sp>
      <p:sp>
        <p:nvSpPr>
          <p:cNvPr id="15" name="Shape 13"/>
          <p:cNvSpPr/>
          <p:nvPr/>
        </p:nvSpPr>
        <p:spPr>
          <a:xfrm>
            <a:off x="908050" y="4572000"/>
            <a:ext cx="444500" cy="355600"/>
          </a:xfrm>
          <a:custGeom>
            <a:avLst/>
            <a:gdLst/>
            <a:ahLst/>
            <a:cxnLst/>
            <a:rect l="l" t="t" r="r" b="b"/>
            <a:pathLst>
              <a:path w="444500" h="355600">
                <a:moveTo>
                  <a:pt x="222250" y="11112"/>
                </a:moveTo>
                <a:cubicBezTo>
                  <a:pt x="262116" y="11112"/>
                  <a:pt x="294481" y="43478"/>
                  <a:pt x="294481" y="83344"/>
                </a:cubicBezTo>
                <a:cubicBezTo>
                  <a:pt x="294481" y="123209"/>
                  <a:pt x="262116" y="155575"/>
                  <a:pt x="222250" y="155575"/>
                </a:cubicBezTo>
                <a:cubicBezTo>
                  <a:pt x="182384" y="155575"/>
                  <a:pt x="150019" y="123209"/>
                  <a:pt x="150019" y="83344"/>
                </a:cubicBezTo>
                <a:cubicBezTo>
                  <a:pt x="150019" y="43478"/>
                  <a:pt x="182384" y="11113"/>
                  <a:pt x="222250" y="11112"/>
                </a:cubicBezTo>
                <a:close/>
                <a:moveTo>
                  <a:pt x="66675" y="61119"/>
                </a:moveTo>
                <a:cubicBezTo>
                  <a:pt x="94274" y="61119"/>
                  <a:pt x="116681" y="83526"/>
                  <a:pt x="116681" y="111125"/>
                </a:cubicBezTo>
                <a:cubicBezTo>
                  <a:pt x="116681" y="138724"/>
                  <a:pt x="94274" y="161131"/>
                  <a:pt x="66675" y="161131"/>
                </a:cubicBezTo>
                <a:cubicBezTo>
                  <a:pt x="39076" y="161131"/>
                  <a:pt x="16669" y="138724"/>
                  <a:pt x="16669" y="111125"/>
                </a:cubicBezTo>
                <a:cubicBezTo>
                  <a:pt x="16669" y="83526"/>
                  <a:pt x="39076" y="61119"/>
                  <a:pt x="66675" y="61119"/>
                </a:cubicBezTo>
                <a:close/>
                <a:moveTo>
                  <a:pt x="0" y="288925"/>
                </a:moveTo>
                <a:cubicBezTo>
                  <a:pt x="0" y="239822"/>
                  <a:pt x="39797" y="200025"/>
                  <a:pt x="88900" y="200025"/>
                </a:cubicBezTo>
                <a:cubicBezTo>
                  <a:pt x="97790" y="200025"/>
                  <a:pt x="106402" y="201345"/>
                  <a:pt x="114528" y="203775"/>
                </a:cubicBezTo>
                <a:cubicBezTo>
                  <a:pt x="91678" y="229334"/>
                  <a:pt x="77788" y="263088"/>
                  <a:pt x="77788" y="300038"/>
                </a:cubicBezTo>
                <a:lnTo>
                  <a:pt x="77788" y="311150"/>
                </a:lnTo>
                <a:cubicBezTo>
                  <a:pt x="77788" y="319068"/>
                  <a:pt x="79454" y="326569"/>
                  <a:pt x="82441" y="333375"/>
                </a:cubicBezTo>
                <a:lnTo>
                  <a:pt x="22225" y="333375"/>
                </a:lnTo>
                <a:cubicBezTo>
                  <a:pt x="9932" y="333375"/>
                  <a:pt x="0" y="323443"/>
                  <a:pt x="0" y="311150"/>
                </a:cubicBezTo>
                <a:lnTo>
                  <a:pt x="0" y="288925"/>
                </a:lnTo>
                <a:close/>
                <a:moveTo>
                  <a:pt x="362059" y="333375"/>
                </a:moveTo>
                <a:cubicBezTo>
                  <a:pt x="365046" y="326569"/>
                  <a:pt x="366712" y="319068"/>
                  <a:pt x="366712" y="311150"/>
                </a:cubicBezTo>
                <a:lnTo>
                  <a:pt x="366712" y="300038"/>
                </a:lnTo>
                <a:cubicBezTo>
                  <a:pt x="366712" y="263088"/>
                  <a:pt x="352822" y="229334"/>
                  <a:pt x="329972" y="203775"/>
                </a:cubicBezTo>
                <a:cubicBezTo>
                  <a:pt x="338098" y="201345"/>
                  <a:pt x="346710" y="200025"/>
                  <a:pt x="355600" y="200025"/>
                </a:cubicBezTo>
                <a:cubicBezTo>
                  <a:pt x="404703" y="200025"/>
                  <a:pt x="444500" y="239822"/>
                  <a:pt x="444500" y="288925"/>
                </a:cubicBezTo>
                <a:lnTo>
                  <a:pt x="444500" y="311150"/>
                </a:lnTo>
                <a:cubicBezTo>
                  <a:pt x="444500" y="323443"/>
                  <a:pt x="434568" y="333375"/>
                  <a:pt x="422275" y="333375"/>
                </a:cubicBezTo>
                <a:lnTo>
                  <a:pt x="362059" y="333375"/>
                </a:lnTo>
                <a:close/>
                <a:moveTo>
                  <a:pt x="327819" y="111125"/>
                </a:moveTo>
                <a:cubicBezTo>
                  <a:pt x="327819" y="83526"/>
                  <a:pt x="350226" y="61119"/>
                  <a:pt x="377825" y="61119"/>
                </a:cubicBezTo>
                <a:cubicBezTo>
                  <a:pt x="405424" y="61119"/>
                  <a:pt x="427831" y="83526"/>
                  <a:pt x="427831" y="111125"/>
                </a:cubicBezTo>
                <a:cubicBezTo>
                  <a:pt x="427831" y="138724"/>
                  <a:pt x="405424" y="161131"/>
                  <a:pt x="377825" y="161131"/>
                </a:cubicBezTo>
                <a:cubicBezTo>
                  <a:pt x="350226" y="161131"/>
                  <a:pt x="327819" y="138724"/>
                  <a:pt x="327819" y="111125"/>
                </a:cubicBezTo>
                <a:close/>
                <a:moveTo>
                  <a:pt x="111125" y="300038"/>
                </a:moveTo>
                <a:cubicBezTo>
                  <a:pt x="111125" y="238641"/>
                  <a:pt x="160853" y="188913"/>
                  <a:pt x="222250" y="188913"/>
                </a:cubicBezTo>
                <a:cubicBezTo>
                  <a:pt x="283647" y="188913"/>
                  <a:pt x="333375" y="238641"/>
                  <a:pt x="333375" y="300038"/>
                </a:cubicBezTo>
                <a:lnTo>
                  <a:pt x="333375" y="311150"/>
                </a:lnTo>
                <a:cubicBezTo>
                  <a:pt x="333375" y="323443"/>
                  <a:pt x="323443" y="333375"/>
                  <a:pt x="311150" y="333375"/>
                </a:cubicBezTo>
                <a:lnTo>
                  <a:pt x="133350" y="333375"/>
                </a:lnTo>
                <a:cubicBezTo>
                  <a:pt x="121057" y="333375"/>
                  <a:pt x="111125" y="323443"/>
                  <a:pt x="111125" y="311150"/>
                </a:cubicBezTo>
                <a:lnTo>
                  <a:pt x="111125" y="300038"/>
                </a:lnTo>
                <a:close/>
              </a:path>
            </a:pathLst>
          </a:custGeom>
          <a:solidFill>
            <a:srgbClr val="D97706"/>
          </a:solidFill>
          <a:ln/>
        </p:spPr>
      </p:sp>
      <p:sp>
        <p:nvSpPr>
          <p:cNvPr id="16" name="Text 14"/>
          <p:cNvSpPr/>
          <p:nvPr/>
        </p:nvSpPr>
        <p:spPr>
          <a:xfrm>
            <a:off x="1460500" y="4445000"/>
            <a:ext cx="6223000" cy="635000"/>
          </a:xfrm>
          <a:prstGeom prst="rect">
            <a:avLst/>
          </a:prstGeom>
          <a:noFill/>
          <a:ln/>
        </p:spPr>
        <p:txBody>
          <a:bodyPr wrap="square" lIns="0" tIns="0" rIns="0" bIns="0" rtlCol="0" anchor="ctr"/>
          <a:lstStyle/>
          <a:p>
            <a:pPr>
              <a:lnSpc>
                <a:spcPct val="130000"/>
              </a:lnSpc>
            </a:pPr>
            <a:r>
              <a:rPr lang="en-US" sz="1500" b="1" dirty="0">
                <a:solidFill>
                  <a:srgbClr val="1E293B"/>
                </a:solidFill>
                <a:latin typeface="Quattrocento Sans" pitchFamily="34" charset="0"/>
                <a:ea typeface="Quattrocento Sans" pitchFamily="34" charset="-122"/>
                <a:cs typeface="Quattrocento Sans" pitchFamily="34" charset="-120"/>
              </a:rPr>
              <a:t>Underutilized staff</a:t>
            </a:r>
            <a:pPr>
              <a:lnSpc>
                <a:spcPct val="130000"/>
              </a:lnSpc>
            </a:pPr>
            <a:r>
              <a:rPr lang="en-US" sz="1500" dirty="0">
                <a:solidFill>
                  <a:srgbClr val="1E293B"/>
                </a:solidFill>
                <a:latin typeface="Quattrocento Sans" pitchFamily="34" charset="0"/>
                <a:ea typeface="Quattrocento Sans" pitchFamily="34" charset="-122"/>
                <a:cs typeface="Quattrocento Sans" pitchFamily="34" charset="-120"/>
              </a:rPr>
              <a:t> - Skilled techs doing repetitive manual tasks</a:t>
            </a:r>
            <a:endParaRPr lang="en-US" sz="1600" dirty="0"/>
          </a:p>
        </p:txBody>
      </p:sp>
      <p:sp>
        <p:nvSpPr>
          <p:cNvPr id="17" name="Text 15"/>
          <p:cNvSpPr/>
          <p:nvPr/>
        </p:nvSpPr>
        <p:spPr>
          <a:xfrm>
            <a:off x="8382000" y="1206500"/>
            <a:ext cx="5080000" cy="3810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OUR APPROACH</a:t>
            </a:r>
            <a:endParaRPr lang="en-US" sz="1600" dirty="0"/>
          </a:p>
        </p:txBody>
      </p:sp>
      <p:sp>
        <p:nvSpPr>
          <p:cNvPr id="18" name="Shape 16"/>
          <p:cNvSpPr/>
          <p:nvPr/>
        </p:nvSpPr>
        <p:spPr>
          <a:xfrm>
            <a:off x="8382000" y="1714500"/>
            <a:ext cx="7112000" cy="3429000"/>
          </a:xfrm>
          <a:prstGeom prst="rect">
            <a:avLst/>
          </a:prstGeom>
          <a:solidFill>
            <a:srgbClr val="1E293B"/>
          </a:solidFill>
          <a:ln/>
        </p:spPr>
      </p:sp>
      <p:sp>
        <p:nvSpPr>
          <p:cNvPr id="19" name="Text 17"/>
          <p:cNvSpPr/>
          <p:nvPr/>
        </p:nvSpPr>
        <p:spPr>
          <a:xfrm>
            <a:off x="8636000" y="1905000"/>
            <a:ext cx="6604000" cy="3048000"/>
          </a:xfrm>
          <a:prstGeom prst="rect">
            <a:avLst/>
          </a:prstGeom>
          <a:noFill/>
          <a:ln/>
        </p:spPr>
        <p:txBody>
          <a:bodyPr wrap="square" lIns="0" tIns="0" rIns="0" bIns="0" rtlCol="0" anchor="t"/>
          <a:lstStyle/>
          <a:p>
            <a:pPr>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We are building </a:t>
            </a:r>
            <a:pPr>
              <a:lnSpc>
                <a:spcPct val="160000"/>
              </a:lnSpc>
            </a:pPr>
            <a:r>
              <a:rPr lang="en-US" sz="1600" b="1" dirty="0">
                <a:solidFill>
                  <a:srgbClr val="F1F5F9"/>
                </a:solidFill>
                <a:latin typeface="Quattrocento Sans" pitchFamily="34" charset="0"/>
                <a:ea typeface="Quattrocento Sans" pitchFamily="34" charset="-122"/>
                <a:cs typeface="Quattrocento Sans" pitchFamily="34" charset="-120"/>
              </a:rPr>
              <a:t>frameworks</a:t>
            </a:r>
            <a:pPr>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 that must theoretically automate </a:t>
            </a:r>
            <a:pPr>
              <a:lnSpc>
                <a:spcPct val="160000"/>
              </a:lnSpc>
            </a:pPr>
            <a:r>
              <a:rPr lang="en-US" sz="1600" b="1" dirty="0">
                <a:solidFill>
                  <a:srgbClr val="F1F5F9"/>
                </a:solidFill>
                <a:latin typeface="Quattrocento Sans" pitchFamily="34" charset="0"/>
                <a:ea typeface="Quattrocento Sans" pitchFamily="34" charset="-122"/>
                <a:cs typeface="Quattrocento Sans" pitchFamily="34" charset="-120"/>
              </a:rPr>
              <a:t>every general-purpose task</a:t>
            </a:r>
            <a:pPr>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 in a diagnostic lab.</a:t>
            </a:r>
            <a:endParaRPr lang="en-US" sz="1600" dirty="0"/>
          </a:p>
          <a:p>
            <a:pPr>
              <a:lnSpc>
                <a:spcPct val="160000"/>
              </a:lnSpc>
              <a:spcBef>
                <a:spcPts val="1000"/>
              </a:spcBef>
            </a:pPr>
            <a:r>
              <a:rPr lang="en-US" sz="1600" dirty="0">
                <a:solidFill>
                  <a:srgbClr val="F1F5F9"/>
                </a:solidFill>
                <a:latin typeface="Quattrocento Sans" pitchFamily="34" charset="0"/>
                <a:ea typeface="Quattrocento Sans" pitchFamily="34" charset="-122"/>
                <a:cs typeface="Quattrocento Sans" pitchFamily="34" charset="-120"/>
              </a:rPr>
              <a:t>Test tube handling is just the </a:t>
            </a:r>
            <a:pPr>
              <a:lnSpc>
                <a:spcPct val="160000"/>
              </a:lnSpc>
              <a:spcBef>
                <a:spcPts val="1000"/>
              </a:spcBef>
            </a:pPr>
            <a:r>
              <a:rPr lang="en-US" sz="1600" b="1" dirty="0">
                <a:solidFill>
                  <a:srgbClr val="D97706"/>
                </a:solidFill>
                <a:latin typeface="Quattrocento Sans" pitchFamily="34" charset="0"/>
                <a:ea typeface="Quattrocento Sans" pitchFamily="34" charset="-122"/>
                <a:cs typeface="Quattrocento Sans" pitchFamily="34" charset="-120"/>
              </a:rPr>
              <a:t>demonstration</a:t>
            </a:r>
            <a:pPr>
              <a:lnSpc>
                <a:spcPct val="160000"/>
              </a:lnSpc>
              <a:spcBef>
                <a:spcPts val="1000"/>
              </a:spcBef>
            </a:pPr>
            <a:r>
              <a:rPr lang="en-US" sz="1600" dirty="0">
                <a:solidFill>
                  <a:srgbClr val="F1F5F9"/>
                </a:solidFill>
                <a:latin typeface="Quattrocento Sans" pitchFamily="34" charset="0"/>
                <a:ea typeface="Quattrocento Sans" pitchFamily="34" charset="-122"/>
                <a:cs typeface="Quattrocento Sans" pitchFamily="34" charset="-120"/>
              </a:rPr>
              <a:t> of our capabilities - the wedge to enter the market.</a:t>
            </a:r>
            <a:endParaRPr lang="en-US" sz="1600" dirty="0"/>
          </a:p>
          <a:p>
            <a:pPr>
              <a:lnSpc>
                <a:spcPct val="160000"/>
              </a:lnSpc>
              <a:spcBef>
                <a:spcPts val="1000"/>
              </a:spcBef>
            </a:pPr>
            <a:r>
              <a:rPr lang="en-US" sz="1600" dirty="0">
                <a:solidFill>
                  <a:srgbClr val="F1F5F9"/>
                </a:solidFill>
                <a:latin typeface="Quattrocento Sans" pitchFamily="34" charset="0"/>
                <a:ea typeface="Quattrocento Sans" pitchFamily="34" charset="-122"/>
                <a:cs typeface="Quattrocento Sans" pitchFamily="34" charset="-120"/>
              </a:rPr>
              <a:t>The bet is on </a:t>
            </a:r>
            <a:pPr>
              <a:lnSpc>
                <a:spcPct val="160000"/>
              </a:lnSpc>
              <a:spcBef>
                <a:spcPts val="1000"/>
              </a:spcBef>
            </a:pPr>
            <a:r>
              <a:rPr lang="en-US" sz="1600" b="1" dirty="0">
                <a:solidFill>
                  <a:srgbClr val="F1F5F9"/>
                </a:solidFill>
                <a:latin typeface="Quattrocento Sans" pitchFamily="34" charset="0"/>
                <a:ea typeface="Quattrocento Sans" pitchFamily="34" charset="-122"/>
                <a:cs typeface="Quattrocento Sans" pitchFamily="34" charset="-120"/>
              </a:rPr>
              <a:t>VLA-based systems</a:t>
            </a:r>
            <a:pPr>
              <a:lnSpc>
                <a:spcPct val="160000"/>
              </a:lnSpc>
              <a:spcBef>
                <a:spcPts val="1000"/>
              </a:spcBef>
            </a:pPr>
            <a:r>
              <a:rPr lang="en-US" sz="1600" dirty="0">
                <a:solidFill>
                  <a:srgbClr val="F1F5F9"/>
                </a:solidFill>
                <a:latin typeface="Quattrocento Sans" pitchFamily="34" charset="0"/>
                <a:ea typeface="Quattrocento Sans" pitchFamily="34" charset="-122"/>
                <a:cs typeface="Quattrocento Sans" pitchFamily="34" charset="-120"/>
              </a:rPr>
              <a:t> (Vision-Language-Action) growing good enough to make full general-purpose automation possible.</a:t>
            </a:r>
            <a:endParaRPr lang="en-US" sz="1600" dirty="0"/>
          </a:p>
        </p:txBody>
      </p:sp>
      <p:sp>
        <p:nvSpPr>
          <p:cNvPr id="20" name="Shape 18"/>
          <p:cNvSpPr/>
          <p:nvPr/>
        </p:nvSpPr>
        <p:spPr>
          <a:xfrm>
            <a:off x="762000" y="5461000"/>
            <a:ext cx="14732000" cy="1270000"/>
          </a:xfrm>
          <a:prstGeom prst="rect">
            <a:avLst/>
          </a:prstGeom>
          <a:solidFill>
            <a:srgbClr val="FEF3C7"/>
          </a:solidFill>
          <a:ln w="12700">
            <a:solidFill>
              <a:srgbClr val="FCD34D"/>
            </a:solidFill>
            <a:prstDash val="solid"/>
          </a:ln>
        </p:spPr>
      </p:sp>
      <p:sp>
        <p:nvSpPr>
          <p:cNvPr id="21" name="Shape 19"/>
          <p:cNvSpPr/>
          <p:nvPr/>
        </p:nvSpPr>
        <p:spPr>
          <a:xfrm>
            <a:off x="993775" y="5778500"/>
            <a:ext cx="400050" cy="355600"/>
          </a:xfrm>
          <a:custGeom>
            <a:avLst/>
            <a:gdLst/>
            <a:ahLst/>
            <a:cxnLst/>
            <a:rect l="l" t="t" r="r" b="b"/>
            <a:pathLst>
              <a:path w="400050" h="355600">
                <a:moveTo>
                  <a:pt x="166688" y="16669"/>
                </a:moveTo>
                <a:cubicBezTo>
                  <a:pt x="166688" y="7431"/>
                  <a:pt x="174119" y="0"/>
                  <a:pt x="183356" y="0"/>
                </a:cubicBezTo>
                <a:lnTo>
                  <a:pt x="216694" y="0"/>
                </a:lnTo>
                <a:cubicBezTo>
                  <a:pt x="225931" y="0"/>
                  <a:pt x="233363" y="7431"/>
                  <a:pt x="233363" y="16669"/>
                </a:cubicBezTo>
                <a:lnTo>
                  <a:pt x="233363" y="55563"/>
                </a:lnTo>
                <a:lnTo>
                  <a:pt x="272256" y="55563"/>
                </a:lnTo>
                <a:cubicBezTo>
                  <a:pt x="281494" y="55563"/>
                  <a:pt x="288925" y="62994"/>
                  <a:pt x="288925" y="72231"/>
                </a:cubicBezTo>
                <a:lnTo>
                  <a:pt x="288925" y="105569"/>
                </a:lnTo>
                <a:cubicBezTo>
                  <a:pt x="288925" y="114806"/>
                  <a:pt x="281494" y="122238"/>
                  <a:pt x="272256" y="122238"/>
                </a:cubicBezTo>
                <a:lnTo>
                  <a:pt x="233363" y="122238"/>
                </a:lnTo>
                <a:lnTo>
                  <a:pt x="233363" y="161131"/>
                </a:lnTo>
                <a:cubicBezTo>
                  <a:pt x="233363" y="170369"/>
                  <a:pt x="225931" y="177800"/>
                  <a:pt x="216694" y="177800"/>
                </a:cubicBezTo>
                <a:lnTo>
                  <a:pt x="183356" y="177800"/>
                </a:lnTo>
                <a:cubicBezTo>
                  <a:pt x="174119" y="177800"/>
                  <a:pt x="166688" y="170369"/>
                  <a:pt x="166688" y="161131"/>
                </a:cubicBezTo>
                <a:lnTo>
                  <a:pt x="166688" y="122238"/>
                </a:lnTo>
                <a:lnTo>
                  <a:pt x="127794" y="122238"/>
                </a:lnTo>
                <a:cubicBezTo>
                  <a:pt x="118556" y="122238"/>
                  <a:pt x="111125" y="114806"/>
                  <a:pt x="111125" y="105569"/>
                </a:cubicBezTo>
                <a:lnTo>
                  <a:pt x="111125" y="72231"/>
                </a:lnTo>
                <a:cubicBezTo>
                  <a:pt x="111125" y="62994"/>
                  <a:pt x="118556" y="55563"/>
                  <a:pt x="127794" y="55563"/>
                </a:cubicBezTo>
                <a:lnTo>
                  <a:pt x="166688" y="55563"/>
                </a:lnTo>
                <a:lnTo>
                  <a:pt x="166688" y="16669"/>
                </a:lnTo>
                <a:close/>
                <a:moveTo>
                  <a:pt x="46325" y="266700"/>
                </a:moveTo>
                <a:lnTo>
                  <a:pt x="75843" y="237182"/>
                </a:lnTo>
                <a:cubicBezTo>
                  <a:pt x="92512" y="220514"/>
                  <a:pt x="115153" y="211138"/>
                  <a:pt x="138698" y="211138"/>
                </a:cubicBezTo>
                <a:lnTo>
                  <a:pt x="244475" y="211138"/>
                </a:lnTo>
                <a:cubicBezTo>
                  <a:pt x="256768" y="211138"/>
                  <a:pt x="266700" y="221069"/>
                  <a:pt x="266700" y="233363"/>
                </a:cubicBezTo>
                <a:cubicBezTo>
                  <a:pt x="266700" y="245656"/>
                  <a:pt x="256768" y="255587"/>
                  <a:pt x="244475" y="255587"/>
                </a:cubicBezTo>
                <a:lnTo>
                  <a:pt x="194469" y="255587"/>
                </a:lnTo>
                <a:cubicBezTo>
                  <a:pt x="185231" y="255587"/>
                  <a:pt x="177800" y="263019"/>
                  <a:pt x="177800" y="272256"/>
                </a:cubicBezTo>
                <a:cubicBezTo>
                  <a:pt x="177800" y="281494"/>
                  <a:pt x="185231" y="288925"/>
                  <a:pt x="194469" y="288925"/>
                </a:cubicBezTo>
                <a:lnTo>
                  <a:pt x="272673" y="288925"/>
                </a:lnTo>
                <a:lnTo>
                  <a:pt x="355808" y="227667"/>
                </a:lnTo>
                <a:cubicBezTo>
                  <a:pt x="368171" y="218569"/>
                  <a:pt x="385534" y="221208"/>
                  <a:pt x="394633" y="233571"/>
                </a:cubicBezTo>
                <a:cubicBezTo>
                  <a:pt x="403731" y="245934"/>
                  <a:pt x="401092" y="263297"/>
                  <a:pt x="388729" y="272395"/>
                </a:cubicBezTo>
                <a:lnTo>
                  <a:pt x="300801" y="337195"/>
                </a:lnTo>
                <a:cubicBezTo>
                  <a:pt x="284549" y="349141"/>
                  <a:pt x="264964" y="355600"/>
                  <a:pt x="244753" y="355600"/>
                </a:cubicBezTo>
                <a:lnTo>
                  <a:pt x="22225" y="355600"/>
                </a:lnTo>
                <a:cubicBezTo>
                  <a:pt x="9932" y="355600"/>
                  <a:pt x="0" y="345668"/>
                  <a:pt x="0" y="333375"/>
                </a:cubicBezTo>
                <a:lnTo>
                  <a:pt x="0" y="288925"/>
                </a:lnTo>
                <a:cubicBezTo>
                  <a:pt x="0" y="276632"/>
                  <a:pt x="9932" y="266700"/>
                  <a:pt x="22225" y="266700"/>
                </a:cubicBezTo>
                <a:lnTo>
                  <a:pt x="46325" y="266700"/>
                </a:lnTo>
                <a:close/>
              </a:path>
            </a:pathLst>
          </a:custGeom>
          <a:solidFill>
            <a:srgbClr val="D97706"/>
          </a:solidFill>
          <a:ln/>
        </p:spPr>
      </p:sp>
      <p:sp>
        <p:nvSpPr>
          <p:cNvPr id="22" name="Text 20"/>
          <p:cNvSpPr/>
          <p:nvPr/>
        </p:nvSpPr>
        <p:spPr>
          <a:xfrm>
            <a:off x="1524000" y="5588000"/>
            <a:ext cx="13716000" cy="1016000"/>
          </a:xfrm>
          <a:prstGeom prst="rect">
            <a:avLst/>
          </a:prstGeom>
          <a:noFill/>
          <a:ln/>
        </p:spPr>
        <p:txBody>
          <a:bodyPr wrap="square" lIns="0" tIns="0" rIns="0" bIns="0" rtlCol="0" anchor="ctr"/>
          <a:lstStyle/>
          <a:p>
            <a:pPr>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Assistive Robot Capability:</a:t>
            </a:r>
            <a:pPr>
              <a:lnSpc>
                <a:spcPct val="140000"/>
              </a:lnSpc>
            </a:pPr>
            <a:r>
              <a:rPr lang="en-US" sz="1500" dirty="0">
                <a:solidFill>
                  <a:srgbClr val="1E293B"/>
                </a:solidFill>
                <a:latin typeface="Quattrocento Sans" pitchFamily="34" charset="0"/>
                <a:ea typeface="Quattrocento Sans" pitchFamily="34" charset="-122"/>
                <a:cs typeface="Quattrocento Sans" pitchFamily="34" charset="-120"/>
              </a:rPr>
              <a:t> The controller used to train the robot can directly be used as an assistive robot for heavy work. As training software improves, assistive mechanics improve too. Assistive tasks can be recorded to train the VLA.</a:t>
            </a:r>
            <a:endParaRPr lang="en-US" sz="1600" dirty="0"/>
          </a:p>
        </p:txBody>
      </p:sp>
      <p:sp>
        <p:nvSpPr>
          <p:cNvPr id="23" name="Text 21"/>
          <p:cNvSpPr/>
          <p:nvPr/>
        </p:nvSpPr>
        <p:spPr>
          <a:xfrm>
            <a:off x="762000" y="7048500"/>
            <a:ext cx="14732000" cy="762000"/>
          </a:xfrm>
          <a:prstGeom prst="rect">
            <a:avLst/>
          </a:prstGeom>
          <a:noFill/>
          <a:ln/>
        </p:spPr>
        <p:txBody>
          <a:bodyPr wrap="square" lIns="0" tIns="0" rIns="0" bIns="0" rtlCol="0" anchor="ctr"/>
          <a:lstStyle/>
          <a:p>
            <a:pPr algn="ctr">
              <a:lnSpc>
                <a:spcPct val="150000"/>
              </a:lnSpc>
            </a:pPr>
            <a:r>
              <a:rPr lang="en-US" sz="1800" i="1" dirty="0">
                <a:solidFill>
                  <a:srgbClr val="475569"/>
                </a:solidFill>
                <a:latin typeface="Quattrocento Sans" pitchFamily="34" charset="0"/>
                <a:ea typeface="Quattrocento Sans" pitchFamily="34" charset="-122"/>
                <a:cs typeface="Quattrocento Sans" pitchFamily="34" charset="-120"/>
              </a:rPr>
              <a:t>"We don't focus on a specific process that needs automation. We focus on building a general policy that can automate every general-purpose task."</a:t>
            </a:r>
            <a:endParaRPr lang="en-US" sz="1600" dirty="0"/>
          </a:p>
        </p:txBody>
      </p:sp>
      <p:sp>
        <p:nvSpPr>
          <p:cNvPr id="24" name="Shape 22"/>
          <p:cNvSpPr/>
          <p:nvPr/>
        </p:nvSpPr>
        <p:spPr>
          <a:xfrm>
            <a:off x="762000" y="8636000"/>
            <a:ext cx="14732000" cy="25400"/>
          </a:xfrm>
          <a:prstGeom prst="rect">
            <a:avLst/>
          </a:prstGeom>
          <a:solidFill>
            <a:srgbClr val="D97706"/>
          </a:solidFill>
          <a:ln/>
        </p:spPr>
      </p:sp>
      <p:sp>
        <p:nvSpPr>
          <p:cNvPr id="25" name="Text 23"/>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07</a:t>
            </a:r>
            <a:endParaRPr lang="en-US" sz="13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The Wedge: Four-Phase Evolution from Simulation to Full Automation</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968500"/>
            <a:ext cx="14732000" cy="38100"/>
          </a:xfrm>
          <a:prstGeom prst="rect">
            <a:avLst/>
          </a:prstGeom>
          <a:solidFill>
            <a:srgbClr val="D97706"/>
          </a:solidFill>
          <a:ln/>
        </p:spPr>
      </p:sp>
      <p:sp>
        <p:nvSpPr>
          <p:cNvPr id="5" name="Shape 3"/>
          <p:cNvSpPr/>
          <p:nvPr/>
        </p:nvSpPr>
        <p:spPr>
          <a:xfrm>
            <a:off x="1371600" y="1866900"/>
            <a:ext cx="228600" cy="228600"/>
          </a:xfrm>
          <a:prstGeom prst="ellipse">
            <a:avLst/>
          </a:prstGeom>
          <a:solidFill>
            <a:srgbClr val="D97706"/>
          </a:solidFill>
          <a:ln/>
        </p:spPr>
      </p:sp>
      <p:sp>
        <p:nvSpPr>
          <p:cNvPr id="6" name="Shape 4"/>
          <p:cNvSpPr/>
          <p:nvPr/>
        </p:nvSpPr>
        <p:spPr>
          <a:xfrm>
            <a:off x="4800600" y="1866900"/>
            <a:ext cx="228600" cy="228600"/>
          </a:xfrm>
          <a:prstGeom prst="ellipse">
            <a:avLst/>
          </a:prstGeom>
          <a:solidFill>
            <a:srgbClr val="D97706"/>
          </a:solidFill>
          <a:ln/>
        </p:spPr>
      </p:sp>
      <p:sp>
        <p:nvSpPr>
          <p:cNvPr id="7" name="Shape 5"/>
          <p:cNvSpPr/>
          <p:nvPr/>
        </p:nvSpPr>
        <p:spPr>
          <a:xfrm>
            <a:off x="8229600" y="1866900"/>
            <a:ext cx="228600" cy="228600"/>
          </a:xfrm>
          <a:prstGeom prst="ellipse">
            <a:avLst/>
          </a:prstGeom>
          <a:solidFill>
            <a:srgbClr val="D97706"/>
          </a:solidFill>
          <a:ln/>
        </p:spPr>
      </p:sp>
      <p:sp>
        <p:nvSpPr>
          <p:cNvPr id="8" name="Shape 6"/>
          <p:cNvSpPr/>
          <p:nvPr/>
        </p:nvSpPr>
        <p:spPr>
          <a:xfrm>
            <a:off x="11658600" y="1866900"/>
            <a:ext cx="228600" cy="228600"/>
          </a:xfrm>
          <a:prstGeom prst="ellipse">
            <a:avLst/>
          </a:prstGeom>
          <a:solidFill>
            <a:srgbClr val="D97706"/>
          </a:solidFill>
          <a:ln/>
        </p:spPr>
      </p:sp>
      <p:sp>
        <p:nvSpPr>
          <p:cNvPr id="9" name="Text 7"/>
          <p:cNvSpPr/>
          <p:nvPr/>
        </p:nvSpPr>
        <p:spPr>
          <a:xfrm>
            <a:off x="762000" y="1460500"/>
            <a:ext cx="2286000" cy="317500"/>
          </a:xfrm>
          <a:prstGeom prst="rect">
            <a:avLst/>
          </a:prstGeom>
          <a:noFill/>
          <a:ln/>
        </p:spPr>
        <p:txBody>
          <a:bodyPr wrap="none" lIns="0" tIns="0" rIns="0" bIns="0" rtlCol="0" anchor="ctr"/>
          <a:lstStyle/>
          <a:p>
            <a:pPr algn="ctr">
              <a:lnSpc>
                <a:spcPct val="100000"/>
              </a:lnSpc>
            </a:pPr>
            <a:r>
              <a:rPr lang="en-US" sz="1400" dirty="0">
                <a:solidFill>
                  <a:srgbClr val="D97706"/>
                </a:solidFill>
                <a:latin typeface="Liter" pitchFamily="34" charset="0"/>
                <a:ea typeface="Liter" pitchFamily="34" charset="-122"/>
                <a:cs typeface="Liter" pitchFamily="34" charset="-120"/>
              </a:rPr>
              <a:t>PHASE 0</a:t>
            </a:r>
            <a:endParaRPr lang="en-US" sz="1600" dirty="0"/>
          </a:p>
        </p:txBody>
      </p:sp>
      <p:sp>
        <p:nvSpPr>
          <p:cNvPr id="10" name="Text 8"/>
          <p:cNvSpPr/>
          <p:nvPr/>
        </p:nvSpPr>
        <p:spPr>
          <a:xfrm>
            <a:off x="4191000" y="1460500"/>
            <a:ext cx="2286000" cy="317500"/>
          </a:xfrm>
          <a:prstGeom prst="rect">
            <a:avLst/>
          </a:prstGeom>
          <a:noFill/>
          <a:ln/>
        </p:spPr>
        <p:txBody>
          <a:bodyPr wrap="none" lIns="0" tIns="0" rIns="0" bIns="0" rtlCol="0" anchor="ctr"/>
          <a:lstStyle/>
          <a:p>
            <a:pPr algn="ctr">
              <a:lnSpc>
                <a:spcPct val="100000"/>
              </a:lnSpc>
            </a:pPr>
            <a:r>
              <a:rPr lang="en-US" sz="1400" dirty="0">
                <a:solidFill>
                  <a:srgbClr val="D97706"/>
                </a:solidFill>
                <a:latin typeface="Liter" pitchFamily="34" charset="0"/>
                <a:ea typeface="Liter" pitchFamily="34" charset="-122"/>
                <a:cs typeface="Liter" pitchFamily="34" charset="-120"/>
              </a:rPr>
              <a:t>PHASE 1</a:t>
            </a:r>
            <a:endParaRPr lang="en-US" sz="1600" dirty="0"/>
          </a:p>
        </p:txBody>
      </p:sp>
      <p:sp>
        <p:nvSpPr>
          <p:cNvPr id="11" name="Text 9"/>
          <p:cNvSpPr/>
          <p:nvPr/>
        </p:nvSpPr>
        <p:spPr>
          <a:xfrm>
            <a:off x="7620000" y="1460500"/>
            <a:ext cx="2286000" cy="317500"/>
          </a:xfrm>
          <a:prstGeom prst="rect">
            <a:avLst/>
          </a:prstGeom>
          <a:noFill/>
          <a:ln/>
        </p:spPr>
        <p:txBody>
          <a:bodyPr wrap="none" lIns="0" tIns="0" rIns="0" bIns="0" rtlCol="0" anchor="ctr"/>
          <a:lstStyle/>
          <a:p>
            <a:pPr algn="ctr">
              <a:lnSpc>
                <a:spcPct val="100000"/>
              </a:lnSpc>
            </a:pPr>
            <a:r>
              <a:rPr lang="en-US" sz="1400" dirty="0">
                <a:solidFill>
                  <a:srgbClr val="D97706"/>
                </a:solidFill>
                <a:latin typeface="Liter" pitchFamily="34" charset="0"/>
                <a:ea typeface="Liter" pitchFamily="34" charset="-122"/>
                <a:cs typeface="Liter" pitchFamily="34" charset="-120"/>
              </a:rPr>
              <a:t>PHASE 2</a:t>
            </a:r>
            <a:endParaRPr lang="en-US" sz="1600" dirty="0"/>
          </a:p>
        </p:txBody>
      </p:sp>
      <p:sp>
        <p:nvSpPr>
          <p:cNvPr id="12" name="Text 10"/>
          <p:cNvSpPr/>
          <p:nvPr/>
        </p:nvSpPr>
        <p:spPr>
          <a:xfrm>
            <a:off x="11049000" y="1460500"/>
            <a:ext cx="2286000" cy="317500"/>
          </a:xfrm>
          <a:prstGeom prst="rect">
            <a:avLst/>
          </a:prstGeom>
          <a:noFill/>
          <a:ln/>
        </p:spPr>
        <p:txBody>
          <a:bodyPr wrap="none" lIns="0" tIns="0" rIns="0" bIns="0" rtlCol="0" anchor="ctr"/>
          <a:lstStyle/>
          <a:p>
            <a:pPr algn="ctr">
              <a:lnSpc>
                <a:spcPct val="100000"/>
              </a:lnSpc>
            </a:pPr>
            <a:r>
              <a:rPr lang="en-US" sz="1400" dirty="0">
                <a:solidFill>
                  <a:srgbClr val="D97706"/>
                </a:solidFill>
                <a:latin typeface="Liter" pitchFamily="34" charset="0"/>
                <a:ea typeface="Liter" pitchFamily="34" charset="-122"/>
                <a:cs typeface="Liter" pitchFamily="34" charset="-120"/>
              </a:rPr>
              <a:t>PHASE 3</a:t>
            </a:r>
            <a:endParaRPr lang="en-US" sz="1600" dirty="0"/>
          </a:p>
        </p:txBody>
      </p:sp>
      <p:sp>
        <p:nvSpPr>
          <p:cNvPr id="13" name="Shape 11"/>
          <p:cNvSpPr/>
          <p:nvPr/>
        </p:nvSpPr>
        <p:spPr>
          <a:xfrm>
            <a:off x="762000" y="2286000"/>
            <a:ext cx="3302000" cy="3302000"/>
          </a:xfrm>
          <a:prstGeom prst="rect">
            <a:avLst/>
          </a:prstGeom>
          <a:solidFill>
            <a:srgbClr val="F1F5F9"/>
          </a:solidFill>
          <a:ln w="12700">
            <a:solidFill>
              <a:srgbClr val="E2E8F0"/>
            </a:solidFill>
            <a:prstDash val="solid"/>
          </a:ln>
        </p:spPr>
      </p:sp>
      <p:sp>
        <p:nvSpPr>
          <p:cNvPr id="14" name="Text 12"/>
          <p:cNvSpPr/>
          <p:nvPr/>
        </p:nvSpPr>
        <p:spPr>
          <a:xfrm>
            <a:off x="952500" y="2413000"/>
            <a:ext cx="2921000" cy="317500"/>
          </a:xfrm>
          <a:prstGeom prst="rect">
            <a:avLst/>
          </a:prstGeom>
          <a:noFill/>
          <a:ln/>
        </p:spPr>
        <p:txBody>
          <a:bodyPr wrap="none" lIns="0" tIns="0" rIns="0" bIns="0" rtlCol="0" anchor="ctr"/>
          <a:lstStyle/>
          <a:p>
            <a:pPr>
              <a:lnSpc>
                <a:spcPct val="100000"/>
              </a:lnSpc>
            </a:pPr>
            <a:r>
              <a:rPr lang="en-US" sz="1600" dirty="0">
                <a:solidFill>
                  <a:srgbClr val="1E293B"/>
                </a:solidFill>
                <a:latin typeface="Liter" pitchFamily="34" charset="0"/>
                <a:ea typeface="Liter" pitchFamily="34" charset="-122"/>
                <a:cs typeface="Liter" pitchFamily="34" charset="-120"/>
              </a:rPr>
              <a:t>Simulations &amp; Grants</a:t>
            </a:r>
            <a:endParaRPr lang="en-US" sz="1600" dirty="0"/>
          </a:p>
        </p:txBody>
      </p:sp>
      <p:sp>
        <p:nvSpPr>
          <p:cNvPr id="15" name="Text 13"/>
          <p:cNvSpPr/>
          <p:nvPr/>
        </p:nvSpPr>
        <p:spPr>
          <a:xfrm>
            <a:off x="952500" y="2794000"/>
            <a:ext cx="2921000" cy="2603500"/>
          </a:xfrm>
          <a:prstGeom prst="rect">
            <a:avLst/>
          </a:prstGeom>
          <a:noFill/>
          <a:ln/>
        </p:spPr>
        <p:txBody>
          <a:bodyPr wrap="square" lIns="0" tIns="0" rIns="0" bIns="0" rtlCol="0" anchor="t"/>
          <a:lstStyle/>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Prototype everything on Coppeliasim</a:t>
            </a:r>
            <a:endParaRPr lang="en-US" sz="1600" dirty="0"/>
          </a:p>
          <a:p>
            <a:pPr>
              <a:lnSpc>
                <a:spcPct val="150000"/>
              </a:lnSpc>
              <a:spcBef>
                <a:spcPts val="600"/>
              </a:spcBef>
            </a:pPr>
            <a:r>
              <a:rPr lang="en-US" sz="1400" dirty="0">
                <a:solidFill>
                  <a:srgbClr val="1E293B"/>
                </a:solidFill>
                <a:latin typeface="Quattrocento Sans" pitchFamily="34" charset="0"/>
                <a:ea typeface="Quattrocento Sans" pitchFamily="34" charset="-122"/>
                <a:cs typeface="Quattrocento Sans" pitchFamily="34" charset="-120"/>
              </a:rPr>
              <a:t>Train VLA using simulator</a:t>
            </a:r>
            <a:endParaRPr lang="en-US" sz="1600" dirty="0"/>
          </a:p>
          <a:p>
            <a:pPr>
              <a:lnSpc>
                <a:spcPct val="150000"/>
              </a:lnSpc>
              <a:spcBef>
                <a:spcPts val="600"/>
              </a:spcBef>
            </a:pPr>
            <a:r>
              <a:rPr lang="en-US" sz="1400" dirty="0">
                <a:solidFill>
                  <a:srgbClr val="1E293B"/>
                </a:solidFill>
                <a:latin typeface="Quattrocento Sans" pitchFamily="34" charset="0"/>
                <a:ea typeface="Quattrocento Sans" pitchFamily="34" charset="-122"/>
                <a:cs typeface="Quattrocento Sans" pitchFamily="34" charset="-120"/>
              </a:rPr>
              <a:t>Acquire grants (EITB Shakti, Thiel Foundation, Merantix)</a:t>
            </a:r>
            <a:endParaRPr lang="en-US" sz="1600" dirty="0"/>
          </a:p>
          <a:p>
            <a:pPr>
              <a:lnSpc>
                <a:spcPct val="150000"/>
              </a:lnSpc>
              <a:spcBef>
                <a:spcPts val="600"/>
              </a:spcBef>
            </a:pPr>
            <a:r>
              <a:rPr lang="en-US" sz="1400" dirty="0">
                <a:solidFill>
                  <a:srgbClr val="1E293B"/>
                </a:solidFill>
                <a:latin typeface="Quattrocento Sans" pitchFamily="34" charset="0"/>
                <a:ea typeface="Quattrocento Sans" pitchFamily="34" charset="-122"/>
                <a:cs typeface="Quattrocento Sans" pitchFamily="34" charset="-120"/>
              </a:rPr>
              <a:t>Simulator VLA framework can be sold as software or open-sourced</a:t>
            </a:r>
            <a:endParaRPr lang="en-US" sz="1600" dirty="0"/>
          </a:p>
        </p:txBody>
      </p:sp>
      <p:sp>
        <p:nvSpPr>
          <p:cNvPr id="16" name="Shape 14"/>
          <p:cNvSpPr/>
          <p:nvPr/>
        </p:nvSpPr>
        <p:spPr>
          <a:xfrm>
            <a:off x="4191000" y="2286000"/>
            <a:ext cx="3302000" cy="3302000"/>
          </a:xfrm>
          <a:prstGeom prst="rect">
            <a:avLst/>
          </a:prstGeom>
          <a:solidFill>
            <a:srgbClr val="F1F5F9"/>
          </a:solidFill>
          <a:ln w="12700">
            <a:solidFill>
              <a:srgbClr val="E2E8F0"/>
            </a:solidFill>
            <a:prstDash val="solid"/>
          </a:ln>
        </p:spPr>
      </p:sp>
      <p:sp>
        <p:nvSpPr>
          <p:cNvPr id="17" name="Text 15"/>
          <p:cNvSpPr/>
          <p:nvPr/>
        </p:nvSpPr>
        <p:spPr>
          <a:xfrm>
            <a:off x="4381500" y="2413000"/>
            <a:ext cx="2921000" cy="317500"/>
          </a:xfrm>
          <a:prstGeom prst="rect">
            <a:avLst/>
          </a:prstGeom>
          <a:noFill/>
          <a:ln/>
        </p:spPr>
        <p:txBody>
          <a:bodyPr wrap="none" lIns="0" tIns="0" rIns="0" bIns="0" rtlCol="0" anchor="ctr"/>
          <a:lstStyle/>
          <a:p>
            <a:pPr>
              <a:lnSpc>
                <a:spcPct val="100000"/>
              </a:lnSpc>
            </a:pPr>
            <a:r>
              <a:rPr lang="en-US" sz="1600" dirty="0">
                <a:solidFill>
                  <a:srgbClr val="1E293B"/>
                </a:solidFill>
                <a:latin typeface="Liter" pitchFamily="34" charset="0"/>
                <a:ea typeface="Liter" pitchFamily="34" charset="-122"/>
                <a:cs typeface="Liter" pitchFamily="34" charset="-120"/>
              </a:rPr>
              <a:t>Simple Gantry</a:t>
            </a:r>
            <a:endParaRPr lang="en-US" sz="1600" dirty="0"/>
          </a:p>
        </p:txBody>
      </p:sp>
      <p:sp>
        <p:nvSpPr>
          <p:cNvPr id="18" name="Text 16"/>
          <p:cNvSpPr/>
          <p:nvPr/>
        </p:nvSpPr>
        <p:spPr>
          <a:xfrm>
            <a:off x="4381500" y="2794000"/>
            <a:ext cx="2921000" cy="2603500"/>
          </a:xfrm>
          <a:prstGeom prst="rect">
            <a:avLst/>
          </a:prstGeom>
          <a:noFill/>
          <a:ln/>
        </p:spPr>
        <p:txBody>
          <a:bodyPr wrap="square" lIns="0" tIns="0" rIns="0" bIns="0" rtlCol="0" anchor="t"/>
          <a:lstStyle/>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Tube pickup</a:t>
            </a:r>
            <a:endParaRPr lang="en-US" sz="1600" dirty="0"/>
          </a:p>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Barcode scanning</a:t>
            </a:r>
            <a:endParaRPr lang="en-US" sz="1600" dirty="0"/>
          </a:p>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Tube routing</a:t>
            </a:r>
            <a:endParaRPr lang="en-US" sz="1600" dirty="0"/>
          </a:p>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Rack placement</a:t>
            </a:r>
            <a:endParaRPr lang="en-US" sz="1600" dirty="0"/>
          </a:p>
          <a:p>
            <a:pPr>
              <a:lnSpc>
                <a:spcPct val="150000"/>
              </a:lnSpc>
              <a:spcBef>
                <a:spcPts val="600"/>
              </a:spcBef>
            </a:pPr>
            <a:r>
              <a:rPr lang="en-US" sz="1400" b="1" dirty="0">
                <a:solidFill>
                  <a:srgbClr val="D97706"/>
                </a:solidFill>
                <a:latin typeface="Quattrocento Sans" pitchFamily="34" charset="0"/>
                <a:ea typeface="Quattrocento Sans" pitchFamily="34" charset="-122"/>
                <a:cs typeface="Quattrocento Sans" pitchFamily="34" charset="-120"/>
              </a:rPr>
              <a:t>Also works as assistive robot for heavy loads</a:t>
            </a:r>
            <a:endParaRPr lang="en-US" sz="1600" dirty="0"/>
          </a:p>
        </p:txBody>
      </p:sp>
      <p:sp>
        <p:nvSpPr>
          <p:cNvPr id="19" name="Shape 17"/>
          <p:cNvSpPr/>
          <p:nvPr/>
        </p:nvSpPr>
        <p:spPr>
          <a:xfrm>
            <a:off x="7620000" y="2286000"/>
            <a:ext cx="3302000" cy="3302000"/>
          </a:xfrm>
          <a:prstGeom prst="rect">
            <a:avLst/>
          </a:prstGeom>
          <a:solidFill>
            <a:srgbClr val="F1F5F9"/>
          </a:solidFill>
          <a:ln w="12700">
            <a:solidFill>
              <a:srgbClr val="E2E8F0"/>
            </a:solidFill>
            <a:prstDash val="solid"/>
          </a:ln>
        </p:spPr>
      </p:sp>
      <p:sp>
        <p:nvSpPr>
          <p:cNvPr id="20" name="Text 18"/>
          <p:cNvSpPr/>
          <p:nvPr/>
        </p:nvSpPr>
        <p:spPr>
          <a:xfrm>
            <a:off x="7810500" y="2413000"/>
            <a:ext cx="2921000" cy="317500"/>
          </a:xfrm>
          <a:prstGeom prst="rect">
            <a:avLst/>
          </a:prstGeom>
          <a:noFill/>
          <a:ln/>
        </p:spPr>
        <p:txBody>
          <a:bodyPr wrap="none" lIns="0" tIns="0" rIns="0" bIns="0" rtlCol="0" anchor="ctr"/>
          <a:lstStyle/>
          <a:p>
            <a:pPr>
              <a:lnSpc>
                <a:spcPct val="100000"/>
              </a:lnSpc>
            </a:pPr>
            <a:r>
              <a:rPr lang="en-US" sz="1600" dirty="0">
                <a:solidFill>
                  <a:srgbClr val="1E293B"/>
                </a:solidFill>
                <a:latin typeface="Liter" pitchFamily="34" charset="0"/>
                <a:ea typeface="Liter" pitchFamily="34" charset="-122"/>
                <a:cs typeface="Liter" pitchFamily="34" charset="-120"/>
              </a:rPr>
              <a:t>Gantry + Arm</a:t>
            </a:r>
            <a:endParaRPr lang="en-US" sz="1600" dirty="0"/>
          </a:p>
        </p:txBody>
      </p:sp>
      <p:sp>
        <p:nvSpPr>
          <p:cNvPr id="21" name="Text 19"/>
          <p:cNvSpPr/>
          <p:nvPr/>
        </p:nvSpPr>
        <p:spPr>
          <a:xfrm>
            <a:off x="7810500" y="2794000"/>
            <a:ext cx="2921000" cy="2603500"/>
          </a:xfrm>
          <a:prstGeom prst="rect">
            <a:avLst/>
          </a:prstGeom>
          <a:noFill/>
          <a:ln/>
        </p:spPr>
        <p:txBody>
          <a:bodyPr wrap="square" lIns="0" tIns="0" rIns="0" bIns="0" rtlCol="0" anchor="t"/>
          <a:lstStyle/>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Fridge handling</a:t>
            </a:r>
            <a:endParaRPr lang="en-US" sz="1600" dirty="0"/>
          </a:p>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Centrifuge loading/unloading</a:t>
            </a:r>
            <a:endParaRPr lang="en-US" sz="1600" dirty="0"/>
          </a:p>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Analyzer loading</a:t>
            </a:r>
            <a:endParaRPr lang="en-US" sz="1600" dirty="0"/>
          </a:p>
          <a:p>
            <a:pPr>
              <a:lnSpc>
                <a:spcPct val="150000"/>
              </a:lnSpc>
              <a:spcBef>
                <a:spcPts val="600"/>
              </a:spcBef>
            </a:pPr>
            <a:r>
              <a:rPr lang="en-US" sz="1400" b="1" dirty="0">
                <a:solidFill>
                  <a:srgbClr val="D97706"/>
                </a:solidFill>
                <a:latin typeface="Quattrocento Sans" pitchFamily="34" charset="0"/>
                <a:ea typeface="Quattrocento Sans" pitchFamily="34" charset="-122"/>
                <a:cs typeface="Quattrocento Sans" pitchFamily="34" charset="-120"/>
              </a:rPr>
              <a:t>Assistive capability continues</a:t>
            </a:r>
            <a:endParaRPr lang="en-US" sz="1600" dirty="0"/>
          </a:p>
        </p:txBody>
      </p:sp>
      <p:sp>
        <p:nvSpPr>
          <p:cNvPr id="22" name="Shape 20"/>
          <p:cNvSpPr/>
          <p:nvPr/>
        </p:nvSpPr>
        <p:spPr>
          <a:xfrm>
            <a:off x="11049000" y="2286000"/>
            <a:ext cx="4445000" cy="3302000"/>
          </a:xfrm>
          <a:prstGeom prst="rect">
            <a:avLst/>
          </a:prstGeom>
          <a:solidFill>
            <a:srgbClr val="1E293B"/>
          </a:solidFill>
          <a:ln/>
        </p:spPr>
      </p:sp>
      <p:sp>
        <p:nvSpPr>
          <p:cNvPr id="23" name="Text 21"/>
          <p:cNvSpPr/>
          <p:nvPr/>
        </p:nvSpPr>
        <p:spPr>
          <a:xfrm>
            <a:off x="11239500" y="2413000"/>
            <a:ext cx="4064000" cy="317500"/>
          </a:xfrm>
          <a:prstGeom prst="rect">
            <a:avLst/>
          </a:prstGeom>
          <a:noFill/>
          <a:ln/>
        </p:spPr>
        <p:txBody>
          <a:bodyPr wrap="none" lIns="0" tIns="0" rIns="0" bIns="0" rtlCol="0" anchor="ctr"/>
          <a:lstStyle/>
          <a:p>
            <a:pPr>
              <a:lnSpc>
                <a:spcPct val="100000"/>
              </a:lnSpc>
            </a:pPr>
            <a:r>
              <a:rPr lang="en-US" sz="1600" dirty="0">
                <a:solidFill>
                  <a:srgbClr val="D97706"/>
                </a:solidFill>
                <a:latin typeface="Liter" pitchFamily="34" charset="0"/>
                <a:ea typeface="Liter" pitchFamily="34" charset="-122"/>
                <a:cs typeface="Liter" pitchFamily="34" charset="-120"/>
              </a:rPr>
              <a:t>Gantry + 2 Robotic Arms</a:t>
            </a:r>
            <a:endParaRPr lang="en-US" sz="1600" dirty="0"/>
          </a:p>
        </p:txBody>
      </p:sp>
      <p:sp>
        <p:nvSpPr>
          <p:cNvPr id="24" name="Text 22"/>
          <p:cNvSpPr/>
          <p:nvPr/>
        </p:nvSpPr>
        <p:spPr>
          <a:xfrm>
            <a:off x="11239500" y="2794000"/>
            <a:ext cx="4064000" cy="2603500"/>
          </a:xfrm>
          <a:prstGeom prst="rect">
            <a:avLst/>
          </a:prstGeom>
          <a:noFill/>
          <a:ln/>
        </p:spPr>
        <p:txBody>
          <a:bodyPr wrap="square" lIns="0" tIns="0" rIns="0" bIns="0" rtlCol="0" anchor="t"/>
          <a:lstStyle/>
          <a:p>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General-purpose robotic arms</a:t>
            </a:r>
            <a:endParaRPr lang="en-US" sz="1600" dirty="0"/>
          </a:p>
          <a:p>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Multi-lab workflows</a:t>
            </a:r>
            <a:endParaRPr lang="en-US" sz="1600" dirty="0"/>
          </a:p>
          <a:p>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Full adaptive automation</a:t>
            </a:r>
            <a:endParaRPr lang="en-US" sz="1600" dirty="0"/>
          </a:p>
          <a:p>
            <a:pPr>
              <a:lnSpc>
                <a:spcPct val="150000"/>
              </a:lnSpc>
              <a:spcBef>
                <a:spcPts val="800"/>
              </a:spcBef>
            </a:pPr>
            <a:r>
              <a:rPr lang="en-US" sz="1400" b="1" dirty="0">
                <a:solidFill>
                  <a:srgbClr val="D97706"/>
                </a:solidFill>
                <a:latin typeface="Quattrocento Sans" pitchFamily="34" charset="0"/>
                <a:ea typeface="Quattrocento Sans" pitchFamily="34" charset="-122"/>
                <a:cs typeface="Quattrocento Sans" pitchFamily="34" charset="-120"/>
              </a:rPr>
              <a:t>Each phase extends financial runway AND deployed robots feed data that makes the model better</a:t>
            </a:r>
            <a:endParaRPr lang="en-US" sz="1600" dirty="0"/>
          </a:p>
        </p:txBody>
      </p:sp>
      <p:sp>
        <p:nvSpPr>
          <p:cNvPr id="25" name="Shape 23"/>
          <p:cNvSpPr/>
          <p:nvPr/>
        </p:nvSpPr>
        <p:spPr>
          <a:xfrm>
            <a:off x="762000" y="5842000"/>
            <a:ext cx="14732000" cy="1016000"/>
          </a:xfrm>
          <a:prstGeom prst="rect">
            <a:avLst/>
          </a:prstGeom>
          <a:solidFill>
            <a:srgbClr val="FEF3C7"/>
          </a:solidFill>
          <a:ln w="12700">
            <a:solidFill>
              <a:srgbClr val="FCD34D"/>
            </a:solidFill>
            <a:prstDash val="solid"/>
          </a:ln>
        </p:spPr>
      </p:sp>
      <p:sp>
        <p:nvSpPr>
          <p:cNvPr id="26" name="Text 24"/>
          <p:cNvSpPr/>
          <p:nvPr/>
        </p:nvSpPr>
        <p:spPr>
          <a:xfrm>
            <a:off x="1016000" y="5943600"/>
            <a:ext cx="14224000" cy="825500"/>
          </a:xfrm>
          <a:prstGeom prst="rect">
            <a:avLst/>
          </a:prstGeom>
          <a:noFill/>
          <a:ln/>
        </p:spPr>
        <p:txBody>
          <a:bodyPr wrap="square" lIns="0" tIns="0" rIns="0" bIns="0" rtlCol="0" anchor="ctr"/>
          <a:lstStyle/>
          <a:p>
            <a:pPr>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Why this wedge works:</a:t>
            </a:r>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 Each phase doesn't just extend the financial runway - the deployed robots feed data that makes the VLA model better, which unlocks more possibilities and resources to tackle the next phase. The same controller and PID software enable both autonomous and assistive modes.</a:t>
            </a:r>
            <a:endParaRPr lang="en-US" sz="1600" dirty="0"/>
          </a:p>
        </p:txBody>
      </p:sp>
      <p:sp>
        <p:nvSpPr>
          <p:cNvPr id="27" name="Shape 25"/>
          <p:cNvSpPr/>
          <p:nvPr/>
        </p:nvSpPr>
        <p:spPr>
          <a:xfrm>
            <a:off x="762000" y="8636000"/>
            <a:ext cx="14732000" cy="25400"/>
          </a:xfrm>
          <a:prstGeom prst="rect">
            <a:avLst/>
          </a:prstGeom>
          <a:solidFill>
            <a:srgbClr val="D97706"/>
          </a:solidFill>
          <a:ln/>
        </p:spPr>
      </p:sp>
      <p:sp>
        <p:nvSpPr>
          <p:cNvPr id="28" name="Text 26"/>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08</a:t>
            </a:r>
            <a:endParaRPr lang="en-US" sz="13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Why Gantry First: Lower Safety Burden, Faster Deployment</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206500"/>
            <a:ext cx="3810000" cy="381000"/>
          </a:xfrm>
          <a:prstGeom prst="rect">
            <a:avLst/>
          </a:prstGeom>
          <a:noFill/>
          <a:ln/>
        </p:spPr>
        <p:txBody>
          <a:bodyPr wrap="none" lIns="0" tIns="0" rIns="0" bIns="0" rtlCol="0" anchor="ctr"/>
          <a:lstStyle/>
          <a:p>
            <a:pPr>
              <a:lnSpc>
                <a:spcPct val="100000"/>
              </a:lnSpc>
            </a:pPr>
            <a:r>
              <a:rPr lang="en-US" sz="2000" dirty="0">
                <a:solidFill>
                  <a:srgbClr val="DC2626"/>
                </a:solidFill>
                <a:latin typeface="Liter" pitchFamily="34" charset="0"/>
                <a:ea typeface="Liter" pitchFamily="34" charset="-122"/>
                <a:cs typeface="Liter" pitchFamily="34" charset="-120"/>
              </a:rPr>
              <a:t>ROBOTIC ARM</a:t>
            </a:r>
            <a:endParaRPr lang="en-US" sz="1600" dirty="0"/>
          </a:p>
        </p:txBody>
      </p:sp>
      <p:sp>
        <p:nvSpPr>
          <p:cNvPr id="5" name="Text 3"/>
          <p:cNvSpPr/>
          <p:nvPr/>
        </p:nvSpPr>
        <p:spPr>
          <a:xfrm>
            <a:off x="8382000" y="1206500"/>
            <a:ext cx="3810000" cy="381000"/>
          </a:xfrm>
          <a:prstGeom prst="rect">
            <a:avLst/>
          </a:prstGeom>
          <a:noFill/>
          <a:ln/>
        </p:spPr>
        <p:txBody>
          <a:bodyPr wrap="none" lIns="0" tIns="0" rIns="0" bIns="0" rtlCol="0" anchor="ctr"/>
          <a:lstStyle/>
          <a:p>
            <a:pPr>
              <a:lnSpc>
                <a:spcPct val="100000"/>
              </a:lnSpc>
            </a:pPr>
            <a:r>
              <a:rPr lang="en-US" sz="2000" dirty="0">
                <a:solidFill>
                  <a:srgbClr val="16A34A"/>
                </a:solidFill>
                <a:latin typeface="Liter" pitchFamily="34" charset="0"/>
                <a:ea typeface="Liter" pitchFamily="34" charset="-122"/>
                <a:cs typeface="Liter" pitchFamily="34" charset="-120"/>
              </a:rPr>
              <a:t>GANTRY ROBOT</a:t>
            </a:r>
            <a:endParaRPr lang="en-US" sz="1600" dirty="0"/>
          </a:p>
        </p:txBody>
      </p:sp>
      <p:sp>
        <p:nvSpPr>
          <p:cNvPr id="6" name="Shape 4"/>
          <p:cNvSpPr/>
          <p:nvPr/>
        </p:nvSpPr>
        <p:spPr>
          <a:xfrm>
            <a:off x="762000" y="1714500"/>
            <a:ext cx="7112000" cy="3937000"/>
          </a:xfrm>
          <a:prstGeom prst="rect">
            <a:avLst/>
          </a:prstGeom>
          <a:solidFill>
            <a:srgbClr val="F1F5F9"/>
          </a:solidFill>
          <a:ln w="12700">
            <a:solidFill>
              <a:srgbClr val="E2E8F0"/>
            </a:solidFill>
            <a:prstDash val="solid"/>
          </a:ln>
        </p:spPr>
      </p:sp>
      <p:sp>
        <p:nvSpPr>
          <p:cNvPr id="7" name="Text 5"/>
          <p:cNvSpPr/>
          <p:nvPr/>
        </p:nvSpPr>
        <p:spPr>
          <a:xfrm>
            <a:off x="1016000" y="1841500"/>
            <a:ext cx="2540000" cy="317500"/>
          </a:xfrm>
          <a:prstGeom prst="rect">
            <a:avLst/>
          </a:prstGeom>
          <a:noFill/>
          <a:ln/>
        </p:spPr>
        <p:txBody>
          <a:bodyPr wrap="none" lIns="0" tIns="0" rIns="0" bIns="0" rtlCol="0" anchor="ctr"/>
          <a:lstStyle/>
          <a:p>
            <a:pPr>
              <a:lnSpc>
                <a:spcPct val="100000"/>
              </a:lnSpc>
            </a:pPr>
            <a:r>
              <a:rPr lang="en-US" sz="1400" dirty="0">
                <a:solidFill>
                  <a:srgbClr val="475569"/>
                </a:solidFill>
                <a:latin typeface="Liter" pitchFamily="34" charset="0"/>
                <a:ea typeface="Liter" pitchFamily="34" charset="-122"/>
                <a:cs typeface="Liter" pitchFamily="34" charset="-120"/>
              </a:rPr>
              <a:t>PROS</a:t>
            </a:r>
            <a:endParaRPr lang="en-US" sz="1600" dirty="0"/>
          </a:p>
        </p:txBody>
      </p:sp>
      <p:sp>
        <p:nvSpPr>
          <p:cNvPr id="8" name="Text 6"/>
          <p:cNvSpPr/>
          <p:nvPr/>
        </p:nvSpPr>
        <p:spPr>
          <a:xfrm>
            <a:off x="1016000" y="2184400"/>
            <a:ext cx="6604000" cy="762000"/>
          </a:xfrm>
          <a:prstGeom prst="rect">
            <a:avLst/>
          </a:prstGeom>
          <a:noFill/>
          <a:ln/>
        </p:spPr>
        <p:txBody>
          <a:bodyPr wrap="square" lIns="0" tIns="0" rIns="0" bIns="0" rtlCol="0" anchor="t"/>
          <a:lstStyle/>
          <a:p>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Flexible - can reach many places</a:t>
            </a:r>
            <a:endParaRPr lang="en-US" sz="1600" dirty="0"/>
          </a:p>
          <a:p>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Can handle complex multi-axis movements</a:t>
            </a:r>
            <a:endParaRPr lang="en-US" sz="1600" dirty="0"/>
          </a:p>
        </p:txBody>
      </p:sp>
      <p:sp>
        <p:nvSpPr>
          <p:cNvPr id="9" name="Text 7"/>
          <p:cNvSpPr/>
          <p:nvPr/>
        </p:nvSpPr>
        <p:spPr>
          <a:xfrm>
            <a:off x="1016000" y="3048000"/>
            <a:ext cx="2540000" cy="317500"/>
          </a:xfrm>
          <a:prstGeom prst="rect">
            <a:avLst/>
          </a:prstGeom>
          <a:noFill/>
          <a:ln/>
        </p:spPr>
        <p:txBody>
          <a:bodyPr wrap="none" lIns="0" tIns="0" rIns="0" bIns="0" rtlCol="0" anchor="ctr"/>
          <a:lstStyle/>
          <a:p>
            <a:pPr>
              <a:lnSpc>
                <a:spcPct val="100000"/>
              </a:lnSpc>
            </a:pPr>
            <a:r>
              <a:rPr lang="en-US" sz="1400" dirty="0">
                <a:solidFill>
                  <a:srgbClr val="DC2626"/>
                </a:solidFill>
                <a:latin typeface="Liter" pitchFamily="34" charset="0"/>
                <a:ea typeface="Liter" pitchFamily="34" charset="-122"/>
                <a:cs typeface="Liter" pitchFamily="34" charset="-120"/>
              </a:rPr>
              <a:t>CONS</a:t>
            </a:r>
            <a:endParaRPr lang="en-US" sz="1600" dirty="0"/>
          </a:p>
        </p:txBody>
      </p:sp>
      <p:sp>
        <p:nvSpPr>
          <p:cNvPr id="10" name="Text 8"/>
          <p:cNvSpPr/>
          <p:nvPr/>
        </p:nvSpPr>
        <p:spPr>
          <a:xfrm>
            <a:off x="1016000" y="3403600"/>
            <a:ext cx="6604000" cy="2032000"/>
          </a:xfrm>
          <a:prstGeom prst="rect">
            <a:avLst/>
          </a:prstGeom>
          <a:noFill/>
          <a:ln/>
        </p:spPr>
        <p:txBody>
          <a:bodyPr wrap="square" lIns="0" tIns="0" rIns="0" bIns="0" rtlCol="0" anchor="t"/>
          <a:lstStyle/>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Expensive - high capital cost</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Complex - more points of failure</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Safety concerns - moving arm in lab space</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Harder to integrate with existing benches</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More maintenance required</a:t>
            </a:r>
            <a:endParaRPr lang="en-US" sz="1600" dirty="0"/>
          </a:p>
        </p:txBody>
      </p:sp>
      <p:sp>
        <p:nvSpPr>
          <p:cNvPr id="11" name="Shape 9"/>
          <p:cNvSpPr/>
          <p:nvPr/>
        </p:nvSpPr>
        <p:spPr>
          <a:xfrm>
            <a:off x="8382000" y="1714500"/>
            <a:ext cx="7112000" cy="3937000"/>
          </a:xfrm>
          <a:prstGeom prst="rect">
            <a:avLst/>
          </a:prstGeom>
          <a:solidFill>
            <a:srgbClr val="ECFDF5"/>
          </a:solidFill>
          <a:ln w="12700">
            <a:solidFill>
              <a:srgbClr val="A7F3D0"/>
            </a:solidFill>
            <a:prstDash val="solid"/>
          </a:ln>
        </p:spPr>
      </p:sp>
      <p:sp>
        <p:nvSpPr>
          <p:cNvPr id="12" name="Text 10"/>
          <p:cNvSpPr/>
          <p:nvPr/>
        </p:nvSpPr>
        <p:spPr>
          <a:xfrm>
            <a:off x="8636000" y="1841500"/>
            <a:ext cx="2540000" cy="317500"/>
          </a:xfrm>
          <a:prstGeom prst="rect">
            <a:avLst/>
          </a:prstGeom>
          <a:noFill/>
          <a:ln/>
        </p:spPr>
        <p:txBody>
          <a:bodyPr wrap="none" lIns="0" tIns="0" rIns="0" bIns="0" rtlCol="0" anchor="ctr"/>
          <a:lstStyle/>
          <a:p>
            <a:pPr>
              <a:lnSpc>
                <a:spcPct val="100000"/>
              </a:lnSpc>
            </a:pPr>
            <a:r>
              <a:rPr lang="en-US" sz="1400" dirty="0">
                <a:solidFill>
                  <a:srgbClr val="475569"/>
                </a:solidFill>
                <a:latin typeface="Liter" pitchFamily="34" charset="0"/>
                <a:ea typeface="Liter" pitchFamily="34" charset="-122"/>
                <a:cs typeface="Liter" pitchFamily="34" charset="-120"/>
              </a:rPr>
              <a:t>PROS</a:t>
            </a:r>
            <a:endParaRPr lang="en-US" sz="1600" dirty="0"/>
          </a:p>
        </p:txBody>
      </p:sp>
      <p:sp>
        <p:nvSpPr>
          <p:cNvPr id="13" name="Text 11"/>
          <p:cNvSpPr/>
          <p:nvPr/>
        </p:nvSpPr>
        <p:spPr>
          <a:xfrm>
            <a:off x="8636000" y="2184400"/>
            <a:ext cx="6604000" cy="2032000"/>
          </a:xfrm>
          <a:prstGeom prst="rect">
            <a:avLst/>
          </a:prstGeom>
          <a:noFill/>
          <a:ln/>
        </p:spPr>
        <p:txBody>
          <a:bodyPr wrap="square" lIns="0" tIns="0" rIns="0" bIns="0" rtlCol="0" anchor="t"/>
          <a:lstStyle/>
          <a:p>
            <a:pPr>
              <a:lnSpc>
                <a:spcPct val="16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Simpler - fewer moving parts</a:t>
            </a:r>
            <a:endParaRPr lang="en-US" sz="1600" dirty="0"/>
          </a:p>
          <a:p>
            <a:pPr>
              <a:lnSpc>
                <a:spcPct val="16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Cheaper - lower BOM cost</a:t>
            </a:r>
            <a:endParaRPr lang="en-US" sz="1600" dirty="0"/>
          </a:p>
          <a:p>
            <a:pPr>
              <a:lnSpc>
                <a:spcPct val="16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Safer - fixed overhead structure</a:t>
            </a:r>
            <a:endParaRPr lang="en-US" sz="1600" dirty="0"/>
          </a:p>
          <a:p>
            <a:pPr>
              <a:lnSpc>
                <a:spcPct val="16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Easier to install and maintain</a:t>
            </a:r>
            <a:endParaRPr lang="en-US" sz="1600" dirty="0"/>
          </a:p>
          <a:p>
            <a:pPr>
              <a:lnSpc>
                <a:spcPct val="16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More precise for moving tubes</a:t>
            </a:r>
            <a:endParaRPr lang="en-US" sz="1600" dirty="0"/>
          </a:p>
        </p:txBody>
      </p:sp>
      <p:sp>
        <p:nvSpPr>
          <p:cNvPr id="14" name="Text 12"/>
          <p:cNvSpPr/>
          <p:nvPr/>
        </p:nvSpPr>
        <p:spPr>
          <a:xfrm>
            <a:off x="8636000" y="4318000"/>
            <a:ext cx="2540000" cy="317500"/>
          </a:xfrm>
          <a:prstGeom prst="rect">
            <a:avLst/>
          </a:prstGeom>
          <a:noFill/>
          <a:ln/>
        </p:spPr>
        <p:txBody>
          <a:bodyPr wrap="none" lIns="0" tIns="0" rIns="0" bIns="0" rtlCol="0" anchor="ctr"/>
          <a:lstStyle/>
          <a:p>
            <a:pPr>
              <a:lnSpc>
                <a:spcPct val="100000"/>
              </a:lnSpc>
            </a:pPr>
            <a:r>
              <a:rPr lang="en-US" sz="1400" dirty="0">
                <a:solidFill>
                  <a:srgbClr val="DC2626"/>
                </a:solidFill>
                <a:latin typeface="Liter" pitchFamily="34" charset="0"/>
                <a:ea typeface="Liter" pitchFamily="34" charset="-122"/>
                <a:cs typeface="Liter" pitchFamily="34" charset="-120"/>
              </a:rPr>
              <a:t>CONS</a:t>
            </a:r>
            <a:endParaRPr lang="en-US" sz="1600" dirty="0"/>
          </a:p>
        </p:txBody>
      </p:sp>
      <p:sp>
        <p:nvSpPr>
          <p:cNvPr id="15" name="Text 13"/>
          <p:cNvSpPr/>
          <p:nvPr/>
        </p:nvSpPr>
        <p:spPr>
          <a:xfrm>
            <a:off x="8636000" y="4673600"/>
            <a:ext cx="6604000" cy="762000"/>
          </a:xfrm>
          <a:prstGeom prst="rect">
            <a:avLst/>
          </a:prstGeom>
          <a:noFill/>
          <a:ln/>
        </p:spPr>
        <p:txBody>
          <a:bodyPr wrap="square" lIns="0" tIns="0" rIns="0" bIns="0" rtlCol="0" anchor="t"/>
          <a:lstStyle/>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Less flexible - confined to rail path</a:t>
            </a:r>
            <a:endParaRPr lang="en-US" sz="1600" dirty="0"/>
          </a:p>
        </p:txBody>
      </p:sp>
      <p:sp>
        <p:nvSpPr>
          <p:cNvPr id="16" name="Shape 14"/>
          <p:cNvSpPr/>
          <p:nvPr/>
        </p:nvSpPr>
        <p:spPr>
          <a:xfrm>
            <a:off x="762000" y="5969000"/>
            <a:ext cx="14732000" cy="1016000"/>
          </a:xfrm>
          <a:prstGeom prst="rect">
            <a:avLst/>
          </a:prstGeom>
          <a:solidFill>
            <a:srgbClr val="1E293B"/>
          </a:solidFill>
          <a:ln/>
        </p:spPr>
      </p:sp>
      <p:sp>
        <p:nvSpPr>
          <p:cNvPr id="17" name="Text 15"/>
          <p:cNvSpPr/>
          <p:nvPr/>
        </p:nvSpPr>
        <p:spPr>
          <a:xfrm>
            <a:off x="1016000" y="6070600"/>
            <a:ext cx="14224000" cy="825500"/>
          </a:xfrm>
          <a:prstGeom prst="rect">
            <a:avLst/>
          </a:prstGeom>
          <a:noFill/>
          <a:ln/>
        </p:spPr>
        <p:txBody>
          <a:bodyPr wrap="square" lIns="0" tIns="0" rIns="0" bIns="0" rtlCol="0" anchor="ctr"/>
          <a:lstStyle/>
          <a:p>
            <a:pPr>
              <a:lnSpc>
                <a:spcPct val="150000"/>
              </a:lnSpc>
            </a:pPr>
            <a:r>
              <a:rPr lang="en-US" sz="1800" b="1" dirty="0">
                <a:solidFill>
                  <a:srgbClr val="D97706"/>
                </a:solidFill>
                <a:latin typeface="Quattrocento Sans" pitchFamily="34" charset="0"/>
                <a:ea typeface="Quattrocento Sans" pitchFamily="34" charset="-122"/>
                <a:cs typeface="Quattrocento Sans" pitchFamily="34" charset="-120"/>
              </a:rPr>
              <a:t>80% of the lab automation problem is simply: "Move this tube from Point A to Point B."</a:t>
            </a:r>
            <a:pPr>
              <a:lnSpc>
                <a:spcPct val="150000"/>
              </a:lnSpc>
            </a:pPr>
            <a:r>
              <a:rPr lang="en-US" sz="1800" dirty="0">
                <a:solidFill>
                  <a:srgbClr val="F1F5F9"/>
                </a:solidFill>
                <a:latin typeface="Quattrocento Sans" pitchFamily="34" charset="0"/>
                <a:ea typeface="Quattrocento Sans" pitchFamily="34" charset="-122"/>
                <a:cs typeface="Quattrocento Sans" pitchFamily="34" charset="-120"/>
              </a:rPr>
              <a:t> A gantry does this very well. Instead of building a humanoid robot on day one, we start with a gantry system and add intelligence through the VLA.</a:t>
            </a:r>
            <a:endParaRPr lang="en-US" sz="1600" dirty="0"/>
          </a:p>
        </p:txBody>
      </p:sp>
      <p:pic>
        <p:nvPicPr>
          <p:cNvPr id="18" name="Image 0" descr="https://kimi-img.moonshot.cn/pub/slides/okc/twrgmxeyd52h4/mnt/agents/output/business_model/images/2_Mini_H_Gantry_Desktop_Handling_Syste.png">    </p:cNvPr>
          <p:cNvPicPr>
            <a:picLocks noChangeAspect="1"/>
          </p:cNvPicPr>
          <p:nvPr/>
        </p:nvPicPr>
        <p:blipFill>
          <a:blip r:embed="rId1"/>
          <a:srcRect l="0" r="0" t="28746" b="28746"/>
          <a:stretch/>
        </p:blipFill>
        <p:spPr>
          <a:xfrm>
            <a:off x="762000" y="7175500"/>
            <a:ext cx="3810000" cy="1270000"/>
          </a:xfrm>
          <a:prstGeom prst="rect">
            <a:avLst/>
          </a:prstGeom>
        </p:spPr>
      </p:pic>
      <p:sp>
        <p:nvSpPr>
          <p:cNvPr id="19" name="Text 16"/>
          <p:cNvSpPr/>
          <p:nvPr/>
        </p:nvSpPr>
        <p:spPr>
          <a:xfrm>
            <a:off x="4826000" y="7493000"/>
            <a:ext cx="10668000" cy="635000"/>
          </a:xfrm>
          <a:prstGeom prst="rect">
            <a:avLst/>
          </a:prstGeom>
          <a:noFill/>
          <a:ln/>
        </p:spPr>
        <p:txBody>
          <a:bodyPr wrap="square" lIns="0" tIns="0" rIns="0" bIns="0" rtlCol="0" anchor="ctr"/>
          <a:lstStyle/>
          <a:p>
            <a:pPr>
              <a:lnSpc>
                <a:spcPct val="140000"/>
              </a:lnSpc>
            </a:pPr>
            <a:r>
              <a:rPr lang="en-US" sz="1400" dirty="0">
                <a:solidFill>
                  <a:srgbClr val="475569"/>
                </a:solidFill>
                <a:latin typeface="Quattrocento Sans" pitchFamily="34" charset="0"/>
                <a:ea typeface="Quattrocento Sans" pitchFamily="34" charset="-122"/>
                <a:cs typeface="Quattrocento Sans" pitchFamily="34" charset="-120"/>
              </a:rPr>
              <a:t>Fixed gantries fit constrained spaces and impose lower safety burden than mobile arms. They are the optimal wedge for Indian diagnostic labs with limited floor space and high sample volumes.</a:t>
            </a:r>
            <a:endParaRPr lang="en-US" sz="1600" dirty="0"/>
          </a:p>
        </p:txBody>
      </p:sp>
      <p:sp>
        <p:nvSpPr>
          <p:cNvPr id="20" name="Shape 17"/>
          <p:cNvSpPr/>
          <p:nvPr/>
        </p:nvSpPr>
        <p:spPr>
          <a:xfrm>
            <a:off x="762000" y="8636000"/>
            <a:ext cx="14732000" cy="25400"/>
          </a:xfrm>
          <a:prstGeom prst="rect">
            <a:avLst/>
          </a:prstGeom>
          <a:solidFill>
            <a:srgbClr val="D97706"/>
          </a:solidFill>
          <a:ln/>
        </p:spPr>
      </p:sp>
      <p:sp>
        <p:nvSpPr>
          <p:cNvPr id="21" name="Text 18"/>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09</a:t>
            </a:r>
            <a:endParaRPr lang="en-US" sz="13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ttps://kimi-img.moonshot.cn/pub/slides/okc/twrgmxeyd52h4/mnt/agents/output/business_model/images/4_Lab_Equipment_for_Startups_in_India.png">    </p:cNvPr>
          <p:cNvPicPr>
            <a:picLocks noChangeAspect="1"/>
          </p:cNvPicPr>
          <p:nvPr/>
        </p:nvPicPr>
        <p:blipFill>
          <a:blip r:embed="rId1"/>
          <a:srcRect l="0" r="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172A">
                  <a:alpha val="94000"/>
                </a:srgbClr>
              </a:gs>
              <a:gs pos="60000">
                <a:srgbClr val="0F172A">
                  <a:alpha val="88000"/>
                </a:srgbClr>
              </a:gs>
              <a:gs pos="100000">
                <a:srgbClr val="0F172A">
                  <a:alpha val="56000"/>
                </a:srgbClr>
              </a:gs>
            </a:gsLst>
            <a:lin ang="0" scaled="1"/>
          </a:gradFill>
          <a:ln w="12700">
            <a:solidFill>
              <a:srgbClr val="333333"/>
            </a:solidFill>
            <a:prstDash val="solid"/>
          </a:ln>
        </p:spPr>
      </p:sp>
      <p:sp>
        <p:nvSpPr>
          <p:cNvPr id="4" name="Text 1"/>
          <p:cNvSpPr/>
          <p:nvPr/>
        </p:nvSpPr>
        <p:spPr>
          <a:xfrm>
            <a:off x="762000" y="2286000"/>
            <a:ext cx="3810000" cy="1524000"/>
          </a:xfrm>
          <a:prstGeom prst="rect">
            <a:avLst/>
          </a:prstGeom>
          <a:noFill/>
          <a:ln/>
        </p:spPr>
        <p:txBody>
          <a:bodyPr wrap="none" lIns="0" tIns="0" rIns="0" bIns="0" rtlCol="0" anchor="ctr"/>
          <a:lstStyle/>
          <a:p>
            <a:pPr>
              <a:lnSpc>
                <a:spcPct val="100000"/>
              </a:lnSpc>
            </a:pPr>
            <a:r>
              <a:rPr lang="en-US" sz="9600" dirty="0">
                <a:solidFill>
                  <a:srgbClr val="D97706"/>
                </a:solidFill>
                <a:latin typeface="Liter" pitchFamily="34" charset="0"/>
                <a:ea typeface="Liter" pitchFamily="34" charset="-122"/>
                <a:cs typeface="Liter" pitchFamily="34" charset="-120"/>
              </a:rPr>
              <a:t>03</a:t>
            </a:r>
            <a:endParaRPr lang="en-US" sz="1600" dirty="0"/>
          </a:p>
        </p:txBody>
      </p:sp>
      <p:sp>
        <p:nvSpPr>
          <p:cNvPr id="5" name="Text 2"/>
          <p:cNvSpPr/>
          <p:nvPr/>
        </p:nvSpPr>
        <p:spPr>
          <a:xfrm>
            <a:off x="762000" y="3937000"/>
            <a:ext cx="8890000" cy="698500"/>
          </a:xfrm>
          <a:prstGeom prst="rect">
            <a:avLst/>
          </a:prstGeom>
          <a:noFill/>
          <a:ln/>
        </p:spPr>
        <p:txBody>
          <a:bodyPr wrap="none" lIns="0" tIns="0" rIns="0" bIns="0" rtlCol="0" anchor="ctr"/>
          <a:lstStyle/>
          <a:p>
            <a:pPr>
              <a:lnSpc>
                <a:spcPct val="100000"/>
              </a:lnSpc>
            </a:pPr>
            <a:r>
              <a:rPr lang="en-US" sz="3800" spc="100" kern="0" dirty="0">
                <a:solidFill>
                  <a:srgbClr val="F1F5F9"/>
                </a:solidFill>
                <a:latin typeface="Liter" pitchFamily="34" charset="0"/>
                <a:ea typeface="Liter" pitchFamily="34" charset="-122"/>
                <a:cs typeface="Liter" pitchFamily="34" charset="-120"/>
              </a:rPr>
              <a:t>MARKET VALIDATION</a:t>
            </a:r>
            <a:endParaRPr lang="en-US" sz="1600" dirty="0"/>
          </a:p>
        </p:txBody>
      </p:sp>
      <p:sp>
        <p:nvSpPr>
          <p:cNvPr id="6" name="Shape 3"/>
          <p:cNvSpPr/>
          <p:nvPr/>
        </p:nvSpPr>
        <p:spPr>
          <a:xfrm>
            <a:off x="762000" y="4826000"/>
            <a:ext cx="1524000" cy="50800"/>
          </a:xfrm>
          <a:prstGeom prst="rect">
            <a:avLst/>
          </a:prstGeom>
          <a:solidFill>
            <a:srgbClr val="D97706"/>
          </a:solidFill>
          <a:ln/>
        </p:spPr>
      </p:sp>
      <p:sp>
        <p:nvSpPr>
          <p:cNvPr id="7" name="Text 4"/>
          <p:cNvSpPr/>
          <p:nvPr/>
        </p:nvSpPr>
        <p:spPr>
          <a:xfrm>
            <a:off x="762000" y="5080000"/>
            <a:ext cx="8890000" cy="444500"/>
          </a:xfrm>
          <a:prstGeom prst="rect">
            <a:avLst/>
          </a:prstGeom>
          <a:noFill/>
          <a:ln/>
        </p:spPr>
        <p:txBody>
          <a:bodyPr wrap="square" lIns="0" tIns="0" rIns="0" bIns="0" rtlCol="0" anchor="ctr"/>
          <a:lstStyle/>
          <a:p>
            <a:pPr>
              <a:lnSpc>
                <a:spcPct val="100000"/>
              </a:lnSpc>
            </a:pPr>
            <a:r>
              <a:rPr lang="en-US" sz="1800" dirty="0">
                <a:solidFill>
                  <a:srgbClr val="94A3B8"/>
                </a:solidFill>
                <a:latin typeface="Quattrocento Sans" pitchFamily="34" charset="0"/>
                <a:ea typeface="Quattrocento Sans" pitchFamily="34" charset="-122"/>
                <a:cs typeface="Quattrocento Sans" pitchFamily="34" charset="-120"/>
              </a:rPr>
              <a:t>Market signal, buyer behavior, and competitive dynamics in Indian diagnostics</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Indian Diagnostics Market: National Scale, Real Growth, Proven Demand</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3429000" cy="1524000"/>
          </a:xfrm>
          <a:prstGeom prst="rect">
            <a:avLst/>
          </a:prstGeom>
          <a:solidFill>
            <a:srgbClr val="1E293B"/>
          </a:solidFill>
          <a:ln/>
        </p:spPr>
      </p:sp>
      <p:sp>
        <p:nvSpPr>
          <p:cNvPr id="5" name="Text 3"/>
          <p:cNvSpPr/>
          <p:nvPr/>
        </p:nvSpPr>
        <p:spPr>
          <a:xfrm>
            <a:off x="889000" y="1333500"/>
            <a:ext cx="3175000" cy="698500"/>
          </a:xfrm>
          <a:prstGeom prst="rect">
            <a:avLst/>
          </a:prstGeom>
          <a:noFill/>
          <a:ln/>
        </p:spPr>
        <p:txBody>
          <a:bodyPr wrap="none" lIns="0" tIns="0" rIns="0" bIns="0" rtlCol="0" anchor="ctr"/>
          <a:lstStyle/>
          <a:p>
            <a:pPr>
              <a:lnSpc>
                <a:spcPct val="100000"/>
              </a:lnSpc>
            </a:pPr>
            <a:r>
              <a:rPr lang="en-US" sz="4400" dirty="0">
                <a:solidFill>
                  <a:srgbClr val="D97706"/>
                </a:solidFill>
                <a:latin typeface="Liter" pitchFamily="34" charset="0"/>
                <a:ea typeface="Liter" pitchFamily="34" charset="-122"/>
                <a:cs typeface="Liter" pitchFamily="34" charset="-120"/>
              </a:rPr>
              <a:t>85.6M</a:t>
            </a:r>
            <a:endParaRPr lang="en-US" sz="1600" dirty="0"/>
          </a:p>
        </p:txBody>
      </p:sp>
      <p:sp>
        <p:nvSpPr>
          <p:cNvPr id="6" name="Text 4"/>
          <p:cNvSpPr/>
          <p:nvPr/>
        </p:nvSpPr>
        <p:spPr>
          <a:xfrm>
            <a:off x="889000" y="2095500"/>
            <a:ext cx="3175000" cy="571500"/>
          </a:xfrm>
          <a:prstGeom prst="rect">
            <a:avLst/>
          </a:prstGeom>
          <a:noFill/>
          <a:ln/>
        </p:spPr>
        <p:txBody>
          <a:bodyPr wrap="square" lIns="0" tIns="0" rIns="0" bIns="0" rtlCol="0" anchor="t"/>
          <a:lstStyle/>
          <a:p>
            <a:pPr>
              <a:lnSpc>
                <a:spcPct val="130000"/>
              </a:lnSpc>
            </a:pPr>
            <a:r>
              <a:rPr lang="en-US" sz="1300" dirty="0">
                <a:solidFill>
                  <a:srgbClr val="F1F5F9"/>
                </a:solidFill>
                <a:latin typeface="Quattrocento Sans" pitchFamily="34" charset="0"/>
                <a:ea typeface="Quattrocento Sans" pitchFamily="34" charset="-122"/>
                <a:cs typeface="Quattrocento Sans" pitchFamily="34" charset="-120"/>
              </a:rPr>
              <a:t>Samples collected by Dr Lal PathLabs annually</a:t>
            </a:r>
            <a:endParaRPr lang="en-US" sz="1600" dirty="0"/>
          </a:p>
        </p:txBody>
      </p:sp>
      <p:sp>
        <p:nvSpPr>
          <p:cNvPr id="7" name="Shape 5"/>
          <p:cNvSpPr/>
          <p:nvPr/>
        </p:nvSpPr>
        <p:spPr>
          <a:xfrm>
            <a:off x="4445000" y="1270000"/>
            <a:ext cx="3429000" cy="1524000"/>
          </a:xfrm>
          <a:prstGeom prst="rect">
            <a:avLst/>
          </a:prstGeom>
          <a:solidFill>
            <a:srgbClr val="1E293B"/>
          </a:solidFill>
          <a:ln/>
        </p:spPr>
      </p:sp>
      <p:sp>
        <p:nvSpPr>
          <p:cNvPr id="8" name="Text 6"/>
          <p:cNvSpPr/>
          <p:nvPr/>
        </p:nvSpPr>
        <p:spPr>
          <a:xfrm>
            <a:off x="4572000" y="1333500"/>
            <a:ext cx="3175000" cy="698500"/>
          </a:xfrm>
          <a:prstGeom prst="rect">
            <a:avLst/>
          </a:prstGeom>
          <a:noFill/>
          <a:ln/>
        </p:spPr>
        <p:txBody>
          <a:bodyPr wrap="none" lIns="0" tIns="0" rIns="0" bIns="0" rtlCol="0" anchor="ctr"/>
          <a:lstStyle/>
          <a:p>
            <a:pPr>
              <a:lnSpc>
                <a:spcPct val="100000"/>
              </a:lnSpc>
            </a:pPr>
            <a:r>
              <a:rPr lang="en-US" sz="4400" dirty="0">
                <a:solidFill>
                  <a:srgbClr val="D97706"/>
                </a:solidFill>
                <a:latin typeface="Liter" pitchFamily="34" charset="0"/>
                <a:ea typeface="Liter" pitchFamily="34" charset="-122"/>
                <a:cs typeface="Liter" pitchFamily="34" charset="-120"/>
              </a:rPr>
              <a:t>290+</a:t>
            </a:r>
            <a:endParaRPr lang="en-US" sz="1600" dirty="0"/>
          </a:p>
        </p:txBody>
      </p:sp>
      <p:sp>
        <p:nvSpPr>
          <p:cNvPr id="9" name="Text 7"/>
          <p:cNvSpPr/>
          <p:nvPr/>
        </p:nvSpPr>
        <p:spPr>
          <a:xfrm>
            <a:off x="4572000" y="2095500"/>
            <a:ext cx="3175000" cy="571500"/>
          </a:xfrm>
          <a:prstGeom prst="rect">
            <a:avLst/>
          </a:prstGeom>
          <a:noFill/>
          <a:ln/>
        </p:spPr>
        <p:txBody>
          <a:bodyPr wrap="square" lIns="0" tIns="0" rIns="0" bIns="0" rtlCol="0" anchor="t"/>
          <a:lstStyle/>
          <a:p>
            <a:pPr>
              <a:lnSpc>
                <a:spcPct val="130000"/>
              </a:lnSpc>
            </a:pPr>
            <a:r>
              <a:rPr lang="en-US" sz="1300" dirty="0">
                <a:solidFill>
                  <a:srgbClr val="F1F5F9"/>
                </a:solidFill>
                <a:latin typeface="Quattrocento Sans" pitchFamily="34" charset="0"/>
                <a:ea typeface="Quattrocento Sans" pitchFamily="34" charset="-122"/>
                <a:cs typeface="Quattrocento Sans" pitchFamily="34" charset="-120"/>
              </a:rPr>
              <a:t>Labs operated by Dr Lal PathLabs + 6,600+ patient service centres</a:t>
            </a:r>
            <a:endParaRPr lang="en-US" sz="1600" dirty="0"/>
          </a:p>
        </p:txBody>
      </p:sp>
      <p:sp>
        <p:nvSpPr>
          <p:cNvPr id="10" name="Shape 8"/>
          <p:cNvSpPr/>
          <p:nvPr/>
        </p:nvSpPr>
        <p:spPr>
          <a:xfrm>
            <a:off x="8128000" y="1270000"/>
            <a:ext cx="3429000" cy="1524000"/>
          </a:xfrm>
          <a:prstGeom prst="rect">
            <a:avLst/>
          </a:prstGeom>
          <a:solidFill>
            <a:srgbClr val="1E293B"/>
          </a:solidFill>
          <a:ln/>
        </p:spPr>
      </p:sp>
      <p:sp>
        <p:nvSpPr>
          <p:cNvPr id="11" name="Text 9"/>
          <p:cNvSpPr/>
          <p:nvPr/>
        </p:nvSpPr>
        <p:spPr>
          <a:xfrm>
            <a:off x="8255000" y="1333500"/>
            <a:ext cx="3175000" cy="698500"/>
          </a:xfrm>
          <a:prstGeom prst="rect">
            <a:avLst/>
          </a:prstGeom>
          <a:noFill/>
          <a:ln/>
        </p:spPr>
        <p:txBody>
          <a:bodyPr wrap="none" lIns="0" tIns="0" rIns="0" bIns="0" rtlCol="0" anchor="ctr"/>
          <a:lstStyle/>
          <a:p>
            <a:pPr>
              <a:lnSpc>
                <a:spcPct val="100000"/>
              </a:lnSpc>
            </a:pPr>
            <a:r>
              <a:rPr lang="en-US" sz="4400" dirty="0">
                <a:solidFill>
                  <a:srgbClr val="D97706"/>
                </a:solidFill>
                <a:latin typeface="Liter" pitchFamily="34" charset="0"/>
                <a:ea typeface="Liter" pitchFamily="34" charset="-122"/>
                <a:cs typeface="Liter" pitchFamily="34" charset="-120"/>
              </a:rPr>
              <a:t>8.5-10%</a:t>
            </a:r>
            <a:endParaRPr lang="en-US" sz="1600" dirty="0"/>
          </a:p>
        </p:txBody>
      </p:sp>
      <p:sp>
        <p:nvSpPr>
          <p:cNvPr id="12" name="Text 10"/>
          <p:cNvSpPr/>
          <p:nvPr/>
        </p:nvSpPr>
        <p:spPr>
          <a:xfrm>
            <a:off x="8255000" y="2095500"/>
            <a:ext cx="3175000" cy="571500"/>
          </a:xfrm>
          <a:prstGeom prst="rect">
            <a:avLst/>
          </a:prstGeom>
          <a:noFill/>
          <a:ln/>
        </p:spPr>
        <p:txBody>
          <a:bodyPr wrap="square" lIns="0" tIns="0" rIns="0" bIns="0" rtlCol="0" anchor="t"/>
          <a:lstStyle/>
          <a:p>
            <a:pPr>
              <a:lnSpc>
                <a:spcPct val="130000"/>
              </a:lnSpc>
            </a:pPr>
            <a:r>
              <a:rPr lang="en-US" sz="1300" dirty="0">
                <a:solidFill>
                  <a:srgbClr val="F1F5F9"/>
                </a:solidFill>
                <a:latin typeface="Quattrocento Sans" pitchFamily="34" charset="0"/>
                <a:ea typeface="Quattrocento Sans" pitchFamily="34" charset="-122"/>
                <a:cs typeface="Quattrocento Sans" pitchFamily="34" charset="-120"/>
              </a:rPr>
              <a:t>Sample-volume growth across recent periods (Reuters)</a:t>
            </a:r>
            <a:endParaRPr lang="en-US" sz="1600" dirty="0"/>
          </a:p>
        </p:txBody>
      </p:sp>
      <p:sp>
        <p:nvSpPr>
          <p:cNvPr id="13" name="Shape 11"/>
          <p:cNvSpPr/>
          <p:nvPr/>
        </p:nvSpPr>
        <p:spPr>
          <a:xfrm>
            <a:off x="11811000" y="1270000"/>
            <a:ext cx="3683000" cy="1524000"/>
          </a:xfrm>
          <a:prstGeom prst="rect">
            <a:avLst/>
          </a:prstGeom>
          <a:solidFill>
            <a:srgbClr val="1E293B"/>
          </a:solidFill>
          <a:ln/>
        </p:spPr>
      </p:sp>
      <p:sp>
        <p:nvSpPr>
          <p:cNvPr id="14" name="Text 12"/>
          <p:cNvSpPr/>
          <p:nvPr/>
        </p:nvSpPr>
        <p:spPr>
          <a:xfrm>
            <a:off x="11938000" y="1333500"/>
            <a:ext cx="3429000" cy="698500"/>
          </a:xfrm>
          <a:prstGeom prst="rect">
            <a:avLst/>
          </a:prstGeom>
          <a:noFill/>
          <a:ln/>
        </p:spPr>
        <p:txBody>
          <a:bodyPr wrap="none" lIns="0" tIns="0" rIns="0" bIns="0" rtlCol="0" anchor="ctr"/>
          <a:lstStyle/>
          <a:p>
            <a:pPr>
              <a:lnSpc>
                <a:spcPct val="100000"/>
              </a:lnSpc>
            </a:pPr>
            <a:r>
              <a:rPr lang="en-US" sz="4400" dirty="0">
                <a:solidFill>
                  <a:srgbClr val="D97706"/>
                </a:solidFill>
                <a:latin typeface="Liter" pitchFamily="34" charset="0"/>
                <a:ea typeface="Liter" pitchFamily="34" charset="-122"/>
                <a:cs typeface="Liter" pitchFamily="34" charset="-120"/>
              </a:rPr>
              <a:t>12,000+</a:t>
            </a:r>
            <a:endParaRPr lang="en-US" sz="1600" dirty="0"/>
          </a:p>
        </p:txBody>
      </p:sp>
      <p:sp>
        <p:nvSpPr>
          <p:cNvPr id="15" name="Text 13"/>
          <p:cNvSpPr/>
          <p:nvPr/>
        </p:nvSpPr>
        <p:spPr>
          <a:xfrm>
            <a:off x="11938000" y="2095500"/>
            <a:ext cx="3429000" cy="571500"/>
          </a:xfrm>
          <a:prstGeom prst="rect">
            <a:avLst/>
          </a:prstGeom>
          <a:noFill/>
          <a:ln/>
        </p:spPr>
        <p:txBody>
          <a:bodyPr wrap="square" lIns="0" tIns="0" rIns="0" bIns="0" rtlCol="0" anchor="t"/>
          <a:lstStyle/>
          <a:p>
            <a:pPr>
              <a:lnSpc>
                <a:spcPct val="130000"/>
              </a:lnSpc>
            </a:pPr>
            <a:r>
              <a:rPr lang="en-US" sz="1300" dirty="0">
                <a:solidFill>
                  <a:srgbClr val="F1F5F9"/>
                </a:solidFill>
                <a:latin typeface="Quattrocento Sans" pitchFamily="34" charset="0"/>
                <a:ea typeface="Quattrocento Sans" pitchFamily="34" charset="-122"/>
                <a:cs typeface="Quattrocento Sans" pitchFamily="34" charset="-120"/>
              </a:rPr>
              <a:t>Patient touchpoints by Metropolis Healthcare</a:t>
            </a:r>
            <a:endParaRPr lang="en-US" sz="1600" dirty="0"/>
          </a:p>
        </p:txBody>
      </p:sp>
      <p:sp>
        <p:nvSpPr>
          <p:cNvPr id="16" name="Text 14"/>
          <p:cNvSpPr/>
          <p:nvPr/>
        </p:nvSpPr>
        <p:spPr>
          <a:xfrm>
            <a:off x="762000" y="30480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DR LAL PATHLABS</a:t>
            </a:r>
            <a:endParaRPr lang="en-US" sz="1600" dirty="0"/>
          </a:p>
        </p:txBody>
      </p:sp>
      <p:sp>
        <p:nvSpPr>
          <p:cNvPr id="17" name="Text 15"/>
          <p:cNvSpPr/>
          <p:nvPr/>
        </p:nvSpPr>
        <p:spPr>
          <a:xfrm>
            <a:off x="762000" y="3492500"/>
            <a:ext cx="7112000" cy="1968500"/>
          </a:xfrm>
          <a:prstGeom prst="rect">
            <a:avLst/>
          </a:prstGeom>
          <a:noFill/>
          <a:ln/>
        </p:spPr>
        <p:txBody>
          <a:bodyPr wrap="square" lIns="0" tIns="0" rIns="0" bIns="0" rtlCol="0" anchor="t"/>
          <a:lstStyle/>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Scale:</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85.6M samples, 290+ labs, 6,600+ patient service centres</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Growth:</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8.5-10% sample-volume growth (Reuters reports)</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Quality focus:</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Real-time QC monitoring, quality checks on every sample, daily quality indicators</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Digital:</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Emphasizes report access, tracking, operational convenience</a:t>
            </a:r>
            <a:endParaRPr lang="en-US" sz="1600" dirty="0"/>
          </a:p>
        </p:txBody>
      </p:sp>
      <p:sp>
        <p:nvSpPr>
          <p:cNvPr id="18" name="Text 16"/>
          <p:cNvSpPr/>
          <p:nvPr/>
        </p:nvSpPr>
        <p:spPr>
          <a:xfrm>
            <a:off x="8382000" y="30480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METROPOLIS HEALTHCARE</a:t>
            </a:r>
            <a:endParaRPr lang="en-US" sz="1600" dirty="0"/>
          </a:p>
        </p:txBody>
      </p:sp>
      <p:sp>
        <p:nvSpPr>
          <p:cNvPr id="19" name="Text 17"/>
          <p:cNvSpPr/>
          <p:nvPr/>
        </p:nvSpPr>
        <p:spPr>
          <a:xfrm>
            <a:off x="8382000" y="3492500"/>
            <a:ext cx="7112000" cy="1968500"/>
          </a:xfrm>
          <a:prstGeom prst="rect">
            <a:avLst/>
          </a:prstGeom>
          <a:noFill/>
          <a:ln/>
        </p:spPr>
        <p:txBody>
          <a:bodyPr wrap="square" lIns="0" tIns="0" rIns="0" bIns="0" rtlCol="0" anchor="t"/>
          <a:lstStyle/>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Scale:</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170+ advanced labs, 12,000+ patient touchpoints</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Menu:</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4,000+ tests and profiles, 2,000+ scientific officers</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Growth:</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Continuing growth in specialty and preventive testing</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Quality focus:</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Sample tracking, calibration, internal and external quality checks</a:t>
            </a:r>
            <a:endParaRPr lang="en-US" sz="1600" dirty="0"/>
          </a:p>
        </p:txBody>
      </p:sp>
      <p:sp>
        <p:nvSpPr>
          <p:cNvPr id="20" name="Shape 18"/>
          <p:cNvSpPr/>
          <p:nvPr/>
        </p:nvSpPr>
        <p:spPr>
          <a:xfrm>
            <a:off x="762000" y="5778500"/>
            <a:ext cx="14732000" cy="1143000"/>
          </a:xfrm>
          <a:prstGeom prst="rect">
            <a:avLst/>
          </a:prstGeom>
          <a:solidFill>
            <a:srgbClr val="FEF3C7"/>
          </a:solidFill>
          <a:ln w="12700">
            <a:solidFill>
              <a:srgbClr val="FCD34D"/>
            </a:solidFill>
            <a:prstDash val="solid"/>
          </a:ln>
        </p:spPr>
      </p:sp>
      <p:sp>
        <p:nvSpPr>
          <p:cNvPr id="21" name="Shape 19"/>
          <p:cNvSpPr/>
          <p:nvPr/>
        </p:nvSpPr>
        <p:spPr>
          <a:xfrm>
            <a:off x="1016000" y="6070600"/>
            <a:ext cx="355600" cy="355600"/>
          </a:xfrm>
          <a:custGeom>
            <a:avLst/>
            <a:gdLst/>
            <a:ahLst/>
            <a:cxnLst/>
            <a:rect l="l" t="t" r="r" b="b"/>
            <a:pathLst>
              <a:path w="355600" h="355600">
                <a:moveTo>
                  <a:pt x="177800" y="0"/>
                </a:moveTo>
                <a:cubicBezTo>
                  <a:pt x="188010" y="0"/>
                  <a:pt x="197386" y="5626"/>
                  <a:pt x="202248" y="14585"/>
                </a:cubicBezTo>
                <a:lnTo>
                  <a:pt x="352266" y="292398"/>
                </a:lnTo>
                <a:cubicBezTo>
                  <a:pt x="356920" y="301010"/>
                  <a:pt x="356711" y="311428"/>
                  <a:pt x="351711" y="319832"/>
                </a:cubicBezTo>
                <a:cubicBezTo>
                  <a:pt x="346710" y="328235"/>
                  <a:pt x="337612" y="333375"/>
                  <a:pt x="327819" y="333375"/>
                </a:cubicBezTo>
                <a:lnTo>
                  <a:pt x="27781" y="333375"/>
                </a:lnTo>
                <a:cubicBezTo>
                  <a:pt x="17988" y="333375"/>
                  <a:pt x="8959" y="328235"/>
                  <a:pt x="3889" y="319832"/>
                </a:cubicBezTo>
                <a:cubicBezTo>
                  <a:pt x="-1181" y="311428"/>
                  <a:pt x="-1320" y="301010"/>
                  <a:pt x="3334" y="292398"/>
                </a:cubicBezTo>
                <a:lnTo>
                  <a:pt x="153353" y="14585"/>
                </a:lnTo>
                <a:cubicBezTo>
                  <a:pt x="158214" y="5626"/>
                  <a:pt x="167590" y="0"/>
                  <a:pt x="177800" y="0"/>
                </a:cubicBezTo>
                <a:close/>
                <a:moveTo>
                  <a:pt x="177800" y="116681"/>
                </a:moveTo>
                <a:cubicBezTo>
                  <a:pt x="168563" y="116681"/>
                  <a:pt x="161131" y="124113"/>
                  <a:pt x="161131" y="133350"/>
                </a:cubicBezTo>
                <a:lnTo>
                  <a:pt x="161131" y="211138"/>
                </a:lnTo>
                <a:cubicBezTo>
                  <a:pt x="161131" y="220375"/>
                  <a:pt x="168563" y="227806"/>
                  <a:pt x="177800" y="227806"/>
                </a:cubicBezTo>
                <a:cubicBezTo>
                  <a:pt x="187037" y="227806"/>
                  <a:pt x="194469" y="220375"/>
                  <a:pt x="194469" y="211138"/>
                </a:cubicBezTo>
                <a:lnTo>
                  <a:pt x="194469" y="133350"/>
                </a:lnTo>
                <a:cubicBezTo>
                  <a:pt x="194469" y="124113"/>
                  <a:pt x="187037" y="116681"/>
                  <a:pt x="177800" y="116681"/>
                </a:cubicBezTo>
                <a:close/>
                <a:moveTo>
                  <a:pt x="196344" y="266700"/>
                </a:moveTo>
                <a:cubicBezTo>
                  <a:pt x="196766" y="259817"/>
                  <a:pt x="193333" y="253268"/>
                  <a:pt x="187432" y="249699"/>
                </a:cubicBezTo>
                <a:cubicBezTo>
                  <a:pt x="181532" y="246129"/>
                  <a:pt x="174138" y="246129"/>
                  <a:pt x="168237" y="249699"/>
                </a:cubicBezTo>
                <a:cubicBezTo>
                  <a:pt x="162336" y="253268"/>
                  <a:pt x="158904" y="259817"/>
                  <a:pt x="159325" y="266700"/>
                </a:cubicBezTo>
                <a:cubicBezTo>
                  <a:pt x="158904" y="273583"/>
                  <a:pt x="162336" y="280132"/>
                  <a:pt x="168237" y="283701"/>
                </a:cubicBezTo>
                <a:cubicBezTo>
                  <a:pt x="174138" y="287271"/>
                  <a:pt x="181532" y="287271"/>
                  <a:pt x="187432" y="283701"/>
                </a:cubicBezTo>
                <a:cubicBezTo>
                  <a:pt x="193333" y="280132"/>
                  <a:pt x="196766" y="273583"/>
                  <a:pt x="196344" y="266700"/>
                </a:cubicBezTo>
                <a:close/>
              </a:path>
            </a:pathLst>
          </a:custGeom>
          <a:solidFill>
            <a:srgbClr val="D97706"/>
          </a:solidFill>
          <a:ln/>
        </p:spPr>
      </p:sp>
      <p:sp>
        <p:nvSpPr>
          <p:cNvPr id="22" name="Text 20"/>
          <p:cNvSpPr/>
          <p:nvPr/>
        </p:nvSpPr>
        <p:spPr>
          <a:xfrm>
            <a:off x="1524000" y="5905500"/>
            <a:ext cx="13716000" cy="889000"/>
          </a:xfrm>
          <a:prstGeom prst="rect">
            <a:avLst/>
          </a:prstGeom>
          <a:noFill/>
          <a:ln/>
        </p:spPr>
        <p:txBody>
          <a:bodyPr wrap="square" lIns="0" tIns="0" rIns="0" bIns="0" rtlCol="0" anchor="ctr"/>
          <a:lstStyle/>
          <a:p>
            <a:pPr>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Competitive Pressure:</a:t>
            </a:r>
            <a:pPr>
              <a:lnSpc>
                <a:spcPct val="140000"/>
              </a:lnSpc>
            </a:pPr>
            <a:r>
              <a:rPr lang="en-US" sz="1500" dirty="0">
                <a:solidFill>
                  <a:srgbClr val="1E293B"/>
                </a:solidFill>
                <a:latin typeface="Quattrocento Sans" pitchFamily="34" charset="0"/>
                <a:ea typeface="Quattrocento Sans" pitchFamily="34" charset="-122"/>
                <a:cs typeface="Quattrocento Sans" pitchFamily="34" charset="-120"/>
              </a:rPr>
              <a:t> Amazon's entry into home diagnostics signaled that digital platforms can pressure incumbents on convenience. Both Dr Lal and Metropolis emphasize report access, tracking, and operational convenience.</a:t>
            </a:r>
            <a:endParaRPr lang="en-US" sz="1600" dirty="0"/>
          </a:p>
        </p:txBody>
      </p:sp>
      <p:sp>
        <p:nvSpPr>
          <p:cNvPr id="23" name="Text 21"/>
          <p:cNvSpPr/>
          <p:nvPr/>
        </p:nvSpPr>
        <p:spPr>
          <a:xfrm>
            <a:off x="762000" y="7175500"/>
            <a:ext cx="14732000" cy="635000"/>
          </a:xfrm>
          <a:prstGeom prst="rect">
            <a:avLst/>
          </a:prstGeom>
          <a:noFill/>
          <a:ln/>
        </p:spPr>
        <p:txBody>
          <a:bodyPr wrap="square" lIns="0" tIns="0" rIns="0" bIns="0" rtlCol="0" anchor="t"/>
          <a:lstStyle/>
          <a:p>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Sources: </a:t>
            </a:r>
            <a:pPr>
              <a:lnSpc>
                <a:spcPct val="140000"/>
              </a:lnSpc>
            </a:pPr>
            <a:r>
              <a:rPr lang="en-US" sz="1300" u="sng" dirty="0">
                <a:solidFill>
                  <a:srgbClr val="475569"/>
                </a:solidFill>
                <a:latin typeface="QuattrocentoSans" pitchFamily="34" charset="0"/>
                <a:ea typeface="QuattrocentoSans" pitchFamily="34" charset="-122"/>
                <a:cs typeface="QuattrocentoSans" pitchFamily="34" charset="-120"/>
                <a:hlinkClick r:id="rId1" tooltip="" action="ppaction://hlinkfile">
                  <a:extLst>
                    <a:ext uri="{A12FA001-AC4F-418D-AE19-62706E023703}">
                      <ahyp:hlinkClr xmlns:ahyp="http://schemas.microsoft.com/office/drawing/2018/hyperlinkcolor" val="tx"/>
                    </a:ext>
                  </a:extLst>
                </a:hlinkClick>
              </a:rPr>
              <a:t>Dr Lal PathLabs Public Site</a:t>
            </a:r>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 </a:t>
            </a:r>
            <a:pPr>
              <a:lnSpc>
                <a:spcPct val="140000"/>
              </a:lnSpc>
            </a:pPr>
            <a:r>
              <a:rPr lang="en-US" sz="1300" u="sng" dirty="0">
                <a:solidFill>
                  <a:srgbClr val="475569"/>
                </a:solidFill>
                <a:latin typeface="QuattrocentoSans" pitchFamily="34" charset="0"/>
                <a:ea typeface="QuattrocentoSans" pitchFamily="34" charset="-122"/>
                <a:cs typeface="QuattrocentoSans" pitchFamily="34" charset="-120"/>
                <a:hlinkClick r:id="rId2" tooltip="" action="ppaction://hlinkfile">
                  <a:extLst>
                    <a:ext uri="{A12FA001-AC4F-418D-AE19-62706E023703}">
                      <ahyp:hlinkClr xmlns:ahyp="http://schemas.microsoft.com/office/drawing/2018/hyperlinkcolor" val="tx"/>
                    </a:ext>
                  </a:extLst>
                </a:hlinkClick>
              </a:rPr>
              <a:t>Metropolis India</a:t>
            </a:r>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 </a:t>
            </a:r>
            <a:pPr>
              <a:lnSpc>
                <a:spcPct val="140000"/>
              </a:lnSpc>
            </a:pPr>
            <a:r>
              <a:rPr lang="en-US" sz="1300" u="sng" dirty="0">
                <a:solidFill>
                  <a:srgbClr val="475569"/>
                </a:solidFill>
                <a:latin typeface="QuattrocentoSans" pitchFamily="34" charset="0"/>
                <a:ea typeface="QuattrocentoSans" pitchFamily="34" charset="-122"/>
                <a:cs typeface="QuattrocentoSans" pitchFamily="34" charset="-120"/>
                <a:hlinkClick r:id="rId3" tooltip="" action="ppaction://hlinkfile">
                  <a:extLst>
                    <a:ext uri="{A12FA001-AC4F-418D-AE19-62706E023703}">
                      <ahyp:hlinkClr xmlns:ahyp="http://schemas.microsoft.com/office/drawing/2018/hyperlinkcolor" val="tx"/>
                    </a:ext>
                  </a:extLst>
                </a:hlinkClick>
              </a:rPr>
              <a:t>Economic Times - Amazon Home Testing</a:t>
            </a:r>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 Reuters India Coverage</a:t>
            </a:r>
            <a:endParaRPr lang="en-US" sz="1300" dirty="0"/>
          </a:p>
        </p:txBody>
      </p:sp>
      <p:sp>
        <p:nvSpPr>
          <p:cNvPr id="24" name="Shape 22"/>
          <p:cNvSpPr/>
          <p:nvPr/>
        </p:nvSpPr>
        <p:spPr>
          <a:xfrm>
            <a:off x="762000" y="8636000"/>
            <a:ext cx="14732000" cy="25400"/>
          </a:xfrm>
          <a:prstGeom prst="rect">
            <a:avLst/>
          </a:prstGeom>
          <a:solidFill>
            <a:srgbClr val="D97706"/>
          </a:solidFill>
          <a:ln/>
        </p:spPr>
      </p:sp>
      <p:sp>
        <p:nvSpPr>
          <p:cNvPr id="25" name="Text 23"/>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11</a:t>
            </a:r>
            <a:endParaRPr lang="en-US" sz="13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Automation Budgets Exist - But Incumbents Are Too Expensive</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4699000" cy="1651000"/>
          </a:xfrm>
          <a:prstGeom prst="rect">
            <a:avLst/>
          </a:prstGeom>
          <a:solidFill>
            <a:srgbClr val="1E293B"/>
          </a:solidFill>
          <a:ln/>
        </p:spPr>
      </p:sp>
      <p:sp>
        <p:nvSpPr>
          <p:cNvPr id="5" name="Text 3"/>
          <p:cNvSpPr/>
          <p:nvPr/>
        </p:nvSpPr>
        <p:spPr>
          <a:xfrm>
            <a:off x="952500" y="1371600"/>
            <a:ext cx="2540000" cy="635000"/>
          </a:xfrm>
          <a:prstGeom prst="rect">
            <a:avLst/>
          </a:prstGeom>
          <a:noFill/>
          <a:ln/>
        </p:spPr>
        <p:txBody>
          <a:bodyPr wrap="none" lIns="0" tIns="0" rIns="0" bIns="0" rtlCol="0" anchor="ctr"/>
          <a:lstStyle/>
          <a:p>
            <a:pPr>
              <a:lnSpc>
                <a:spcPct val="100000"/>
              </a:lnSpc>
            </a:pPr>
            <a:r>
              <a:rPr lang="en-US" sz="4200" dirty="0">
                <a:solidFill>
                  <a:srgbClr val="D97706"/>
                </a:solidFill>
                <a:latin typeface="Liter" pitchFamily="34" charset="0"/>
                <a:ea typeface="Liter" pitchFamily="34" charset="-122"/>
                <a:cs typeface="Liter" pitchFamily="34" charset="-120"/>
              </a:rPr>
              <a:t>4,000+</a:t>
            </a:r>
            <a:endParaRPr lang="en-US" sz="1600" dirty="0"/>
          </a:p>
        </p:txBody>
      </p:sp>
      <p:sp>
        <p:nvSpPr>
          <p:cNvPr id="6" name="Text 4"/>
          <p:cNvSpPr/>
          <p:nvPr/>
        </p:nvSpPr>
        <p:spPr>
          <a:xfrm>
            <a:off x="952500" y="2032000"/>
            <a:ext cx="4318000" cy="698500"/>
          </a:xfrm>
          <a:prstGeom prst="rect">
            <a:avLst/>
          </a:prstGeom>
          <a:noFill/>
          <a:ln/>
        </p:spPr>
        <p:txBody>
          <a:bodyPr wrap="square" lIns="0" tIns="0" rIns="0" bIns="0" rtlCol="0" anchor="t"/>
          <a:lstStyle/>
          <a:p>
            <a:pPr>
              <a:lnSpc>
                <a:spcPct val="140000"/>
              </a:lnSpc>
            </a:pPr>
            <a:r>
              <a:rPr lang="en-US" sz="1400" dirty="0">
                <a:solidFill>
                  <a:srgbClr val="F1F5F9"/>
                </a:solidFill>
                <a:latin typeface="Quattrocento Sans" pitchFamily="34" charset="0"/>
                <a:ea typeface="Quattrocento Sans" pitchFamily="34" charset="-122"/>
                <a:cs typeface="Quattrocento Sans" pitchFamily="34" charset="-120"/>
              </a:rPr>
              <a:t>Tests per hour at SGPGIMS fully automated pathology laboratory</a:t>
            </a:r>
            <a:endParaRPr lang="en-US" sz="1600" dirty="0"/>
          </a:p>
        </p:txBody>
      </p:sp>
      <p:sp>
        <p:nvSpPr>
          <p:cNvPr id="7" name="Shape 5"/>
          <p:cNvSpPr/>
          <p:nvPr/>
        </p:nvSpPr>
        <p:spPr>
          <a:xfrm>
            <a:off x="5715000" y="1270000"/>
            <a:ext cx="4699000" cy="1651000"/>
          </a:xfrm>
          <a:prstGeom prst="rect">
            <a:avLst/>
          </a:prstGeom>
          <a:solidFill>
            <a:srgbClr val="1E293B"/>
          </a:solidFill>
          <a:ln/>
        </p:spPr>
      </p:sp>
      <p:sp>
        <p:nvSpPr>
          <p:cNvPr id="8" name="Text 6"/>
          <p:cNvSpPr/>
          <p:nvPr/>
        </p:nvSpPr>
        <p:spPr>
          <a:xfrm>
            <a:off x="5905500" y="1371600"/>
            <a:ext cx="2540000" cy="635000"/>
          </a:xfrm>
          <a:prstGeom prst="rect">
            <a:avLst/>
          </a:prstGeom>
          <a:noFill/>
          <a:ln/>
        </p:spPr>
        <p:txBody>
          <a:bodyPr wrap="none" lIns="0" tIns="0" rIns="0" bIns="0" rtlCol="0" anchor="ctr"/>
          <a:lstStyle/>
          <a:p>
            <a:pPr>
              <a:lnSpc>
                <a:spcPct val="100000"/>
              </a:lnSpc>
            </a:pPr>
            <a:r>
              <a:rPr lang="en-US" sz="4200" dirty="0">
                <a:solidFill>
                  <a:srgbClr val="D97706"/>
                </a:solidFill>
                <a:latin typeface="Liter" pitchFamily="34" charset="0"/>
                <a:ea typeface="Liter" pitchFamily="34" charset="-122"/>
                <a:cs typeface="Liter" pitchFamily="34" charset="-120"/>
              </a:rPr>
              <a:t>2,000+</a:t>
            </a:r>
            <a:endParaRPr lang="en-US" sz="1600" dirty="0"/>
          </a:p>
        </p:txBody>
      </p:sp>
      <p:sp>
        <p:nvSpPr>
          <p:cNvPr id="9" name="Text 7"/>
          <p:cNvSpPr/>
          <p:nvPr/>
        </p:nvSpPr>
        <p:spPr>
          <a:xfrm>
            <a:off x="5905500" y="2032000"/>
            <a:ext cx="4318000" cy="698500"/>
          </a:xfrm>
          <a:prstGeom prst="rect">
            <a:avLst/>
          </a:prstGeom>
          <a:noFill/>
          <a:ln/>
        </p:spPr>
        <p:txBody>
          <a:bodyPr wrap="square" lIns="0" tIns="0" rIns="0" bIns="0" rtlCol="0" anchor="t"/>
          <a:lstStyle/>
          <a:p>
            <a:pPr>
              <a:lnSpc>
                <a:spcPct val="140000"/>
              </a:lnSpc>
            </a:pPr>
            <a:r>
              <a:rPr lang="en-US" sz="1400" dirty="0">
                <a:solidFill>
                  <a:srgbClr val="F1F5F9"/>
                </a:solidFill>
                <a:latin typeface="Quattrocento Sans" pitchFamily="34" charset="0"/>
                <a:ea typeface="Quattrocento Sans" pitchFamily="34" charset="-122"/>
                <a:cs typeface="Quattrocento Sans" pitchFamily="34" charset="-120"/>
              </a:rPr>
              <a:t>Tests per hour at AIIMS Bhopal cobas pro system</a:t>
            </a:r>
            <a:endParaRPr lang="en-US" sz="1600" dirty="0"/>
          </a:p>
        </p:txBody>
      </p:sp>
      <p:sp>
        <p:nvSpPr>
          <p:cNvPr id="10" name="Shape 8"/>
          <p:cNvSpPr/>
          <p:nvPr/>
        </p:nvSpPr>
        <p:spPr>
          <a:xfrm>
            <a:off x="10668000" y="1270000"/>
            <a:ext cx="4826000" cy="1651000"/>
          </a:xfrm>
          <a:prstGeom prst="rect">
            <a:avLst/>
          </a:prstGeom>
          <a:solidFill>
            <a:srgbClr val="1E293B"/>
          </a:solidFill>
          <a:ln/>
        </p:spPr>
      </p:sp>
      <p:sp>
        <p:nvSpPr>
          <p:cNvPr id="11" name="Text 9"/>
          <p:cNvSpPr/>
          <p:nvPr/>
        </p:nvSpPr>
        <p:spPr>
          <a:xfrm>
            <a:off x="10858500" y="1371600"/>
            <a:ext cx="3175000" cy="635000"/>
          </a:xfrm>
          <a:prstGeom prst="rect">
            <a:avLst/>
          </a:prstGeom>
          <a:noFill/>
          <a:ln/>
        </p:spPr>
        <p:txBody>
          <a:bodyPr wrap="none" lIns="0" tIns="0" rIns="0" bIns="0" rtlCol="0" anchor="ctr"/>
          <a:lstStyle/>
          <a:p>
            <a:pPr>
              <a:lnSpc>
                <a:spcPct val="100000"/>
              </a:lnSpc>
            </a:pPr>
            <a:r>
              <a:rPr lang="en-US" sz="4200" dirty="0">
                <a:solidFill>
                  <a:srgbClr val="D97706"/>
                </a:solidFill>
                <a:latin typeface="Liter" pitchFamily="34" charset="0"/>
                <a:ea typeface="Liter" pitchFamily="34" charset="-122"/>
                <a:cs typeface="Liter" pitchFamily="34" charset="-120"/>
              </a:rPr>
              <a:t>&gt; Rs.3 Cr</a:t>
            </a:r>
            <a:endParaRPr lang="en-US" sz="1600" dirty="0"/>
          </a:p>
        </p:txBody>
      </p:sp>
      <p:sp>
        <p:nvSpPr>
          <p:cNvPr id="12" name="Text 10"/>
          <p:cNvSpPr/>
          <p:nvPr/>
        </p:nvSpPr>
        <p:spPr>
          <a:xfrm>
            <a:off x="10858500" y="2032000"/>
            <a:ext cx="4445000" cy="698500"/>
          </a:xfrm>
          <a:prstGeom prst="rect">
            <a:avLst/>
          </a:prstGeom>
          <a:noFill/>
          <a:ln/>
        </p:spPr>
        <p:txBody>
          <a:bodyPr wrap="square" lIns="0" tIns="0" rIns="0" bIns="0" rtlCol="0" anchor="t"/>
          <a:lstStyle/>
          <a:p>
            <a:pPr>
              <a:lnSpc>
                <a:spcPct val="140000"/>
              </a:lnSpc>
            </a:pPr>
            <a:r>
              <a:rPr lang="en-US" sz="1400" dirty="0">
                <a:solidFill>
                  <a:srgbClr val="F1F5F9"/>
                </a:solidFill>
                <a:latin typeface="Quattrocento Sans" pitchFamily="34" charset="0"/>
                <a:ea typeface="Quattrocento Sans" pitchFamily="34" charset="-122"/>
                <a:cs typeface="Quattrocento Sans" pitchFamily="34" charset="-120"/>
              </a:rPr>
              <a:t>Reagent-rental arrangement value at AIIMS Bhopal</a:t>
            </a:r>
            <a:endParaRPr lang="en-US" sz="1600" dirty="0"/>
          </a:p>
        </p:txBody>
      </p:sp>
      <p:sp>
        <p:nvSpPr>
          <p:cNvPr id="13" name="Text 11"/>
          <p:cNvSpPr/>
          <p:nvPr/>
        </p:nvSpPr>
        <p:spPr>
          <a:xfrm>
            <a:off x="762000" y="31750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EXISTING AUTOMATION BENCHMARKS</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62000" y="3619500"/>
          <a:ext cx="14732000" cy="2476500"/>
        </p:xfrm>
        <a:graphic>
          <a:graphicData uri="http://schemas.openxmlformats.org/drawingml/2006/table">
            <a:tbl>
              <a:tblPr/>
              <a:tblGrid>
                <a:gridCol w="3241040"/>
                <a:gridCol w="2946400"/>
                <a:gridCol w="2946400"/>
                <a:gridCol w="5598160"/>
              </a:tblGrid>
              <a:tr h="543314">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Institution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System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Throughput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Financial Structure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644395">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SGPGIMS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Fully automated pathology lab</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4,000+ tests/hour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Full CapEx deployment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44395">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AIIMS Bhopal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cobas pro system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2,000+ tests/hour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Reagent-rental &gt; Rs.3 crore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644395">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Karnataka (PM-ABHIM)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District integrated public health lab</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Public health scale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Established at ~Rs.1.1 crore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15" name="Shape 12"/>
          <p:cNvSpPr/>
          <p:nvPr/>
        </p:nvSpPr>
        <p:spPr>
          <a:xfrm>
            <a:off x="762000" y="6413500"/>
            <a:ext cx="14732000" cy="1524000"/>
          </a:xfrm>
          <a:prstGeom prst="rect">
            <a:avLst/>
          </a:prstGeom>
          <a:solidFill>
            <a:srgbClr val="FEF3C7"/>
          </a:solidFill>
          <a:ln w="12700">
            <a:solidFill>
              <a:srgbClr val="FCD34D"/>
            </a:solidFill>
            <a:prstDash val="solid"/>
          </a:ln>
        </p:spPr>
      </p:sp>
      <p:sp>
        <p:nvSpPr>
          <p:cNvPr id="16" name="Text 13"/>
          <p:cNvSpPr/>
          <p:nvPr/>
        </p:nvSpPr>
        <p:spPr>
          <a:xfrm>
            <a:off x="1016000" y="6540500"/>
            <a:ext cx="5080000" cy="317500"/>
          </a:xfrm>
          <a:prstGeom prst="rect">
            <a:avLst/>
          </a:prstGeom>
          <a:noFill/>
          <a:ln/>
        </p:spPr>
        <p:txBody>
          <a:bodyPr wrap="none" lIns="0" tIns="0" rIns="0" bIns="0" rtlCol="0" anchor="ctr"/>
          <a:lstStyle/>
          <a:p>
            <a:pPr>
              <a:lnSpc>
                <a:spcPct val="100000"/>
              </a:lnSpc>
            </a:pPr>
            <a:r>
              <a:rPr lang="en-US" sz="1600" dirty="0">
                <a:solidFill>
                  <a:srgbClr val="D97706"/>
                </a:solidFill>
                <a:latin typeface="Liter" pitchFamily="34" charset="0"/>
                <a:ea typeface="Liter" pitchFamily="34" charset="-122"/>
                <a:cs typeface="Liter" pitchFamily="34" charset="-120"/>
              </a:rPr>
              <a:t>THE STRATEGIC TAKEAWAY</a:t>
            </a:r>
            <a:endParaRPr lang="en-US" sz="1600" dirty="0"/>
          </a:p>
        </p:txBody>
      </p:sp>
      <p:sp>
        <p:nvSpPr>
          <p:cNvPr id="17" name="Text 14"/>
          <p:cNvSpPr/>
          <p:nvPr/>
        </p:nvSpPr>
        <p:spPr>
          <a:xfrm>
            <a:off x="1016000" y="6921500"/>
            <a:ext cx="14224000" cy="825500"/>
          </a:xfrm>
          <a:prstGeom prst="rect">
            <a:avLst/>
          </a:prstGeom>
          <a:noFill/>
          <a:ln/>
        </p:spPr>
        <p:txBody>
          <a:bodyPr wrap="square" lIns="0" tIns="0" rIns="0" bIns="0" rtlCol="0" anchor="t"/>
          <a:lstStyle/>
          <a:p>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Buyers </a:t>
            </a:r>
            <a:pPr>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already understand automation value</a:t>
            </a:r>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 but incumbent price points are often </a:t>
            </a:r>
            <a:pPr>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too high, too centralized, and too rigid</a:t>
            </a:r>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 A modular Indian product priced well below these benchmarks can be positioned as a </a:t>
            </a:r>
            <a:pPr>
              <a:lnSpc>
                <a:spcPct val="150000"/>
              </a:lnSpc>
            </a:pPr>
            <a:r>
              <a:rPr lang="en-US" sz="1600" b="1" dirty="0">
                <a:solidFill>
                  <a:srgbClr val="D97706"/>
                </a:solidFill>
                <a:latin typeface="Quattrocento Sans" pitchFamily="34" charset="0"/>
                <a:ea typeface="Quattrocento Sans" pitchFamily="34" charset="-122"/>
                <a:cs typeface="Quattrocento Sans" pitchFamily="34" charset="-120"/>
              </a:rPr>
              <a:t>budget-responsible alternative</a:t>
            </a:r>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 for a narrower, high-friction workflow wedge.</a:t>
            </a:r>
            <a:endParaRPr lang="en-US" sz="1600" dirty="0"/>
          </a:p>
        </p:txBody>
      </p:sp>
      <p:sp>
        <p:nvSpPr>
          <p:cNvPr id="18" name="Text 15"/>
          <p:cNvSpPr/>
          <p:nvPr/>
        </p:nvSpPr>
        <p:spPr>
          <a:xfrm>
            <a:off x="762000" y="8191500"/>
            <a:ext cx="14732000" cy="317500"/>
          </a:xfrm>
          <a:prstGeom prst="rect">
            <a:avLst/>
          </a:prstGeom>
          <a:noFill/>
          <a:ln/>
        </p:spPr>
        <p:txBody>
          <a:bodyPr wrap="square" lIns="0" tIns="0" rIns="0" bIns="0" rtlCol="0" anchor="ctr"/>
          <a:lstStyle/>
          <a:p>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Sources: </a:t>
            </a:r>
            <a:pPr>
              <a:lnSpc>
                <a:spcPct val="140000"/>
              </a:lnSpc>
            </a:pPr>
            <a:r>
              <a:rPr lang="en-US" sz="1300" u="sng" dirty="0">
                <a:solidFill>
                  <a:srgbClr val="475569"/>
                </a:solidFill>
                <a:latin typeface="QuattrocentoSans" pitchFamily="34" charset="0"/>
                <a:ea typeface="QuattrocentoSans" pitchFamily="34" charset="-122"/>
                <a:cs typeface="QuattrocentoSans" pitchFamily="34" charset="-120"/>
                <a:hlinkClick r:id="rId1" tooltip="" action="ppaction://hlinkfile">
                  <a:extLst>
                    <a:ext uri="{A12FA001-AC4F-418D-AE19-62706E023703}">
                      <ahyp:hlinkClr xmlns:ahyp="http://schemas.microsoft.com/office/drawing/2018/hyperlinkcolor" val="tx"/>
                    </a:ext>
                  </a:extLst>
                </a:hlinkClick>
              </a:rPr>
              <a:t>Times of India - SGPGIMS</a:t>
            </a:r>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 </a:t>
            </a:r>
            <a:pPr>
              <a:lnSpc>
                <a:spcPct val="140000"/>
              </a:lnSpc>
            </a:pPr>
            <a:r>
              <a:rPr lang="en-US" sz="1300" u="sng" dirty="0">
                <a:solidFill>
                  <a:srgbClr val="475569"/>
                </a:solidFill>
                <a:latin typeface="QuattrocentoSans" pitchFamily="34" charset="0"/>
                <a:ea typeface="QuattrocentoSans" pitchFamily="34" charset="-122"/>
                <a:cs typeface="QuattrocentoSans" pitchFamily="34" charset="-120"/>
                <a:hlinkClick r:id="rId2" tooltip="" action="ppaction://hlinkfile">
                  <a:extLst>
                    <a:ext uri="{A12FA001-AC4F-418D-AE19-62706E023703}">
                      <ahyp:hlinkClr xmlns:ahyp="http://schemas.microsoft.com/office/drawing/2018/hyperlinkcolor" val="tx"/>
                    </a:ext>
                  </a:extLst>
                </a:hlinkClick>
              </a:rPr>
              <a:t>Times of India - AIIMS Bhopal</a:t>
            </a:r>
            <a:endParaRPr lang="en-US" sz="1300" dirty="0"/>
          </a:p>
        </p:txBody>
      </p:sp>
      <p:sp>
        <p:nvSpPr>
          <p:cNvPr id="19" name="Shape 16"/>
          <p:cNvSpPr/>
          <p:nvPr/>
        </p:nvSpPr>
        <p:spPr>
          <a:xfrm>
            <a:off x="762000" y="8636000"/>
            <a:ext cx="14732000" cy="25400"/>
          </a:xfrm>
          <a:prstGeom prst="rect">
            <a:avLst/>
          </a:prstGeom>
          <a:solidFill>
            <a:srgbClr val="D97706"/>
          </a:solidFill>
          <a:ln/>
        </p:spPr>
      </p:sp>
      <p:sp>
        <p:nvSpPr>
          <p:cNvPr id="20" name="Text 17"/>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12</a:t>
            </a:r>
            <a:endParaRPr lang="en-US" sz="13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Target Customer: NABL-Accredited Labs, 800-5,000 Samples/Day</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7112000" cy="3556000"/>
          </a:xfrm>
          <a:prstGeom prst="rect">
            <a:avLst/>
          </a:prstGeom>
          <a:solidFill>
            <a:srgbClr val="1E293B"/>
          </a:solidFill>
          <a:ln/>
        </p:spPr>
      </p:sp>
      <p:sp>
        <p:nvSpPr>
          <p:cNvPr id="5" name="Text 3"/>
          <p:cNvSpPr/>
          <p:nvPr/>
        </p:nvSpPr>
        <p:spPr>
          <a:xfrm>
            <a:off x="1016000" y="1397000"/>
            <a:ext cx="6604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IDEAL CUSTOMER PROFILE</a:t>
            </a:r>
            <a:endParaRPr lang="en-US" sz="1600" dirty="0"/>
          </a:p>
        </p:txBody>
      </p:sp>
      <p:sp>
        <p:nvSpPr>
          <p:cNvPr id="6" name="Text 4"/>
          <p:cNvSpPr/>
          <p:nvPr/>
        </p:nvSpPr>
        <p:spPr>
          <a:xfrm>
            <a:off x="1016000" y="1841500"/>
            <a:ext cx="6604000" cy="2794000"/>
          </a:xfrm>
          <a:prstGeom prst="rect">
            <a:avLst/>
          </a:prstGeom>
          <a:noFill/>
          <a:ln/>
        </p:spPr>
        <p:txBody>
          <a:bodyPr wrap="square" lIns="0" tIns="0" rIns="0" bIns="0" rtlCol="0" anchor="t"/>
          <a:lstStyle/>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NABL-accredited or accreditation-seeking</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Processing </a:t>
            </a:r>
            <a:pPr>
              <a:lnSpc>
                <a:spcPct val="160000"/>
              </a:lnSpc>
            </a:pPr>
            <a:r>
              <a:rPr lang="en-US" sz="1500" b="1" dirty="0">
                <a:solidFill>
                  <a:srgbClr val="F1F5F9"/>
                </a:solidFill>
                <a:latin typeface="Quattrocento Sans" pitchFamily="34" charset="0"/>
                <a:ea typeface="Quattrocento Sans" pitchFamily="34" charset="-122"/>
                <a:cs typeface="Quattrocento Sans" pitchFamily="34" charset="-120"/>
              </a:rPr>
              <a:t>800 to 5,000 samples/day</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Has LIS connectivity</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Multiple analyzer benches</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Meaningful TAT pressure</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Quality team caring about tracking, calibration, auditability</a:t>
            </a:r>
            <a:endParaRPr lang="en-US" sz="1600" dirty="0"/>
          </a:p>
        </p:txBody>
      </p:sp>
      <p:sp>
        <p:nvSpPr>
          <p:cNvPr id="7" name="Shape 5"/>
          <p:cNvSpPr/>
          <p:nvPr/>
        </p:nvSpPr>
        <p:spPr>
          <a:xfrm>
            <a:off x="8128000" y="1270000"/>
            <a:ext cx="7366000" cy="3556000"/>
          </a:xfrm>
          <a:prstGeom prst="rect">
            <a:avLst/>
          </a:prstGeom>
          <a:solidFill>
            <a:srgbClr val="F1F5F9"/>
          </a:solidFill>
          <a:ln w="12700">
            <a:solidFill>
              <a:srgbClr val="E2E8F0"/>
            </a:solidFill>
            <a:prstDash val="solid"/>
          </a:ln>
        </p:spPr>
      </p:sp>
      <p:sp>
        <p:nvSpPr>
          <p:cNvPr id="8" name="Text 6"/>
          <p:cNvSpPr/>
          <p:nvPr/>
        </p:nvSpPr>
        <p:spPr>
          <a:xfrm>
            <a:off x="8382000" y="1397000"/>
            <a:ext cx="6858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WHY NABL ACCREDITATION MATTERS</a:t>
            </a:r>
            <a:endParaRPr lang="en-US" sz="1600" dirty="0"/>
          </a:p>
        </p:txBody>
      </p:sp>
      <p:sp>
        <p:nvSpPr>
          <p:cNvPr id="9" name="Text 7"/>
          <p:cNvSpPr/>
          <p:nvPr/>
        </p:nvSpPr>
        <p:spPr>
          <a:xfrm>
            <a:off x="8382000" y="1841500"/>
            <a:ext cx="6858000" cy="2794000"/>
          </a:xfrm>
          <a:prstGeom prst="rect">
            <a:avLst/>
          </a:prstGeom>
          <a:noFill/>
          <a:ln/>
        </p:spPr>
        <p:txBody>
          <a:bodyPr wrap="square" lIns="0" tIns="0" rIns="0" bIns="0" rtlCol="0" anchor="t"/>
          <a:lstStyle/>
          <a:p>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NABL's medical-lab accreditation framework is anchored to </a:t>
            </a:r>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ISO 15189</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which reinforces why auditability, validation, and traceable process changes matter commercially.</a:t>
            </a:r>
            <a:endParaRPr lang="en-US" sz="1600" dirty="0"/>
          </a:p>
          <a:p>
            <a:pPr>
              <a:lnSpc>
                <a:spcPct val="160000"/>
              </a:lnSpc>
              <a:spcBef>
                <a:spcPts val="800"/>
              </a:spcBef>
            </a:pPr>
            <a:r>
              <a:rPr lang="en-US" sz="1500" dirty="0">
                <a:solidFill>
                  <a:srgbClr val="1E293B"/>
                </a:solidFill>
                <a:latin typeface="Quattrocento Sans" pitchFamily="34" charset="0"/>
                <a:ea typeface="Quattrocento Sans" pitchFamily="34" charset="-122"/>
                <a:cs typeface="Quattrocento Sans" pitchFamily="34" charset="-120"/>
              </a:rPr>
              <a:t>Labs with accreditation pressure are </a:t>
            </a:r>
            <a:pPr>
              <a:lnSpc>
                <a:spcPct val="160000"/>
              </a:lnSpc>
              <a:spcBef>
                <a:spcPts val="800"/>
              </a:spcBef>
            </a:pPr>
            <a:r>
              <a:rPr lang="en-US" sz="1500" b="1" dirty="0">
                <a:solidFill>
                  <a:srgbClr val="D97706"/>
                </a:solidFill>
                <a:latin typeface="Quattrocento Sans" pitchFamily="34" charset="0"/>
                <a:ea typeface="Quattrocento Sans" pitchFamily="34" charset="-122"/>
                <a:cs typeface="Quattrocento Sans" pitchFamily="34" charset="-120"/>
              </a:rPr>
              <a:t>more willing to invest</a:t>
            </a:r>
            <a:pPr>
              <a:lnSpc>
                <a:spcPct val="160000"/>
              </a:lnSpc>
              <a:spcBef>
                <a:spcPts val="800"/>
              </a:spcBef>
            </a:pPr>
            <a:r>
              <a:rPr lang="en-US" sz="1500" dirty="0">
                <a:solidFill>
                  <a:srgbClr val="1E293B"/>
                </a:solidFill>
                <a:latin typeface="Quattrocento Sans" pitchFamily="34" charset="0"/>
                <a:ea typeface="Quattrocento Sans" pitchFamily="34" charset="-122"/>
                <a:cs typeface="Quattrocento Sans" pitchFamily="34" charset="-120"/>
              </a:rPr>
              <a:t> in automation that provides documented quality improvements.</a:t>
            </a:r>
            <a:endParaRPr lang="en-US" sz="1600" dirty="0"/>
          </a:p>
        </p:txBody>
      </p:sp>
      <p:sp>
        <p:nvSpPr>
          <p:cNvPr id="10" name="Text 8"/>
          <p:cNvSpPr/>
          <p:nvPr/>
        </p:nvSpPr>
        <p:spPr>
          <a:xfrm>
            <a:off x="762000" y="50800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TAT PRESSURE = BUYING SIGNAL</a:t>
            </a:r>
            <a:endParaRPr lang="en-US" sz="1600" dirty="0"/>
          </a:p>
        </p:txBody>
      </p:sp>
      <p:sp>
        <p:nvSpPr>
          <p:cNvPr id="11" name="Shape 9"/>
          <p:cNvSpPr/>
          <p:nvPr/>
        </p:nvSpPr>
        <p:spPr>
          <a:xfrm>
            <a:off x="762000" y="5524500"/>
            <a:ext cx="14732000" cy="1397000"/>
          </a:xfrm>
          <a:prstGeom prst="rect">
            <a:avLst/>
          </a:prstGeom>
          <a:solidFill>
            <a:srgbClr val="F1F5F9"/>
          </a:solidFill>
          <a:ln w="12700">
            <a:solidFill>
              <a:srgbClr val="E2E8F0"/>
            </a:solidFill>
            <a:prstDash val="solid"/>
          </a:ln>
        </p:spPr>
      </p:sp>
      <p:sp>
        <p:nvSpPr>
          <p:cNvPr id="12" name="Text 10"/>
          <p:cNvSpPr/>
          <p:nvPr/>
        </p:nvSpPr>
        <p:spPr>
          <a:xfrm>
            <a:off x="1016000" y="5651500"/>
            <a:ext cx="14224000" cy="1143000"/>
          </a:xfrm>
          <a:prstGeom prst="rect">
            <a:avLst/>
          </a:prstGeom>
          <a:noFill/>
          <a:ln/>
        </p:spPr>
        <p:txBody>
          <a:bodyPr wrap="square" lIns="0" tIns="0" rIns="0" bIns="0" rtlCol="0" anchor="t"/>
          <a:lstStyle/>
          <a:p>
            <a:pPr>
              <a:lnSpc>
                <a:spcPct val="150000"/>
              </a:lnSpc>
            </a:pPr>
            <a:r>
              <a:rPr lang="en-US" sz="1500" b="1" dirty="0">
                <a:solidFill>
                  <a:srgbClr val="1E293B"/>
                </a:solidFill>
                <a:latin typeface="Quattrocento Sans" pitchFamily="34" charset="0"/>
                <a:ea typeface="Quattrocento Sans" pitchFamily="34" charset="-122"/>
                <a:cs typeface="Quattrocento Sans" pitchFamily="34" charset="-120"/>
              </a:rPr>
              <a:t>TAT (Turnaround Time)</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is the perfect metric for our pilots - easily measurable and labs care about it deeply.</a:t>
            </a:r>
            <a:endParaRPr lang="en-US" sz="1600" dirty="0"/>
          </a:p>
          <a:p>
            <a:pPr>
              <a:lnSpc>
                <a:spcPct val="150000"/>
              </a:lnSpc>
              <a:spcBef>
                <a:spcPts val="400"/>
              </a:spcBef>
            </a:pPr>
            <a:r>
              <a:rPr lang="en-US" sz="1500" dirty="0">
                <a:solidFill>
                  <a:srgbClr val="1E293B"/>
                </a:solidFill>
                <a:latin typeface="Quattrocento Sans" pitchFamily="34" charset="0"/>
                <a:ea typeface="Quattrocento Sans" pitchFamily="34" charset="-122"/>
                <a:cs typeface="Quattrocento Sans" pitchFamily="34" charset="-120"/>
              </a:rPr>
              <a:t>Faster reports = happier doctors, happier patients, more samples processed, better business.</a:t>
            </a:r>
            <a:endParaRPr lang="en-US" sz="1600" dirty="0"/>
          </a:p>
          <a:p>
            <a:pPr>
              <a:lnSpc>
                <a:spcPct val="150000"/>
              </a:lnSpc>
            </a:pPr>
            <a:r>
              <a:rPr lang="en-US" sz="1500" b="1" dirty="0">
                <a:solidFill>
                  <a:srgbClr val="1E293B"/>
                </a:solidFill>
                <a:latin typeface="Quattrocento Sans" pitchFamily="34" charset="0"/>
                <a:ea typeface="Quattrocento Sans" pitchFamily="34" charset="-122"/>
                <a:cs typeface="Quattrocento Sans" pitchFamily="34" charset="-120"/>
              </a:rPr>
              <a:t>Example:</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Current TAT = 6 hours | Goal = 3 hours | Management asking "How can we process faster?"</a:t>
            </a:r>
            <a:endParaRPr lang="en-US" sz="1600" dirty="0"/>
          </a:p>
        </p:txBody>
      </p:sp>
      <p:sp>
        <p:nvSpPr>
          <p:cNvPr id="13" name="Shape 11"/>
          <p:cNvSpPr/>
          <p:nvPr/>
        </p:nvSpPr>
        <p:spPr>
          <a:xfrm>
            <a:off x="762000" y="7175500"/>
            <a:ext cx="14732000" cy="889000"/>
          </a:xfrm>
          <a:prstGeom prst="rect">
            <a:avLst/>
          </a:prstGeom>
          <a:solidFill>
            <a:srgbClr val="FEF3C7"/>
          </a:solidFill>
          <a:ln w="12700">
            <a:solidFill>
              <a:srgbClr val="FCD34D"/>
            </a:solidFill>
            <a:prstDash val="solid"/>
          </a:ln>
        </p:spPr>
      </p:sp>
      <p:sp>
        <p:nvSpPr>
          <p:cNvPr id="14" name="Text 12"/>
          <p:cNvSpPr/>
          <p:nvPr/>
        </p:nvSpPr>
        <p:spPr>
          <a:xfrm>
            <a:off x="1016000" y="7302500"/>
            <a:ext cx="14224000" cy="635000"/>
          </a:xfrm>
          <a:prstGeom prst="rect">
            <a:avLst/>
          </a:prstGeom>
          <a:noFill/>
          <a:ln/>
        </p:spPr>
        <p:txBody>
          <a:bodyPr wrap="square" lIns="0" tIns="0" rIns="0" bIns="0" rtlCol="0" anchor="ctr"/>
          <a:lstStyle/>
          <a:p>
            <a:pPr>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Customer Selection Framework:</a:t>
            </a:r>
            <a:pPr>
              <a:lnSpc>
                <a:spcPct val="140000"/>
              </a:lnSpc>
            </a:pPr>
            <a:r>
              <a:rPr lang="en-US" sz="1500" dirty="0">
                <a:solidFill>
                  <a:srgbClr val="1E293B"/>
                </a:solidFill>
                <a:latin typeface="Quattrocento Sans" pitchFamily="34" charset="0"/>
                <a:ea typeface="Quattrocento Sans" pitchFamily="34" charset="-122"/>
                <a:cs typeface="Quattrocento Sans" pitchFamily="34" charset="-120"/>
              </a:rPr>
              <a:t> This profile helps identify contracts and deliver conversion rates. Labs with LIS connectivity can record sample data, helping us calculate TAT before/after installation.</a:t>
            </a:r>
            <a:endParaRPr lang="en-US" sz="1600" dirty="0"/>
          </a:p>
        </p:txBody>
      </p:sp>
      <p:sp>
        <p:nvSpPr>
          <p:cNvPr id="15" name="Shape 13"/>
          <p:cNvSpPr/>
          <p:nvPr/>
        </p:nvSpPr>
        <p:spPr>
          <a:xfrm>
            <a:off x="762000" y="8636000"/>
            <a:ext cx="14732000" cy="25400"/>
          </a:xfrm>
          <a:prstGeom prst="rect">
            <a:avLst/>
          </a:prstGeom>
          <a:solidFill>
            <a:srgbClr val="D97706"/>
          </a:solidFill>
          <a:ln/>
        </p:spPr>
      </p:sp>
      <p:sp>
        <p:nvSpPr>
          <p:cNvPr id="16" name="Text 14"/>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13</a:t>
            </a:r>
            <a:endParaRPr lang="en-US" sz="13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62000" y="2286000"/>
            <a:ext cx="3810000" cy="1524000"/>
          </a:xfrm>
          <a:prstGeom prst="rect">
            <a:avLst/>
          </a:prstGeom>
          <a:noFill/>
          <a:ln/>
        </p:spPr>
        <p:txBody>
          <a:bodyPr wrap="none" lIns="0" tIns="0" rIns="0" bIns="0" rtlCol="0" anchor="ctr"/>
          <a:lstStyle/>
          <a:p>
            <a:pPr>
              <a:lnSpc>
                <a:spcPct val="100000"/>
              </a:lnSpc>
            </a:pPr>
            <a:r>
              <a:rPr lang="en-US" sz="9600" dirty="0">
                <a:solidFill>
                  <a:srgbClr val="D97706"/>
                </a:solidFill>
                <a:latin typeface="Liter" pitchFamily="34" charset="0"/>
                <a:ea typeface="Liter" pitchFamily="34" charset="-122"/>
                <a:cs typeface="Liter" pitchFamily="34" charset="-120"/>
              </a:rPr>
              <a:t>04</a:t>
            </a:r>
            <a:endParaRPr lang="en-US" sz="1600" dirty="0"/>
          </a:p>
        </p:txBody>
      </p:sp>
      <p:sp>
        <p:nvSpPr>
          <p:cNvPr id="3" name="Text 1"/>
          <p:cNvSpPr/>
          <p:nvPr/>
        </p:nvSpPr>
        <p:spPr>
          <a:xfrm>
            <a:off x="762000" y="3937000"/>
            <a:ext cx="11430000" cy="698500"/>
          </a:xfrm>
          <a:prstGeom prst="rect">
            <a:avLst/>
          </a:prstGeom>
          <a:noFill/>
          <a:ln/>
        </p:spPr>
        <p:txBody>
          <a:bodyPr wrap="none" lIns="0" tIns="0" rIns="0" bIns="0" rtlCol="0" anchor="ctr"/>
          <a:lstStyle/>
          <a:p>
            <a:pPr>
              <a:lnSpc>
                <a:spcPct val="100000"/>
              </a:lnSpc>
            </a:pPr>
            <a:r>
              <a:rPr lang="en-US" sz="3800" spc="100" kern="0" dirty="0">
                <a:solidFill>
                  <a:srgbClr val="F1F5F9"/>
                </a:solidFill>
                <a:latin typeface="Liter" pitchFamily="34" charset="0"/>
                <a:ea typeface="Liter" pitchFamily="34" charset="-122"/>
                <a:cs typeface="Liter" pitchFamily="34" charset="-120"/>
              </a:rPr>
              <a:t>BUSINESS MODEL ARCHITECTURE</a:t>
            </a:r>
            <a:endParaRPr lang="en-US" sz="1600" dirty="0"/>
          </a:p>
        </p:txBody>
      </p:sp>
      <p:sp>
        <p:nvSpPr>
          <p:cNvPr id="4" name="Shape 2"/>
          <p:cNvSpPr/>
          <p:nvPr/>
        </p:nvSpPr>
        <p:spPr>
          <a:xfrm>
            <a:off x="762000" y="4826000"/>
            <a:ext cx="1524000" cy="50800"/>
          </a:xfrm>
          <a:prstGeom prst="rect">
            <a:avLst/>
          </a:prstGeom>
          <a:solidFill>
            <a:srgbClr val="D97706"/>
          </a:solidFill>
          <a:ln/>
        </p:spPr>
      </p:sp>
      <p:sp>
        <p:nvSpPr>
          <p:cNvPr id="5" name="Text 3"/>
          <p:cNvSpPr/>
          <p:nvPr/>
        </p:nvSpPr>
        <p:spPr>
          <a:xfrm>
            <a:off x="762000" y="5080000"/>
            <a:ext cx="10160000" cy="444500"/>
          </a:xfrm>
          <a:prstGeom prst="rect">
            <a:avLst/>
          </a:prstGeom>
          <a:noFill/>
          <a:ln/>
        </p:spPr>
        <p:txBody>
          <a:bodyPr wrap="square" lIns="0" tIns="0" rIns="0" bIns="0" rtlCol="0" anchor="ctr"/>
          <a:lstStyle/>
          <a:p>
            <a:pPr>
              <a:lnSpc>
                <a:spcPct val="100000"/>
              </a:lnSpc>
            </a:pPr>
            <a:r>
              <a:rPr lang="en-US" sz="1800" dirty="0">
                <a:solidFill>
                  <a:srgbClr val="475569"/>
                </a:solidFill>
                <a:latin typeface="Quattrocento Sans" pitchFamily="34" charset="0"/>
                <a:ea typeface="Quattrocento Sans" pitchFamily="34" charset="-122"/>
                <a:cs typeface="Quattrocento Sans" pitchFamily="34" charset="-120"/>
              </a:rPr>
              <a:t>The hybrid revenue model, unit economics, and comparative analysis of all options</a:t>
            </a:r>
            <a:endParaRPr lang="en-US" sz="1600" dirty="0"/>
          </a:p>
        </p:txBody>
      </p:sp>
      <p:sp>
        <p:nvSpPr>
          <p:cNvPr id="6" name="Shape 4"/>
          <p:cNvSpPr/>
          <p:nvPr/>
        </p:nvSpPr>
        <p:spPr>
          <a:xfrm>
            <a:off x="15240000" y="0"/>
            <a:ext cx="1016000" cy="9144000"/>
          </a:xfrm>
          <a:prstGeom prst="rect">
            <a:avLst/>
          </a:prstGeom>
          <a:solidFill>
            <a:srgbClr val="D97706">
              <a:alpha val="15000"/>
            </a:srgbClr>
          </a:solidFill>
          <a:ln/>
        </p:spPr>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The Hybrid Model: Three Revenue Pillars</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4699000" cy="3937000"/>
          </a:xfrm>
          <a:prstGeom prst="rect">
            <a:avLst/>
          </a:prstGeom>
          <a:solidFill>
            <a:srgbClr val="1E293B"/>
          </a:solidFill>
          <a:ln/>
        </p:spPr>
      </p:sp>
      <p:sp>
        <p:nvSpPr>
          <p:cNvPr id="5" name="Text 3"/>
          <p:cNvSpPr/>
          <p:nvPr/>
        </p:nvSpPr>
        <p:spPr>
          <a:xfrm>
            <a:off x="952500" y="1397000"/>
            <a:ext cx="635000" cy="508000"/>
          </a:xfrm>
          <a:prstGeom prst="rect">
            <a:avLst/>
          </a:prstGeom>
          <a:noFill/>
          <a:ln/>
        </p:spPr>
        <p:txBody>
          <a:bodyPr wrap="none" lIns="0" tIns="0" rIns="0" bIns="0" rtlCol="0" anchor="ctr"/>
          <a:lstStyle/>
          <a:p>
            <a:pPr>
              <a:lnSpc>
                <a:spcPct val="100000"/>
              </a:lnSpc>
            </a:pPr>
            <a:r>
              <a:rPr lang="en-US" sz="3200" dirty="0">
                <a:solidFill>
                  <a:srgbClr val="D97706"/>
                </a:solidFill>
                <a:latin typeface="Liter" pitchFamily="34" charset="0"/>
                <a:ea typeface="Liter" pitchFamily="34" charset="-122"/>
                <a:cs typeface="Liter" pitchFamily="34" charset="-120"/>
              </a:rPr>
              <a:t>1</a:t>
            </a:r>
            <a:endParaRPr lang="en-US" sz="1600" dirty="0"/>
          </a:p>
        </p:txBody>
      </p:sp>
      <p:sp>
        <p:nvSpPr>
          <p:cNvPr id="6" name="Text 4"/>
          <p:cNvSpPr/>
          <p:nvPr/>
        </p:nvSpPr>
        <p:spPr>
          <a:xfrm>
            <a:off x="952500" y="1968500"/>
            <a:ext cx="4318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ONE-TIME DEPLOYMENT</a:t>
            </a:r>
            <a:endParaRPr lang="en-US" sz="1600" dirty="0"/>
          </a:p>
        </p:txBody>
      </p:sp>
      <p:sp>
        <p:nvSpPr>
          <p:cNvPr id="7" name="Text 5"/>
          <p:cNvSpPr/>
          <p:nvPr/>
        </p:nvSpPr>
        <p:spPr>
          <a:xfrm>
            <a:off x="952500" y="2387600"/>
            <a:ext cx="4318000" cy="444500"/>
          </a:xfrm>
          <a:prstGeom prst="rect">
            <a:avLst/>
          </a:prstGeom>
          <a:noFill/>
          <a:ln/>
        </p:spPr>
        <p:txBody>
          <a:bodyPr wrap="none" lIns="0" tIns="0" rIns="0" bIns="0" rtlCol="0" anchor="ctr"/>
          <a:lstStyle/>
          <a:p>
            <a:pPr>
              <a:lnSpc>
                <a:spcPct val="100000"/>
              </a:lnSpc>
            </a:pPr>
            <a:r>
              <a:rPr lang="en-US" sz="2800" dirty="0">
                <a:solidFill>
                  <a:srgbClr val="F1F5F9"/>
                </a:solidFill>
                <a:latin typeface="Liter" pitchFamily="34" charset="0"/>
                <a:ea typeface="Liter" pitchFamily="34" charset="-122"/>
                <a:cs typeface="Liter" pitchFamily="34" charset="-120"/>
              </a:rPr>
              <a:t>Rs.15-30 Lakh</a:t>
            </a:r>
            <a:endParaRPr lang="en-US" sz="1600" dirty="0"/>
          </a:p>
        </p:txBody>
      </p:sp>
      <p:sp>
        <p:nvSpPr>
          <p:cNvPr id="8" name="Text 6"/>
          <p:cNvSpPr/>
          <p:nvPr/>
        </p:nvSpPr>
        <p:spPr>
          <a:xfrm>
            <a:off x="952500" y="2921000"/>
            <a:ext cx="4318000" cy="2095500"/>
          </a:xfrm>
          <a:prstGeom prst="rect">
            <a:avLst/>
          </a:prstGeom>
          <a:noFill/>
          <a:ln/>
        </p:spPr>
        <p:txBody>
          <a:bodyPr wrap="square" lIns="0" tIns="0" rIns="0" bIns="0" rtlCol="0" anchor="t"/>
          <a:lstStyle/>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Gantry hardware</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Cameras &amp; vision system</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Installation &amp; integration</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LIS connectivity setup</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Initial training</a:t>
            </a:r>
            <a:endParaRPr lang="en-US" sz="1600" dirty="0"/>
          </a:p>
          <a:p>
            <a:pPr>
              <a:lnSpc>
                <a:spcPct val="150000"/>
              </a:lnSpc>
              <a:spcBef>
                <a:spcPts val="800"/>
              </a:spcBef>
            </a:pPr>
            <a:r>
              <a:rPr lang="en-US" sz="1400" i="1" dirty="0">
                <a:solidFill>
                  <a:srgbClr val="F1F5F9"/>
                </a:solidFill>
                <a:latin typeface="Quattrocento Sans" pitchFamily="34" charset="0"/>
                <a:ea typeface="Quattrocento Sans" pitchFamily="34" charset="-122"/>
                <a:cs typeface="Quattrocento Sans" pitchFamily="34" charset="-120"/>
              </a:rPr>
              <a:t>This is your initial revenue</a:t>
            </a:r>
            <a:endParaRPr lang="en-US" sz="1600" dirty="0"/>
          </a:p>
        </p:txBody>
      </p:sp>
      <p:sp>
        <p:nvSpPr>
          <p:cNvPr id="9" name="Shape 7"/>
          <p:cNvSpPr/>
          <p:nvPr/>
        </p:nvSpPr>
        <p:spPr>
          <a:xfrm>
            <a:off x="5715000" y="1270000"/>
            <a:ext cx="4699000" cy="3937000"/>
          </a:xfrm>
          <a:prstGeom prst="rect">
            <a:avLst/>
          </a:prstGeom>
          <a:solidFill>
            <a:srgbClr val="F1F5F9"/>
          </a:solidFill>
          <a:ln w="12700">
            <a:solidFill>
              <a:srgbClr val="E2E8F0"/>
            </a:solidFill>
            <a:prstDash val="solid"/>
          </a:ln>
        </p:spPr>
      </p:sp>
      <p:sp>
        <p:nvSpPr>
          <p:cNvPr id="10" name="Text 8"/>
          <p:cNvSpPr/>
          <p:nvPr/>
        </p:nvSpPr>
        <p:spPr>
          <a:xfrm>
            <a:off x="5905500" y="1397000"/>
            <a:ext cx="635000" cy="508000"/>
          </a:xfrm>
          <a:prstGeom prst="rect">
            <a:avLst/>
          </a:prstGeom>
          <a:noFill/>
          <a:ln/>
        </p:spPr>
        <p:txBody>
          <a:bodyPr wrap="none" lIns="0" tIns="0" rIns="0" bIns="0" rtlCol="0" anchor="ctr"/>
          <a:lstStyle/>
          <a:p>
            <a:pPr>
              <a:lnSpc>
                <a:spcPct val="100000"/>
              </a:lnSpc>
            </a:pPr>
            <a:r>
              <a:rPr lang="en-US" sz="3200" dirty="0">
                <a:solidFill>
                  <a:srgbClr val="D97706"/>
                </a:solidFill>
                <a:latin typeface="Liter" pitchFamily="34" charset="0"/>
                <a:ea typeface="Liter" pitchFamily="34" charset="-122"/>
                <a:cs typeface="Liter" pitchFamily="34" charset="-120"/>
              </a:rPr>
              <a:t>2</a:t>
            </a:r>
            <a:endParaRPr lang="en-US" sz="1600" dirty="0"/>
          </a:p>
        </p:txBody>
      </p:sp>
      <p:sp>
        <p:nvSpPr>
          <p:cNvPr id="11" name="Text 9"/>
          <p:cNvSpPr/>
          <p:nvPr/>
        </p:nvSpPr>
        <p:spPr>
          <a:xfrm>
            <a:off x="5905500" y="1968500"/>
            <a:ext cx="4318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SOFTWARE SUBSCRIPTION</a:t>
            </a:r>
            <a:endParaRPr lang="en-US" sz="1600" dirty="0"/>
          </a:p>
        </p:txBody>
      </p:sp>
      <p:sp>
        <p:nvSpPr>
          <p:cNvPr id="12" name="Text 10"/>
          <p:cNvSpPr/>
          <p:nvPr/>
        </p:nvSpPr>
        <p:spPr>
          <a:xfrm>
            <a:off x="5905500" y="2387600"/>
            <a:ext cx="4318000" cy="444500"/>
          </a:xfrm>
          <a:prstGeom prst="rect">
            <a:avLst/>
          </a:prstGeom>
          <a:noFill/>
          <a:ln/>
        </p:spPr>
        <p:txBody>
          <a:bodyPr wrap="none" lIns="0" tIns="0" rIns="0" bIns="0" rtlCol="0" anchor="ctr"/>
          <a:lstStyle/>
          <a:p>
            <a:pPr>
              <a:lnSpc>
                <a:spcPct val="100000"/>
              </a:lnSpc>
            </a:pPr>
            <a:r>
              <a:rPr lang="en-US" sz="2800" dirty="0">
                <a:solidFill>
                  <a:srgbClr val="1E293B"/>
                </a:solidFill>
                <a:latin typeface="Liter" pitchFamily="34" charset="0"/>
                <a:ea typeface="Liter" pitchFamily="34" charset="-122"/>
                <a:cs typeface="Liter" pitchFamily="34" charset="-120"/>
              </a:rPr>
              <a:t>Rs.50K-2L/month</a:t>
            </a:r>
            <a:endParaRPr lang="en-US" sz="1600" dirty="0"/>
          </a:p>
        </p:txBody>
      </p:sp>
      <p:sp>
        <p:nvSpPr>
          <p:cNvPr id="13" name="Text 11"/>
          <p:cNvSpPr/>
          <p:nvPr/>
        </p:nvSpPr>
        <p:spPr>
          <a:xfrm>
            <a:off x="5905500" y="2921000"/>
            <a:ext cx="4318000" cy="2095500"/>
          </a:xfrm>
          <a:prstGeom prst="rect">
            <a:avLst/>
          </a:prstGeom>
          <a:noFill/>
          <a:ln/>
        </p:spPr>
        <p:txBody>
          <a:bodyPr wrap="square" lIns="0" tIns="0" rIns="0" bIns="0" rtlCol="0" anchor="t"/>
          <a:lstStyle/>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VLA model updates</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Workflow improvements</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Analytics dashboards</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Monitoring &amp; alerts</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Remote support</a:t>
            </a:r>
            <a:endParaRPr lang="en-US" sz="1600" dirty="0"/>
          </a:p>
          <a:p>
            <a:pPr>
              <a:lnSpc>
                <a:spcPct val="150000"/>
              </a:lnSpc>
              <a:spcBef>
                <a:spcPts val="800"/>
              </a:spcBef>
            </a:pPr>
            <a:r>
              <a:rPr lang="en-US" sz="1400" i="1" dirty="0">
                <a:solidFill>
                  <a:srgbClr val="1E293B"/>
                </a:solidFill>
                <a:latin typeface="Quattrocento Sans" pitchFamily="34" charset="0"/>
                <a:ea typeface="Quattrocento Sans" pitchFamily="34" charset="-122"/>
                <a:cs typeface="Quattrocento Sans" pitchFamily="34" charset="-120"/>
              </a:rPr>
              <a:t>Predictable recurring revenue</a:t>
            </a:r>
            <a:endParaRPr lang="en-US" sz="1600" dirty="0"/>
          </a:p>
        </p:txBody>
      </p:sp>
      <p:sp>
        <p:nvSpPr>
          <p:cNvPr id="14" name="Shape 12"/>
          <p:cNvSpPr/>
          <p:nvPr/>
        </p:nvSpPr>
        <p:spPr>
          <a:xfrm>
            <a:off x="10668000" y="1270000"/>
            <a:ext cx="4826000" cy="3937000"/>
          </a:xfrm>
          <a:prstGeom prst="rect">
            <a:avLst/>
          </a:prstGeom>
          <a:solidFill>
            <a:srgbClr val="F1F5F9"/>
          </a:solidFill>
          <a:ln w="12700">
            <a:solidFill>
              <a:srgbClr val="E2E8F0"/>
            </a:solidFill>
            <a:prstDash val="solid"/>
          </a:ln>
        </p:spPr>
      </p:sp>
      <p:sp>
        <p:nvSpPr>
          <p:cNvPr id="15" name="Text 13"/>
          <p:cNvSpPr/>
          <p:nvPr/>
        </p:nvSpPr>
        <p:spPr>
          <a:xfrm>
            <a:off x="10858500" y="1397000"/>
            <a:ext cx="635000" cy="508000"/>
          </a:xfrm>
          <a:prstGeom prst="rect">
            <a:avLst/>
          </a:prstGeom>
          <a:noFill/>
          <a:ln/>
        </p:spPr>
        <p:txBody>
          <a:bodyPr wrap="none" lIns="0" tIns="0" rIns="0" bIns="0" rtlCol="0" anchor="ctr"/>
          <a:lstStyle/>
          <a:p>
            <a:pPr>
              <a:lnSpc>
                <a:spcPct val="100000"/>
              </a:lnSpc>
            </a:pPr>
            <a:r>
              <a:rPr lang="en-US" sz="3200" dirty="0">
                <a:solidFill>
                  <a:srgbClr val="D97706"/>
                </a:solidFill>
                <a:latin typeface="Liter" pitchFamily="34" charset="0"/>
                <a:ea typeface="Liter" pitchFamily="34" charset="-122"/>
                <a:cs typeface="Liter" pitchFamily="34" charset="-120"/>
              </a:rPr>
              <a:t>3</a:t>
            </a:r>
            <a:endParaRPr lang="en-US" sz="1600" dirty="0"/>
          </a:p>
        </p:txBody>
      </p:sp>
      <p:sp>
        <p:nvSpPr>
          <p:cNvPr id="16" name="Text 14"/>
          <p:cNvSpPr/>
          <p:nvPr/>
        </p:nvSpPr>
        <p:spPr>
          <a:xfrm>
            <a:off x="10858500" y="1968500"/>
            <a:ext cx="4445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SERVICE &amp; SUPPORT</a:t>
            </a:r>
            <a:endParaRPr lang="en-US" sz="1600" dirty="0"/>
          </a:p>
        </p:txBody>
      </p:sp>
      <p:sp>
        <p:nvSpPr>
          <p:cNvPr id="17" name="Text 15"/>
          <p:cNvSpPr/>
          <p:nvPr/>
        </p:nvSpPr>
        <p:spPr>
          <a:xfrm>
            <a:off x="10858500" y="2387600"/>
            <a:ext cx="4445000" cy="444500"/>
          </a:xfrm>
          <a:prstGeom prst="rect">
            <a:avLst/>
          </a:prstGeom>
          <a:noFill/>
          <a:ln/>
        </p:spPr>
        <p:txBody>
          <a:bodyPr wrap="none" lIns="0" tIns="0" rIns="0" bIns="0" rtlCol="0" anchor="ctr"/>
          <a:lstStyle/>
          <a:p>
            <a:pPr>
              <a:lnSpc>
                <a:spcPct val="100000"/>
              </a:lnSpc>
            </a:pPr>
            <a:r>
              <a:rPr lang="en-US" sz="2400" dirty="0">
                <a:solidFill>
                  <a:srgbClr val="1E293B"/>
                </a:solidFill>
                <a:latin typeface="Liter" pitchFamily="34" charset="0"/>
                <a:ea typeface="Liter" pitchFamily="34" charset="-122"/>
                <a:cs typeface="Liter" pitchFamily="34" charset="-120"/>
              </a:rPr>
              <a:t>Annual Tiers</a:t>
            </a:r>
            <a:endParaRPr lang="en-US" sz="1600" dirty="0"/>
          </a:p>
        </p:txBody>
      </p:sp>
      <p:sp>
        <p:nvSpPr>
          <p:cNvPr id="18" name="Text 16"/>
          <p:cNvSpPr/>
          <p:nvPr/>
        </p:nvSpPr>
        <p:spPr>
          <a:xfrm>
            <a:off x="10858500" y="2921000"/>
            <a:ext cx="4445000" cy="2095500"/>
          </a:xfrm>
          <a:prstGeom prst="rect">
            <a:avLst/>
          </a:prstGeom>
          <a:noFill/>
          <a:ln/>
        </p:spPr>
        <p:txBody>
          <a:bodyPr wrap="square" lIns="0" tIns="0" rIns="0" bIns="0" rtlCol="0" anchor="t"/>
          <a:lstStyle/>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Basic: Business-hours support</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Premium: 24/7 support</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Enterprise: Dedicated engineer + fast response</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PM kits &amp; wear parts</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Workflow packs</a:t>
            </a:r>
            <a:endParaRPr lang="en-US" sz="1600" dirty="0"/>
          </a:p>
        </p:txBody>
      </p:sp>
      <p:sp>
        <p:nvSpPr>
          <p:cNvPr id="19" name="Shape 17"/>
          <p:cNvSpPr/>
          <p:nvPr/>
        </p:nvSpPr>
        <p:spPr>
          <a:xfrm>
            <a:off x="762000" y="5461000"/>
            <a:ext cx="14732000" cy="1651000"/>
          </a:xfrm>
          <a:prstGeom prst="rect">
            <a:avLst/>
          </a:prstGeom>
          <a:solidFill>
            <a:srgbClr val="FEF3C7"/>
          </a:solidFill>
          <a:ln w="12700">
            <a:solidFill>
              <a:srgbClr val="FCD34D"/>
            </a:solidFill>
            <a:prstDash val="solid"/>
          </a:ln>
        </p:spPr>
      </p:sp>
      <p:sp>
        <p:nvSpPr>
          <p:cNvPr id="20" name="Shape 18"/>
          <p:cNvSpPr/>
          <p:nvPr/>
        </p:nvSpPr>
        <p:spPr>
          <a:xfrm>
            <a:off x="990600" y="5905500"/>
            <a:ext cx="457200" cy="406400"/>
          </a:xfrm>
          <a:custGeom>
            <a:avLst/>
            <a:gdLst/>
            <a:ahLst/>
            <a:cxnLst/>
            <a:rect l="l" t="t" r="r" b="b"/>
            <a:pathLst>
              <a:path w="457200" h="406400">
                <a:moveTo>
                  <a:pt x="406718" y="190500"/>
                </a:moveTo>
                <a:lnTo>
                  <a:pt x="267017" y="190500"/>
                </a:lnTo>
                <a:cubicBezTo>
                  <a:pt x="252968" y="190500"/>
                  <a:pt x="241618" y="179149"/>
                  <a:pt x="241618" y="165100"/>
                </a:cubicBezTo>
                <a:lnTo>
                  <a:pt x="241618" y="25400"/>
                </a:lnTo>
                <a:cubicBezTo>
                  <a:pt x="241618" y="11351"/>
                  <a:pt x="253047" y="-159"/>
                  <a:pt x="266938" y="1667"/>
                </a:cubicBezTo>
                <a:cubicBezTo>
                  <a:pt x="351869" y="12938"/>
                  <a:pt x="419179" y="80248"/>
                  <a:pt x="430451" y="165179"/>
                </a:cubicBezTo>
                <a:cubicBezTo>
                  <a:pt x="432276" y="179070"/>
                  <a:pt x="420767" y="190500"/>
                  <a:pt x="406718" y="190500"/>
                </a:cubicBezTo>
                <a:close/>
                <a:moveTo>
                  <a:pt x="176689" y="29528"/>
                </a:moveTo>
                <a:cubicBezTo>
                  <a:pt x="191056" y="26511"/>
                  <a:pt x="203518" y="38259"/>
                  <a:pt x="203518" y="52943"/>
                </a:cubicBezTo>
                <a:lnTo>
                  <a:pt x="203518" y="209550"/>
                </a:lnTo>
                <a:cubicBezTo>
                  <a:pt x="203518" y="213995"/>
                  <a:pt x="205105" y="218281"/>
                  <a:pt x="207883" y="221694"/>
                </a:cubicBezTo>
                <a:lnTo>
                  <a:pt x="312738" y="348218"/>
                </a:lnTo>
                <a:cubicBezTo>
                  <a:pt x="322024" y="359410"/>
                  <a:pt x="320040" y="376317"/>
                  <a:pt x="307261" y="383223"/>
                </a:cubicBezTo>
                <a:cubicBezTo>
                  <a:pt x="280194" y="397986"/>
                  <a:pt x="249158" y="406400"/>
                  <a:pt x="216218" y="406400"/>
                </a:cubicBezTo>
                <a:cubicBezTo>
                  <a:pt x="111046" y="406400"/>
                  <a:pt x="25718" y="321072"/>
                  <a:pt x="25718" y="215900"/>
                </a:cubicBezTo>
                <a:cubicBezTo>
                  <a:pt x="25718" y="124222"/>
                  <a:pt x="90408" y="47704"/>
                  <a:pt x="176689" y="29527"/>
                </a:cubicBezTo>
                <a:close/>
                <a:moveTo>
                  <a:pt x="379254" y="228600"/>
                </a:moveTo>
                <a:lnTo>
                  <a:pt x="430054" y="228600"/>
                </a:lnTo>
                <a:cubicBezTo>
                  <a:pt x="444738" y="228600"/>
                  <a:pt x="456486" y="241062"/>
                  <a:pt x="453469" y="255429"/>
                </a:cubicBezTo>
                <a:cubicBezTo>
                  <a:pt x="445373" y="293846"/>
                  <a:pt x="425688" y="327978"/>
                  <a:pt x="398224" y="354013"/>
                </a:cubicBezTo>
                <a:cubicBezTo>
                  <a:pt x="388461" y="363299"/>
                  <a:pt x="373142" y="361315"/>
                  <a:pt x="364569" y="350917"/>
                </a:cubicBezTo>
                <a:lnTo>
                  <a:pt x="297577" y="270193"/>
                </a:lnTo>
                <a:cubicBezTo>
                  <a:pt x="283845" y="253603"/>
                  <a:pt x="295672" y="228600"/>
                  <a:pt x="317103" y="228600"/>
                </a:cubicBezTo>
                <a:lnTo>
                  <a:pt x="379174" y="228600"/>
                </a:lnTo>
                <a:close/>
              </a:path>
            </a:pathLst>
          </a:custGeom>
          <a:solidFill>
            <a:srgbClr val="D97706"/>
          </a:solidFill>
          <a:ln/>
        </p:spPr>
      </p:sp>
      <p:sp>
        <p:nvSpPr>
          <p:cNvPr id="21" name="Text 19"/>
          <p:cNvSpPr/>
          <p:nvPr/>
        </p:nvSpPr>
        <p:spPr>
          <a:xfrm>
            <a:off x="1587500" y="5588000"/>
            <a:ext cx="13652500" cy="1397000"/>
          </a:xfrm>
          <a:prstGeom prst="rect">
            <a:avLst/>
          </a:prstGeom>
          <a:noFill/>
          <a:ln/>
        </p:spPr>
        <p:txBody>
          <a:bodyPr wrap="square" lIns="0" tIns="0" rIns="0" bIns="0" rtlCol="0" anchor="ctr"/>
          <a:lstStyle/>
          <a:p>
            <a:pPr>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Why the hybrid model wins:</a:t>
            </a:r>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 Hardware alone does not compound fast enough. A hybrid model creates </a:t>
            </a:r>
            <a:pPr>
              <a:lnSpc>
                <a:spcPct val="150000"/>
              </a:lnSpc>
            </a:pPr>
            <a:r>
              <a:rPr lang="en-US" sz="1600" b="1" dirty="0">
                <a:solidFill>
                  <a:srgbClr val="D97706"/>
                </a:solidFill>
                <a:latin typeface="Quattrocento Sans" pitchFamily="34" charset="0"/>
                <a:ea typeface="Quattrocento Sans" pitchFamily="34" charset="-122"/>
                <a:cs typeface="Quattrocento Sans" pitchFamily="34" charset="-120"/>
              </a:rPr>
              <a:t>three assets simultaneously</a:t>
            </a:r>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 deployment revenue, recurring software and support, and field data that later justifies workflow libraries, exception-prediction features, and licensing conversations. Opentrons and Automata both show how modern automation companies accumulate value above the hardware layer.</a:t>
            </a:r>
            <a:endParaRPr lang="en-US" sz="1600" dirty="0"/>
          </a:p>
        </p:txBody>
      </p:sp>
      <p:sp>
        <p:nvSpPr>
          <p:cNvPr id="22" name="Shape 20"/>
          <p:cNvSpPr/>
          <p:nvPr/>
        </p:nvSpPr>
        <p:spPr>
          <a:xfrm>
            <a:off x="762000" y="8636000"/>
            <a:ext cx="14732000" cy="25400"/>
          </a:xfrm>
          <a:prstGeom prst="rect">
            <a:avLst/>
          </a:prstGeom>
          <a:solidFill>
            <a:srgbClr val="D97706"/>
          </a:solidFill>
          <a:ln/>
        </p:spPr>
      </p:sp>
      <p:sp>
        <p:nvSpPr>
          <p:cNvPr id="23" name="Text 21"/>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15</a:t>
            </a:r>
            <a:endParaRPr lang="en-US" sz="13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270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Unit Economics: Direct Cost Stack Per Deployed Cell</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143000"/>
            <a:ext cx="7620000" cy="279400"/>
          </a:xfrm>
          <a:prstGeom prst="rect">
            <a:avLst/>
          </a:prstGeom>
          <a:noFill/>
          <a:ln/>
        </p:spPr>
        <p:txBody>
          <a:bodyPr wrap="none" lIns="0" tIns="0" rIns="0" bIns="0" rtlCol="0" anchor="ctr"/>
          <a:lstStyle/>
          <a:p>
            <a:pPr>
              <a:lnSpc>
                <a:spcPct val="100000"/>
              </a:lnSpc>
            </a:pPr>
            <a:r>
              <a:rPr lang="en-US" sz="1300" dirty="0">
                <a:solidFill>
                  <a:srgbClr val="475569"/>
                </a:solidFill>
                <a:latin typeface="Quattrocento Sans" pitchFamily="34" charset="0"/>
                <a:ea typeface="Quattrocento Sans" pitchFamily="34" charset="-122"/>
                <a:cs typeface="Quattrocento Sans" pitchFamily="34" charset="-120"/>
              </a:rPr>
              <a:t>EXPLICIT AUTHOR MODEL - ANCHORED TO PUBLIC COMPARABLES, NOT VENDOR QUOTES</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62000" y="1524000"/>
          <a:ext cx="8890000" cy="3302000"/>
        </p:xfrm>
        <a:graphic>
          <a:graphicData uri="http://schemas.openxmlformats.org/drawingml/2006/table">
            <a:tbl>
              <a:tblPr/>
              <a:tblGrid>
                <a:gridCol w="4889500"/>
                <a:gridCol w="4000500"/>
              </a:tblGrid>
              <a:tr h="455448">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Cost Component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Indicative Range (INR)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56931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Industrial BOM (motion, structure, vision, controls, safety)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Rs.9 lakh - Rs.13 lakh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6931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Assembly, calibration, factory testing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Rs.1.5 lakh - Rs.2.5 lakh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56931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Installation, FAT/SAT, IQ/OQ validation, training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Rs.1.5 lakh - Rs.3 lakh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6931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First-year spare and field-service reserve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 lakh - Rs.2.5 lakh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569310">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TOTAL DIRECT COST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Rs.12 lakh - Rs.18 lakh</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762000" y="5080000"/>
            <a:ext cx="8890000" cy="762000"/>
          </a:xfrm>
          <a:prstGeom prst="rect">
            <a:avLst/>
          </a:prstGeom>
          <a:solidFill>
            <a:srgbClr val="F1F5F9"/>
          </a:solidFill>
          <a:ln w="12700">
            <a:solidFill>
              <a:srgbClr val="E2E8F0"/>
            </a:solidFill>
            <a:prstDash val="solid"/>
          </a:ln>
        </p:spPr>
      </p:sp>
      <p:sp>
        <p:nvSpPr>
          <p:cNvPr id="7" name="Text 4"/>
          <p:cNvSpPr/>
          <p:nvPr/>
        </p:nvSpPr>
        <p:spPr>
          <a:xfrm>
            <a:off x="952500" y="5143500"/>
            <a:ext cx="8509000" cy="635000"/>
          </a:xfrm>
          <a:prstGeom prst="rect">
            <a:avLst/>
          </a:prstGeom>
          <a:noFill/>
          <a:ln/>
        </p:spPr>
        <p:txBody>
          <a:bodyPr wrap="square" lIns="0" tIns="0" rIns="0" bIns="0" rtlCol="0" anchor="ctr"/>
          <a:lstStyle/>
          <a:p>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Ongoing software, cloud, monitoring, support: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Rs.0.1-0.4 lakh/month (depends on edge vs cloud inference split)</a:t>
            </a:r>
            <a:endParaRPr lang="en-US" sz="1600" dirty="0"/>
          </a:p>
        </p:txBody>
      </p:sp>
      <p:sp>
        <p:nvSpPr>
          <p:cNvPr id="8" name="Text 5"/>
          <p:cNvSpPr/>
          <p:nvPr/>
        </p:nvSpPr>
        <p:spPr>
          <a:xfrm>
            <a:off x="10160000" y="1524000"/>
            <a:ext cx="5334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ECONOMIC VALUE MODEL</a:t>
            </a:r>
            <a:endParaRPr lang="en-US" sz="1600" dirty="0"/>
          </a:p>
        </p:txBody>
      </p:sp>
      <p:sp>
        <p:nvSpPr>
          <p:cNvPr id="9" name="Shape 6"/>
          <p:cNvSpPr/>
          <p:nvPr/>
        </p:nvSpPr>
        <p:spPr>
          <a:xfrm>
            <a:off x="10160000" y="1968500"/>
            <a:ext cx="5334000" cy="2857500"/>
          </a:xfrm>
          <a:prstGeom prst="rect">
            <a:avLst/>
          </a:prstGeom>
          <a:solidFill>
            <a:srgbClr val="1E293B"/>
          </a:solidFill>
          <a:ln/>
        </p:spPr>
      </p:sp>
      <p:sp>
        <p:nvSpPr>
          <p:cNvPr id="10" name="Text 7"/>
          <p:cNvSpPr/>
          <p:nvPr/>
        </p:nvSpPr>
        <p:spPr>
          <a:xfrm>
            <a:off x="10350500" y="2095500"/>
            <a:ext cx="4953000" cy="2603500"/>
          </a:xfrm>
          <a:prstGeom prst="rect">
            <a:avLst/>
          </a:prstGeom>
          <a:noFill/>
          <a:ln/>
        </p:spPr>
        <p:txBody>
          <a:bodyPr wrap="square" lIns="0" tIns="0" rIns="0" bIns="0" rtlCol="0" anchor="t"/>
          <a:lstStyle/>
          <a:p>
            <a:pPr>
              <a:lnSpc>
                <a:spcPct val="140000"/>
              </a:lnSpc>
            </a:pPr>
            <a:r>
              <a:rPr lang="en-US" sz="1300" dirty="0">
                <a:solidFill>
                  <a:srgbClr val="F1F5F9"/>
                </a:solidFill>
                <a:latin typeface="Quattrocento Sans" pitchFamily="34" charset="0"/>
                <a:ea typeface="Quattrocento Sans" pitchFamily="34" charset="-122"/>
                <a:cs typeface="Quattrocento Sans" pitchFamily="34" charset="-120"/>
              </a:rPr>
              <a:t>The main economic win is </a:t>
            </a:r>
            <a:pPr>
              <a:lnSpc>
                <a:spcPct val="140000"/>
              </a:lnSpc>
            </a:pPr>
            <a:r>
              <a:rPr lang="en-US" sz="1300" b="1" dirty="0">
                <a:solidFill>
                  <a:srgbClr val="F1F5F9"/>
                </a:solidFill>
                <a:latin typeface="Quattrocento Sans" pitchFamily="34" charset="0"/>
                <a:ea typeface="Quattrocento Sans" pitchFamily="34" charset="-122"/>
                <a:cs typeface="Quattrocento Sans" pitchFamily="34" charset="-120"/>
              </a:rPr>
              <a:t>NOT reagent margin</a:t>
            </a:r>
            <a:pPr>
              <a:lnSpc>
                <a:spcPct val="140000"/>
              </a:lnSpc>
            </a:pPr>
            <a:r>
              <a:rPr lang="en-US" sz="1300" dirty="0">
                <a:solidFill>
                  <a:srgbClr val="F1F5F9"/>
                </a:solidFill>
                <a:latin typeface="Quattrocento Sans" pitchFamily="34" charset="0"/>
                <a:ea typeface="Quattrocento Sans" pitchFamily="34" charset="-122"/>
                <a:cs typeface="Quattrocento Sans" pitchFamily="34" charset="-120"/>
              </a:rPr>
              <a:t> but a combination of:</a:t>
            </a:r>
            <a:endParaRPr lang="en-US" sz="1600" dirty="0"/>
          </a:p>
          <a:p>
            <a:pPr>
              <a:lnSpc>
                <a:spcPct val="140000"/>
              </a:lnSpc>
              <a:spcBef>
                <a:spcPts val="400"/>
              </a:spcBef>
            </a:pPr>
            <a:r>
              <a:rPr lang="en-US" sz="1300" dirty="0">
                <a:solidFill>
                  <a:srgbClr val="D97706"/>
                </a:solidFill>
                <a:latin typeface="Quattrocento Sans" pitchFamily="34" charset="0"/>
                <a:ea typeface="Quattrocento Sans" pitchFamily="34" charset="-122"/>
                <a:cs typeface="Quattrocento Sans" pitchFamily="34" charset="-120"/>
              </a:rPr>
              <a:t>▶</a:t>
            </a:r>
            <a:pPr>
              <a:lnSpc>
                <a:spcPct val="140000"/>
              </a:lnSpc>
              <a:spcBef>
                <a:spcPts val="400"/>
              </a:spcBef>
            </a:pPr>
            <a:r>
              <a:rPr lang="en-US" sz="1300" dirty="0">
                <a:solidFill>
                  <a:srgbClr val="F1F5F9"/>
                </a:solidFill>
                <a:latin typeface="Quattrocento Sans" pitchFamily="34" charset="0"/>
                <a:ea typeface="Quattrocento Sans" pitchFamily="34" charset="-122"/>
                <a:cs typeface="Quattrocento Sans" pitchFamily="34" charset="-120"/>
              </a:rPr>
              <a:t> Fewer manual touches</a:t>
            </a:r>
            <a:endParaRPr lang="en-US" sz="1600" dirty="0"/>
          </a:p>
          <a:p>
            <a:pPr>
              <a:lnSpc>
                <a:spcPct val="140000"/>
              </a:lnSpc>
            </a:pPr>
            <a:r>
              <a:rPr lang="en-US" sz="1300" dirty="0">
                <a:solidFill>
                  <a:srgbClr val="D97706"/>
                </a:solidFill>
                <a:latin typeface="Quattrocento Sans" pitchFamily="34" charset="0"/>
                <a:ea typeface="Quattrocento Sans" pitchFamily="34" charset="-122"/>
                <a:cs typeface="Quattrocento Sans" pitchFamily="34" charset="-120"/>
              </a:rPr>
              <a:t>▶</a:t>
            </a:r>
            <a:pPr>
              <a:lnSpc>
                <a:spcPct val="140000"/>
              </a:lnSpc>
            </a:pPr>
            <a:r>
              <a:rPr lang="en-US" sz="1300" dirty="0">
                <a:solidFill>
                  <a:srgbClr val="F1F5F9"/>
                </a:solidFill>
                <a:latin typeface="Quattrocento Sans" pitchFamily="34" charset="0"/>
                <a:ea typeface="Quattrocento Sans" pitchFamily="34" charset="-122"/>
                <a:cs typeface="Quattrocento Sans" pitchFamily="34" charset="-120"/>
              </a:rPr>
              <a:t> Lower error/rerun burden</a:t>
            </a:r>
            <a:endParaRPr lang="en-US" sz="1600" dirty="0"/>
          </a:p>
          <a:p>
            <a:pPr>
              <a:lnSpc>
                <a:spcPct val="140000"/>
              </a:lnSpc>
            </a:pPr>
            <a:r>
              <a:rPr lang="en-US" sz="1300" dirty="0">
                <a:solidFill>
                  <a:srgbClr val="D97706"/>
                </a:solidFill>
                <a:latin typeface="Quattrocento Sans" pitchFamily="34" charset="0"/>
                <a:ea typeface="Quattrocento Sans" pitchFamily="34" charset="-122"/>
                <a:cs typeface="Quattrocento Sans" pitchFamily="34" charset="-120"/>
              </a:rPr>
              <a:t>▶</a:t>
            </a:r>
            <a:pPr>
              <a:lnSpc>
                <a:spcPct val="140000"/>
              </a:lnSpc>
            </a:pPr>
            <a:r>
              <a:rPr lang="en-US" sz="1300" dirty="0">
                <a:solidFill>
                  <a:srgbClr val="F1F5F9"/>
                </a:solidFill>
                <a:latin typeface="Quattrocento Sans" pitchFamily="34" charset="0"/>
                <a:ea typeface="Quattrocento Sans" pitchFamily="34" charset="-122"/>
                <a:cs typeface="Quattrocento Sans" pitchFamily="34" charset="-120"/>
              </a:rPr>
              <a:t> Throughput elasticity</a:t>
            </a:r>
            <a:endParaRPr lang="en-US" sz="1600" dirty="0"/>
          </a:p>
          <a:p>
            <a:pPr>
              <a:lnSpc>
                <a:spcPct val="140000"/>
              </a:lnSpc>
            </a:pPr>
            <a:r>
              <a:rPr lang="en-US" sz="1300" dirty="0">
                <a:solidFill>
                  <a:srgbClr val="D97706"/>
                </a:solidFill>
                <a:latin typeface="Quattrocento Sans" pitchFamily="34" charset="0"/>
                <a:ea typeface="Quattrocento Sans" pitchFamily="34" charset="-122"/>
                <a:cs typeface="Quattrocento Sans" pitchFamily="34" charset="-120"/>
              </a:rPr>
              <a:t>▶</a:t>
            </a:r>
            <a:pPr>
              <a:lnSpc>
                <a:spcPct val="140000"/>
              </a:lnSpc>
            </a:pPr>
            <a:r>
              <a:rPr lang="en-US" sz="1300" dirty="0">
                <a:solidFill>
                  <a:srgbClr val="F1F5F9"/>
                </a:solidFill>
                <a:latin typeface="Quattrocento Sans" pitchFamily="34" charset="0"/>
                <a:ea typeface="Quattrocento Sans" pitchFamily="34" charset="-122"/>
                <a:cs typeface="Quattrocento Sans" pitchFamily="34" charset="-120"/>
              </a:rPr>
              <a:t> Better bench utilization</a:t>
            </a:r>
            <a:endParaRPr lang="en-US" sz="1600" dirty="0"/>
          </a:p>
          <a:p>
            <a:pPr>
              <a:lnSpc>
                <a:spcPct val="140000"/>
              </a:lnSpc>
              <a:spcBef>
                <a:spcPts val="400"/>
              </a:spcBef>
            </a:pPr>
            <a:r>
              <a:rPr lang="en-US" sz="1300" i="1" dirty="0">
                <a:solidFill>
                  <a:srgbClr val="F1F5F9"/>
                </a:solidFill>
                <a:latin typeface="Quattrocento Sans" pitchFamily="34" charset="0"/>
                <a:ea typeface="Quattrocento Sans" pitchFamily="34" charset="-122"/>
                <a:cs typeface="Quattrocento Sans" pitchFamily="34" charset="-120"/>
              </a:rPr>
              <a:t>Unlike analyzer vendors, we don't control test chemistry or assay menus.</a:t>
            </a:r>
            <a:endParaRPr lang="en-US" sz="1600" dirty="0"/>
          </a:p>
        </p:txBody>
      </p:sp>
      <p:sp>
        <p:nvSpPr>
          <p:cNvPr id="11" name="Text 8"/>
          <p:cNvSpPr/>
          <p:nvPr/>
        </p:nvSpPr>
        <p:spPr>
          <a:xfrm>
            <a:off x="10160000" y="5080000"/>
            <a:ext cx="5334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DEPLOYMENT OPTIONS</a:t>
            </a:r>
            <a:endParaRPr lang="en-US" sz="1600" dirty="0"/>
          </a:p>
        </p:txBody>
      </p:sp>
      <p:sp>
        <p:nvSpPr>
          <p:cNvPr id="12" name="Shape 9"/>
          <p:cNvSpPr/>
          <p:nvPr/>
        </p:nvSpPr>
        <p:spPr>
          <a:xfrm>
            <a:off x="10160000" y="5524500"/>
            <a:ext cx="2540000" cy="1397000"/>
          </a:xfrm>
          <a:prstGeom prst="rect">
            <a:avLst/>
          </a:prstGeom>
          <a:solidFill>
            <a:srgbClr val="F1F5F9"/>
          </a:solidFill>
          <a:ln w="12700">
            <a:solidFill>
              <a:srgbClr val="E2E8F0"/>
            </a:solidFill>
            <a:prstDash val="solid"/>
          </a:ln>
        </p:spPr>
      </p:sp>
      <p:sp>
        <p:nvSpPr>
          <p:cNvPr id="13" name="Text 10"/>
          <p:cNvSpPr/>
          <p:nvPr/>
        </p:nvSpPr>
        <p:spPr>
          <a:xfrm>
            <a:off x="10287000" y="5613400"/>
            <a:ext cx="2286000" cy="279400"/>
          </a:xfrm>
          <a:prstGeom prst="rect">
            <a:avLst/>
          </a:prstGeom>
          <a:noFill/>
          <a:ln/>
        </p:spPr>
        <p:txBody>
          <a:bodyPr wrap="none" lIns="0" tIns="0" rIns="0" bIns="0" rtlCol="0" anchor="ctr"/>
          <a:lstStyle/>
          <a:p>
            <a:pPr>
              <a:lnSpc>
                <a:spcPct val="100000"/>
              </a:lnSpc>
            </a:pPr>
            <a:r>
              <a:rPr lang="en-US" sz="1400" dirty="0">
                <a:solidFill>
                  <a:srgbClr val="1E293B"/>
                </a:solidFill>
                <a:latin typeface="Liter" pitchFamily="34" charset="0"/>
                <a:ea typeface="Liter" pitchFamily="34" charset="-122"/>
                <a:cs typeface="Liter" pitchFamily="34" charset="-120"/>
              </a:rPr>
              <a:t>EDGE</a:t>
            </a:r>
            <a:endParaRPr lang="en-US" sz="1600" dirty="0"/>
          </a:p>
        </p:txBody>
      </p:sp>
      <p:sp>
        <p:nvSpPr>
          <p:cNvPr id="14" name="Text 11"/>
          <p:cNvSpPr/>
          <p:nvPr/>
        </p:nvSpPr>
        <p:spPr>
          <a:xfrm>
            <a:off x="10287000" y="5943600"/>
            <a:ext cx="2286000" cy="863600"/>
          </a:xfrm>
          <a:prstGeom prst="rect">
            <a:avLst/>
          </a:prstGeom>
          <a:noFill/>
          <a:ln/>
        </p:spPr>
        <p:txBody>
          <a:bodyPr wrap="square" lIns="0" tIns="0" rIns="0" bIns="0" rtlCol="0" anchor="t"/>
          <a:lstStyle/>
          <a:p>
            <a:pPr>
              <a:lnSpc>
                <a:spcPct val="130000"/>
              </a:lnSpc>
            </a:pPr>
            <a:r>
              <a:rPr lang="en-US" sz="1200" dirty="0">
                <a:solidFill>
                  <a:srgbClr val="1E293B"/>
                </a:solidFill>
                <a:latin typeface="Quattrocento Sans" pitchFamily="34" charset="0"/>
                <a:ea typeface="Quattrocento Sans" pitchFamily="34" charset="-122"/>
                <a:cs typeface="Quattrocento Sans" pitchFamily="34" charset="-120"/>
              </a:rPr>
              <a:t>AI runs locally (NVIDIA GPU). Faster, more private, no internet dependency.</a:t>
            </a:r>
            <a:endParaRPr lang="en-US" sz="1600" dirty="0"/>
          </a:p>
        </p:txBody>
      </p:sp>
      <p:sp>
        <p:nvSpPr>
          <p:cNvPr id="15" name="Shape 12"/>
          <p:cNvSpPr/>
          <p:nvPr/>
        </p:nvSpPr>
        <p:spPr>
          <a:xfrm>
            <a:off x="12954000" y="5524500"/>
            <a:ext cx="2540000" cy="1397000"/>
          </a:xfrm>
          <a:prstGeom prst="rect">
            <a:avLst/>
          </a:prstGeom>
          <a:solidFill>
            <a:srgbClr val="F1F5F9"/>
          </a:solidFill>
          <a:ln w="12700">
            <a:solidFill>
              <a:srgbClr val="E2E8F0"/>
            </a:solidFill>
            <a:prstDash val="solid"/>
          </a:ln>
        </p:spPr>
      </p:sp>
      <p:sp>
        <p:nvSpPr>
          <p:cNvPr id="16" name="Text 13"/>
          <p:cNvSpPr/>
          <p:nvPr/>
        </p:nvSpPr>
        <p:spPr>
          <a:xfrm>
            <a:off x="13081000" y="5613400"/>
            <a:ext cx="2286000" cy="279400"/>
          </a:xfrm>
          <a:prstGeom prst="rect">
            <a:avLst/>
          </a:prstGeom>
          <a:noFill/>
          <a:ln/>
        </p:spPr>
        <p:txBody>
          <a:bodyPr wrap="none" lIns="0" tIns="0" rIns="0" bIns="0" rtlCol="0" anchor="ctr"/>
          <a:lstStyle/>
          <a:p>
            <a:pPr>
              <a:lnSpc>
                <a:spcPct val="100000"/>
              </a:lnSpc>
            </a:pPr>
            <a:r>
              <a:rPr lang="en-US" sz="1400" dirty="0">
                <a:solidFill>
                  <a:srgbClr val="1E293B"/>
                </a:solidFill>
                <a:latin typeface="Liter" pitchFamily="34" charset="0"/>
                <a:ea typeface="Liter" pitchFamily="34" charset="-122"/>
                <a:cs typeface="Liter" pitchFamily="34" charset="-120"/>
              </a:rPr>
              <a:t>CLOUD</a:t>
            </a:r>
            <a:endParaRPr lang="en-US" sz="1600" dirty="0"/>
          </a:p>
        </p:txBody>
      </p:sp>
      <p:sp>
        <p:nvSpPr>
          <p:cNvPr id="17" name="Text 14"/>
          <p:cNvSpPr/>
          <p:nvPr/>
        </p:nvSpPr>
        <p:spPr>
          <a:xfrm>
            <a:off x="13081000" y="5943600"/>
            <a:ext cx="2286000" cy="863600"/>
          </a:xfrm>
          <a:prstGeom prst="rect">
            <a:avLst/>
          </a:prstGeom>
          <a:noFill/>
          <a:ln/>
        </p:spPr>
        <p:txBody>
          <a:bodyPr wrap="square" lIns="0" tIns="0" rIns="0" bIns="0" rtlCol="0" anchor="t"/>
          <a:lstStyle/>
          <a:p>
            <a:pPr>
              <a:lnSpc>
                <a:spcPct val="130000"/>
              </a:lnSpc>
            </a:pPr>
            <a:r>
              <a:rPr lang="en-US" sz="1200" dirty="0">
                <a:solidFill>
                  <a:srgbClr val="1E293B"/>
                </a:solidFill>
                <a:latin typeface="Quattrocento Sans" pitchFamily="34" charset="0"/>
                <a:ea typeface="Quattrocento Sans" pitchFamily="34" charset="-122"/>
                <a:cs typeface="Quattrocento Sans" pitchFamily="34" charset="-120"/>
              </a:rPr>
              <a:t>AI on remote servers. Cheaper hardware. Cloud bills. Internet dependency.</a:t>
            </a:r>
            <a:endParaRPr lang="en-US" sz="1600" dirty="0"/>
          </a:p>
        </p:txBody>
      </p:sp>
      <p:sp>
        <p:nvSpPr>
          <p:cNvPr id="18" name="Shape 15"/>
          <p:cNvSpPr/>
          <p:nvPr/>
        </p:nvSpPr>
        <p:spPr>
          <a:xfrm>
            <a:off x="762000" y="6223000"/>
            <a:ext cx="8890000" cy="1016000"/>
          </a:xfrm>
          <a:prstGeom prst="rect">
            <a:avLst/>
          </a:prstGeom>
          <a:solidFill>
            <a:srgbClr val="FEF3C7"/>
          </a:solidFill>
          <a:ln w="12700">
            <a:solidFill>
              <a:srgbClr val="FCD34D"/>
            </a:solidFill>
            <a:prstDash val="solid"/>
          </a:ln>
        </p:spPr>
      </p:sp>
      <p:sp>
        <p:nvSpPr>
          <p:cNvPr id="19" name="Text 16"/>
          <p:cNvSpPr/>
          <p:nvPr/>
        </p:nvSpPr>
        <p:spPr>
          <a:xfrm>
            <a:off x="952500" y="6324600"/>
            <a:ext cx="8509000" cy="825500"/>
          </a:xfrm>
          <a:prstGeom prst="rect">
            <a:avLst/>
          </a:prstGeom>
          <a:noFill/>
          <a:ln/>
        </p:spPr>
        <p:txBody>
          <a:bodyPr wrap="square" lIns="0" tIns="0" rIns="0" bIns="0" rtlCol="0" anchor="ctr"/>
          <a:lstStyle/>
          <a:p>
            <a:pPr>
              <a:lnSpc>
                <a:spcPct val="130000"/>
              </a:lnSpc>
            </a:pPr>
            <a:r>
              <a:rPr lang="en-US" sz="1300" b="1" dirty="0">
                <a:solidFill>
                  <a:srgbClr val="1E293B"/>
                </a:solidFill>
                <a:latin typeface="Quattrocento Sans" pitchFamily="34" charset="0"/>
                <a:ea typeface="Quattrocento Sans" pitchFamily="34" charset="-122"/>
                <a:cs typeface="Quattrocento Sans" pitchFamily="34" charset="-120"/>
              </a:rPr>
              <a:t>Important:</a:t>
            </a:r>
            <a:pPr>
              <a:lnSpc>
                <a:spcPct val="130000"/>
              </a:lnSpc>
            </a:pPr>
            <a:r>
              <a:rPr lang="en-US" sz="1300" dirty="0">
                <a:solidFill>
                  <a:srgbClr val="1E293B"/>
                </a:solidFill>
                <a:latin typeface="Quattrocento Sans" pitchFamily="34" charset="0"/>
                <a:ea typeface="Quattrocento Sans" pitchFamily="34" charset="-122"/>
                <a:cs typeface="Quattrocento Sans" pitchFamily="34" charset="-120"/>
              </a:rPr>
              <a:t> We do NOT make income by selling reagents like other companies. Analyzer vendors use a "printer and ink" model. We only automate processes in between - focusing on a completely untouched market.</a:t>
            </a:r>
            <a:endParaRPr lang="en-US" sz="1600" dirty="0"/>
          </a:p>
        </p:txBody>
      </p:sp>
      <p:sp>
        <p:nvSpPr>
          <p:cNvPr id="20" name="Text 17"/>
          <p:cNvSpPr/>
          <p:nvPr/>
        </p:nvSpPr>
        <p:spPr>
          <a:xfrm>
            <a:off x="762000" y="7493000"/>
            <a:ext cx="14732000" cy="381000"/>
          </a:xfrm>
          <a:prstGeom prst="rect">
            <a:avLst/>
          </a:prstGeom>
          <a:noFill/>
          <a:ln/>
        </p:spPr>
        <p:txBody>
          <a:bodyPr wrap="square" lIns="0" tIns="0" rIns="0" bIns="0" rtlCol="0" anchor="ctr"/>
          <a:lstStyle/>
          <a:p>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Public anchors: Opentrons list pricing, Automata cloud/support posture, Indian hospital automation benchmarks, current INR conversion at Rs.95.785/USD</a:t>
            </a:r>
            <a:endParaRPr lang="en-US" sz="1300" dirty="0"/>
          </a:p>
        </p:txBody>
      </p:sp>
      <p:sp>
        <p:nvSpPr>
          <p:cNvPr id="21" name="Shape 18"/>
          <p:cNvSpPr/>
          <p:nvPr/>
        </p:nvSpPr>
        <p:spPr>
          <a:xfrm>
            <a:off x="762000" y="8636000"/>
            <a:ext cx="14732000" cy="25400"/>
          </a:xfrm>
          <a:prstGeom prst="rect">
            <a:avLst/>
          </a:prstGeom>
          <a:solidFill>
            <a:srgbClr val="D97706"/>
          </a:solidFill>
          <a:ln/>
        </p:spPr>
      </p:sp>
      <p:sp>
        <p:nvSpPr>
          <p:cNvPr id="22" name="Text 19"/>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16</a:t>
            </a:r>
            <a:endParaRPr lang="en-US" sz="13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Full Model Comparison: Six Business Models Analyzed</a:t>
            </a:r>
            <a:endParaRPr lang="en-US" sz="2800" dirty="0"/>
          </a:p>
        </p:txBody>
      </p:sp>
      <p:sp>
        <p:nvSpPr>
          <p:cNvPr id="3" name="Shape 1"/>
          <p:cNvSpPr/>
          <p:nvPr/>
        </p:nvSpPr>
        <p:spPr>
          <a:xfrm>
            <a:off x="762000" y="1016000"/>
            <a:ext cx="14732000" cy="25400"/>
          </a:xfrm>
          <a:prstGeom prst="rect">
            <a:avLst/>
          </a:prstGeom>
          <a:solidFill>
            <a:srgbClr val="D97706"/>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62000" y="1206500"/>
          <a:ext cx="14732000" cy="4800600"/>
        </p:xfrm>
        <a:graphic>
          <a:graphicData uri="http://schemas.openxmlformats.org/drawingml/2006/table">
            <a:tbl>
              <a:tblPr/>
              <a:tblGrid>
                <a:gridCol w="2062480"/>
                <a:gridCol w="2651760"/>
                <a:gridCol w="2651760"/>
                <a:gridCol w="2357120"/>
                <a:gridCol w="2651760"/>
                <a:gridCol w="2357120"/>
              </a:tblGrid>
              <a:tr h="499262">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Model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Revenue Streams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Pricing (INR)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Blended GM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Buyer Payback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Assessment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71689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CapEx Hardware Sale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Hardware, installation, AMC, software license, workflow packs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Rs.30-55L per cell; AMC 10-15%; Software Rs.6-12L/yr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45-58%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18-30 months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Viable, not ideal as only model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1689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RaaS / Opex</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Monthly subscription: hardware use, support, software, monitoring, upgrades, SLA</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Rs.3-8L/month + Rs.2.5-6.5L over 36-60 months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55-70%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3-9 months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Excellent for lighthouse, too capital-heavy as default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716890">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Hybrid (RECOMMENDED)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Upfront hardware + recurring software, support, PM kits, consumables, workflow libraries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Rs.18-30L entry + Rs.0.75-2L/month; PM Rs.1-4L/yr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55-68%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9-18 months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Best default model for India-first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1689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Transactional Per-Test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Fee per test/sample automated, often bundled with minimum monthly floor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Rs.1.5-5 per test; Rs.3-12 per automated handoff</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35-60%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0-6 months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Useful with floor or as pilot overlay, not standalone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71689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Revenue-Share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Share of incremental revenue or labor savings; 3-8% of baseline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Rs.1.5-3L/month floor + 15-30% of audited savings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30-55%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Immediate if floor modest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For bespoke strategic pilots, not core model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1689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Licensing &amp; IP</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OEM license, orchestration software, workflow IP, NRE, white-label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NRE Rs.20-75L; Annual license Rs.50L-Rs.2Cr+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75-90%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Partner-specific</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Attractive second-act, not initial wedge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bl>
          </a:graphicData>
        </a:graphic>
      </p:graphicFrame>
      <p:sp>
        <p:nvSpPr>
          <p:cNvPr id="5" name="Text 2"/>
          <p:cNvSpPr/>
          <p:nvPr/>
        </p:nvSpPr>
        <p:spPr>
          <a:xfrm>
            <a:off x="762000" y="7620000"/>
            <a:ext cx="14732000" cy="381000"/>
          </a:xfrm>
          <a:prstGeom prst="rect">
            <a:avLst/>
          </a:prstGeom>
          <a:noFill/>
          <a:ln/>
        </p:spPr>
        <p:txBody>
          <a:bodyPr wrap="square" lIns="0" tIns="0" rIns="0" bIns="0" rtlCol="0" anchor="ctr"/>
          <a:lstStyle/>
          <a:p>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Indicative model, not price quotes. Public anchors: Opentrons, Automata, SGPGIMS, AIIMS Bhopal, Metropolis, INR conversion at Rs.95.785/USD (June 4, 2026)</a:t>
            </a:r>
            <a:endParaRPr lang="en-US" sz="1300" dirty="0"/>
          </a:p>
        </p:txBody>
      </p:sp>
      <p:sp>
        <p:nvSpPr>
          <p:cNvPr id="6" name="Shape 3"/>
          <p:cNvSpPr/>
          <p:nvPr/>
        </p:nvSpPr>
        <p:spPr>
          <a:xfrm>
            <a:off x="762000" y="8636000"/>
            <a:ext cx="14732000" cy="25400"/>
          </a:xfrm>
          <a:prstGeom prst="rect">
            <a:avLst/>
          </a:prstGeom>
          <a:solidFill>
            <a:srgbClr val="D97706"/>
          </a:solidFill>
          <a:ln/>
        </p:spPr>
      </p:sp>
      <p:sp>
        <p:nvSpPr>
          <p:cNvPr id="7" name="Text 4"/>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17</a:t>
            </a:r>
            <a:endParaRPr lang="en-US" sz="13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CapEx Hardware Sale: Viable But Lumpy Revenue</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206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PRICING MECHANICS</a:t>
            </a:r>
            <a:endParaRPr lang="en-US" sz="1600" dirty="0"/>
          </a:p>
        </p:txBody>
      </p:sp>
      <p:sp>
        <p:nvSpPr>
          <p:cNvPr id="5" name="Shape 3"/>
          <p:cNvSpPr/>
          <p:nvPr/>
        </p:nvSpPr>
        <p:spPr>
          <a:xfrm>
            <a:off x="762000" y="1651000"/>
            <a:ext cx="7112000" cy="3048000"/>
          </a:xfrm>
          <a:prstGeom prst="rect">
            <a:avLst/>
          </a:prstGeom>
          <a:solidFill>
            <a:srgbClr val="F1F5F9"/>
          </a:solidFill>
          <a:ln w="12700">
            <a:solidFill>
              <a:srgbClr val="E2E8F0"/>
            </a:solidFill>
            <a:prstDash val="solid"/>
          </a:ln>
        </p:spPr>
      </p:sp>
      <p:sp>
        <p:nvSpPr>
          <p:cNvPr id="6" name="Text 4"/>
          <p:cNvSpPr/>
          <p:nvPr/>
        </p:nvSpPr>
        <p:spPr>
          <a:xfrm>
            <a:off x="1016000" y="1778000"/>
            <a:ext cx="6604000" cy="2794000"/>
          </a:xfrm>
          <a:prstGeom prst="rect">
            <a:avLst/>
          </a:prstGeom>
          <a:noFill/>
          <a:ln/>
        </p:spPr>
        <p:txBody>
          <a:bodyPr wrap="square" lIns="0" tIns="0" rIns="0" bIns="0" rtlCol="0" anchor="t"/>
          <a:lstStyle/>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Production cell:</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Rs.30-55 lakh per unit</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Installation &amp; validation:</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Rs.2-6 lakh</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Annual AMC:</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10-15% of hardware value</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Software license:</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Rs.6-12 lakh/year</a:t>
            </a:r>
            <a:endParaRPr lang="en-US" sz="1600" dirty="0"/>
          </a:p>
          <a:p>
            <a:pPr>
              <a:lnSpc>
                <a:spcPct val="160000"/>
              </a:lnSpc>
              <a:spcBef>
                <a:spcPts val="800"/>
              </a:spcBef>
            </a:pPr>
            <a:r>
              <a:rPr lang="en-US" sz="1500" b="1" dirty="0">
                <a:solidFill>
                  <a:srgbClr val="1E293B"/>
                </a:solidFill>
                <a:latin typeface="Quattrocento Sans" pitchFamily="34" charset="0"/>
                <a:ea typeface="Quattrocento Sans" pitchFamily="34" charset="-122"/>
                <a:cs typeface="Quattrocento Sans" pitchFamily="34" charset="-120"/>
              </a:rPr>
              <a:t>Direct cost:</a:t>
            </a:r>
            <a:pPr>
              <a:lnSpc>
                <a:spcPct val="160000"/>
              </a:lnSpc>
              <a:spcBef>
                <a:spcPts val="800"/>
              </a:spcBef>
            </a:pPr>
            <a:r>
              <a:rPr lang="en-US" sz="1500" dirty="0">
                <a:solidFill>
                  <a:srgbClr val="1E293B"/>
                </a:solidFill>
                <a:latin typeface="Quattrocento Sans" pitchFamily="34" charset="0"/>
                <a:ea typeface="Quattrocento Sans" pitchFamily="34" charset="-122"/>
                <a:cs typeface="Quattrocento Sans" pitchFamily="34" charset="-120"/>
              </a:rPr>
              <a:t> Rs.12-18 lakh per cell</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Blended GM:</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a:t>
            </a:r>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45-58%</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if pricing discipline holds</a:t>
            </a:r>
            <a:endParaRPr lang="en-US" sz="1600" dirty="0"/>
          </a:p>
        </p:txBody>
      </p:sp>
      <p:sp>
        <p:nvSpPr>
          <p:cNvPr id="7" name="Text 5"/>
          <p:cNvSpPr/>
          <p:nvPr/>
        </p:nvSpPr>
        <p:spPr>
          <a:xfrm>
            <a:off x="8382000" y="1206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CASH FLOW &amp; TIMING</a:t>
            </a:r>
            <a:endParaRPr lang="en-US" sz="1600" dirty="0"/>
          </a:p>
        </p:txBody>
      </p:sp>
      <p:sp>
        <p:nvSpPr>
          <p:cNvPr id="8" name="Shape 6"/>
          <p:cNvSpPr/>
          <p:nvPr/>
        </p:nvSpPr>
        <p:spPr>
          <a:xfrm>
            <a:off x="8382000" y="1651000"/>
            <a:ext cx="7112000" cy="3048000"/>
          </a:xfrm>
          <a:prstGeom prst="rect">
            <a:avLst/>
          </a:prstGeom>
          <a:solidFill>
            <a:srgbClr val="1E293B"/>
          </a:solidFill>
          <a:ln/>
        </p:spPr>
      </p:sp>
      <p:sp>
        <p:nvSpPr>
          <p:cNvPr id="9" name="Text 7"/>
          <p:cNvSpPr/>
          <p:nvPr/>
        </p:nvSpPr>
        <p:spPr>
          <a:xfrm>
            <a:off x="8636000" y="1778000"/>
            <a:ext cx="6604000" cy="2794000"/>
          </a:xfrm>
          <a:prstGeom prst="rect">
            <a:avLst/>
          </a:prstGeom>
          <a:noFill/>
          <a:ln/>
        </p:spPr>
        <p:txBody>
          <a:bodyPr wrap="square" lIns="0" tIns="0" rIns="0" bIns="0" rtlCol="0" anchor="t"/>
          <a:lstStyle/>
          <a:p>
            <a:pPr>
              <a:lnSpc>
                <a:spcPct val="160000"/>
              </a:lnSpc>
            </a:pPr>
            <a:r>
              <a:rPr lang="en-US" sz="1500" b="1" dirty="0">
                <a:solidFill>
                  <a:srgbClr val="F1F5F9"/>
                </a:solidFill>
                <a:latin typeface="Quattrocento Sans" pitchFamily="34" charset="0"/>
                <a:ea typeface="Quattrocento Sans" pitchFamily="34" charset="-122"/>
                <a:cs typeface="Quattrocento Sans" pitchFamily="34" charset="-120"/>
              </a:rPr>
              <a:t>Payment milestones:</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Around PO, FAT, SAT, and acceptance</a:t>
            </a:r>
            <a:endParaRPr lang="en-US" sz="1600" dirty="0"/>
          </a:p>
          <a:p>
            <a:pPr>
              <a:lnSpc>
                <a:spcPct val="160000"/>
              </a:lnSpc>
              <a:spcBef>
                <a:spcPts val="600"/>
              </a:spcBef>
            </a:pPr>
            <a:r>
              <a:rPr lang="en-US" sz="1500" b="1" dirty="0">
                <a:solidFill>
                  <a:srgbClr val="F1F5F9"/>
                </a:solidFill>
                <a:latin typeface="Quattrocento Sans" pitchFamily="34" charset="0"/>
                <a:ea typeface="Quattrocento Sans" pitchFamily="34" charset="-122"/>
                <a:cs typeface="Quattrocento Sans" pitchFamily="34" charset="-120"/>
              </a:rPr>
              <a:t>Working capital need:</a:t>
            </a:r>
            <a:pPr>
              <a:lnSpc>
                <a:spcPct val="160000"/>
              </a:lnSpc>
              <a:spcBef>
                <a:spcPts val="600"/>
              </a:spcBef>
            </a:pPr>
            <a:r>
              <a:rPr lang="en-US" sz="1500" dirty="0">
                <a:solidFill>
                  <a:srgbClr val="F1F5F9"/>
                </a:solidFill>
                <a:latin typeface="Quattrocento Sans" pitchFamily="34" charset="0"/>
                <a:ea typeface="Quattrocento Sans" pitchFamily="34" charset="-122"/>
                <a:cs typeface="Quattrocento Sans" pitchFamily="34" charset="-120"/>
              </a:rPr>
              <a:t> Moderate - mainly for inventory and receivables</a:t>
            </a:r>
            <a:endParaRPr lang="en-US" sz="1600" dirty="0"/>
          </a:p>
          <a:p>
            <a:pPr>
              <a:lnSpc>
                <a:spcPct val="160000"/>
              </a:lnSpc>
              <a:spcBef>
                <a:spcPts val="600"/>
              </a:spcBef>
            </a:pPr>
            <a:r>
              <a:rPr lang="en-US" sz="1500" b="1" dirty="0">
                <a:solidFill>
                  <a:srgbClr val="F1F5F9"/>
                </a:solidFill>
                <a:latin typeface="Quattrocento Sans" pitchFamily="34" charset="0"/>
                <a:ea typeface="Quattrocento Sans" pitchFamily="34" charset="-122"/>
                <a:cs typeface="Quattrocento Sans" pitchFamily="34" charset="-120"/>
              </a:rPr>
              <a:t>Buyer payback:</a:t>
            </a:r>
            <a:pPr>
              <a:lnSpc>
                <a:spcPct val="160000"/>
              </a:lnSpc>
              <a:spcBef>
                <a:spcPts val="600"/>
              </a:spcBef>
            </a:pPr>
            <a:r>
              <a:rPr lang="en-US" sz="1500" dirty="0">
                <a:solidFill>
                  <a:srgbClr val="F1F5F9"/>
                </a:solidFill>
                <a:latin typeface="Quattrocento Sans" pitchFamily="34" charset="0"/>
                <a:ea typeface="Quattrocento Sans" pitchFamily="34" charset="-122"/>
                <a:cs typeface="Quattrocento Sans" pitchFamily="34" charset="-120"/>
              </a:rPr>
              <a:t> Typically 18-30 months unless throughput gains are strong</a:t>
            </a:r>
            <a:endParaRPr lang="en-US" sz="1600" dirty="0"/>
          </a:p>
          <a:p>
            <a:pPr>
              <a:lnSpc>
                <a:spcPct val="160000"/>
              </a:lnSpc>
              <a:spcBef>
                <a:spcPts val="600"/>
              </a:spcBef>
            </a:pPr>
            <a:r>
              <a:rPr lang="en-US" sz="1500" b="1" dirty="0">
                <a:solidFill>
                  <a:srgbClr val="F1F5F9"/>
                </a:solidFill>
                <a:latin typeface="Quattrocento Sans" pitchFamily="34" charset="0"/>
                <a:ea typeface="Quattrocento Sans" pitchFamily="34" charset="-122"/>
                <a:cs typeface="Quattrocento Sans" pitchFamily="34" charset="-120"/>
              </a:rPr>
              <a:t>Normalized year-one ARPU:</a:t>
            </a:r>
            <a:pPr>
              <a:lnSpc>
                <a:spcPct val="160000"/>
              </a:lnSpc>
              <a:spcBef>
                <a:spcPts val="600"/>
              </a:spcBef>
            </a:pPr>
            <a:r>
              <a:rPr lang="en-US" sz="1500" dirty="0">
                <a:solidFill>
                  <a:srgbClr val="F1F5F9"/>
                </a:solidFill>
                <a:latin typeface="Quattrocento Sans" pitchFamily="34" charset="0"/>
                <a:ea typeface="Quattrocento Sans" pitchFamily="34" charset="-122"/>
                <a:cs typeface="Quattrocento Sans" pitchFamily="34" charset="-120"/>
              </a:rPr>
              <a:t> Rs.33-61 lakh</a:t>
            </a:r>
            <a:endParaRPr lang="en-US" sz="1600" dirty="0"/>
          </a:p>
        </p:txBody>
      </p:sp>
      <p:sp>
        <p:nvSpPr>
          <p:cNvPr id="10" name="Text 8"/>
          <p:cNvSpPr/>
          <p:nvPr/>
        </p:nvSpPr>
        <p:spPr>
          <a:xfrm>
            <a:off x="762000" y="49530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WHERE IT FITS &amp; RISKS</a:t>
            </a:r>
            <a:endParaRPr lang="en-US" sz="1600" dirty="0"/>
          </a:p>
        </p:txBody>
      </p:sp>
      <p:sp>
        <p:nvSpPr>
          <p:cNvPr id="11" name="Shape 9"/>
          <p:cNvSpPr/>
          <p:nvPr/>
        </p:nvSpPr>
        <p:spPr>
          <a:xfrm>
            <a:off x="762000" y="5397500"/>
            <a:ext cx="7112000" cy="1651000"/>
          </a:xfrm>
          <a:prstGeom prst="rect">
            <a:avLst/>
          </a:prstGeom>
          <a:solidFill>
            <a:srgbClr val="ECFDF5"/>
          </a:solidFill>
          <a:ln w="12700">
            <a:solidFill>
              <a:srgbClr val="A7F3D0"/>
            </a:solidFill>
            <a:prstDash val="solid"/>
          </a:ln>
        </p:spPr>
      </p:sp>
      <p:sp>
        <p:nvSpPr>
          <p:cNvPr id="12" name="Text 10"/>
          <p:cNvSpPr/>
          <p:nvPr/>
        </p:nvSpPr>
        <p:spPr>
          <a:xfrm>
            <a:off x="1016000" y="5524500"/>
            <a:ext cx="6604000" cy="1397000"/>
          </a:xfrm>
          <a:prstGeom prst="rect">
            <a:avLst/>
          </a:prstGeom>
          <a:noFill/>
          <a:ln/>
        </p:spPr>
        <p:txBody>
          <a:bodyPr wrap="square" lIns="0" tIns="0" rIns="0" bIns="0" rtlCol="0" anchor="t"/>
          <a:lstStyle/>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Fits private labs that already buy analyzers and benches</a:t>
            </a:r>
            <a:endParaRPr lang="en-US" sz="1600" dirty="0"/>
          </a:p>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Best near-term cash if payment milestones structured</a:t>
            </a:r>
            <a:endParaRPr lang="en-US" sz="1600" dirty="0"/>
          </a:p>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2,000+ samples/day lab can justify the spend</a:t>
            </a:r>
            <a:endParaRPr lang="en-US" sz="1600" dirty="0"/>
          </a:p>
        </p:txBody>
      </p:sp>
      <p:sp>
        <p:nvSpPr>
          <p:cNvPr id="13" name="Shape 11"/>
          <p:cNvSpPr/>
          <p:nvPr/>
        </p:nvSpPr>
        <p:spPr>
          <a:xfrm>
            <a:off x="8382000" y="5397500"/>
            <a:ext cx="7112000" cy="1651000"/>
          </a:xfrm>
          <a:prstGeom prst="rect">
            <a:avLst/>
          </a:prstGeom>
          <a:solidFill>
            <a:srgbClr val="FEF2F2"/>
          </a:solidFill>
          <a:ln w="12700">
            <a:solidFill>
              <a:srgbClr val="FECACA"/>
            </a:solidFill>
            <a:prstDash val="solid"/>
          </a:ln>
        </p:spPr>
      </p:sp>
      <p:sp>
        <p:nvSpPr>
          <p:cNvPr id="14" name="Text 12"/>
          <p:cNvSpPr/>
          <p:nvPr/>
        </p:nvSpPr>
        <p:spPr>
          <a:xfrm>
            <a:off x="8636000" y="5524500"/>
            <a:ext cx="6604000" cy="1397000"/>
          </a:xfrm>
          <a:prstGeom prst="rect">
            <a:avLst/>
          </a:prstGeom>
          <a:noFill/>
          <a:ln/>
        </p:spPr>
        <p:txBody>
          <a:bodyPr wrap="square" lIns="0" tIns="0" rIns="0" bIns="0" rtlCol="0" anchor="t"/>
          <a:lstStyle/>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Long enterprise procurement cycles</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Price pressure, tender-driven</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Lumpy revenue, weak recurring base</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Expansion depends on new hardware sales</a:t>
            </a:r>
            <a:endParaRPr lang="en-US" sz="1600" dirty="0"/>
          </a:p>
        </p:txBody>
      </p:sp>
      <p:sp>
        <p:nvSpPr>
          <p:cNvPr id="15" name="Shape 13"/>
          <p:cNvSpPr/>
          <p:nvPr/>
        </p:nvSpPr>
        <p:spPr>
          <a:xfrm>
            <a:off x="762000" y="7366000"/>
            <a:ext cx="14732000" cy="762000"/>
          </a:xfrm>
          <a:prstGeom prst="rect">
            <a:avLst/>
          </a:prstGeom>
          <a:solidFill>
            <a:srgbClr val="FEF3C7"/>
          </a:solidFill>
          <a:ln w="12700">
            <a:solidFill>
              <a:srgbClr val="FCD34D"/>
            </a:solidFill>
            <a:prstDash val="solid"/>
          </a:ln>
        </p:spPr>
      </p:sp>
      <p:sp>
        <p:nvSpPr>
          <p:cNvPr id="16" name="Text 14"/>
          <p:cNvSpPr/>
          <p:nvPr/>
        </p:nvSpPr>
        <p:spPr>
          <a:xfrm>
            <a:off x="1016000" y="7429500"/>
            <a:ext cx="14224000" cy="635000"/>
          </a:xfrm>
          <a:prstGeom prst="rect">
            <a:avLst/>
          </a:prstGeom>
          <a:noFill/>
          <a:ln/>
        </p:spPr>
        <p:txBody>
          <a:bodyPr wrap="square" lIns="0" tIns="0" rIns="0" bIns="0" rtlCol="0" anchor="ctr"/>
          <a:lstStyle/>
          <a:p>
            <a:pPr>
              <a:lnSpc>
                <a:spcPct val="130000"/>
              </a:lnSpc>
            </a:pPr>
            <a:r>
              <a:rPr lang="en-US" sz="1400" b="1" dirty="0">
                <a:solidFill>
                  <a:srgbClr val="1E293B"/>
                </a:solidFill>
                <a:latin typeface="Quattrocento Sans" pitchFamily="34" charset="0"/>
                <a:ea typeface="Quattrocento Sans" pitchFamily="34" charset="-122"/>
                <a:cs typeface="Quattrocento Sans" pitchFamily="34" charset="-120"/>
              </a:rPr>
              <a:t>Verdict:</a:t>
            </a:r>
            <a:pPr>
              <a:lnSpc>
                <a:spcPct val="130000"/>
              </a:lnSpc>
            </a:pPr>
            <a:r>
              <a:rPr lang="en-US" sz="1400" dirty="0">
                <a:solidFill>
                  <a:srgbClr val="1E293B"/>
                </a:solidFill>
                <a:latin typeface="Quattrocento Sans" pitchFamily="34" charset="0"/>
                <a:ea typeface="Quattrocento Sans" pitchFamily="34" charset="-122"/>
                <a:cs typeface="Quattrocento Sans" pitchFamily="34" charset="-120"/>
              </a:rPr>
              <a:t> Viable, but not ideal as the only model. Strongest where the lab has robust equipment-buying process. Weakest where the startup needs recurring revenue and predictable fleet economics.</a:t>
            </a:r>
            <a:endParaRPr lang="en-US" sz="1600" dirty="0"/>
          </a:p>
        </p:txBody>
      </p:sp>
      <p:sp>
        <p:nvSpPr>
          <p:cNvPr id="17" name="Shape 15"/>
          <p:cNvSpPr/>
          <p:nvPr/>
        </p:nvSpPr>
        <p:spPr>
          <a:xfrm>
            <a:off x="762000" y="8636000"/>
            <a:ext cx="14732000" cy="25400"/>
          </a:xfrm>
          <a:prstGeom prst="rect">
            <a:avLst/>
          </a:prstGeom>
          <a:solidFill>
            <a:srgbClr val="D97706"/>
          </a:solidFill>
          <a:ln/>
        </p:spPr>
      </p:sp>
      <p:sp>
        <p:nvSpPr>
          <p:cNvPr id="18" name="Text 16"/>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18</a:t>
            </a:r>
            <a:endParaRPr lang="en-US" sz="13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RaaS/Opex Subscription: Excellent for Lighthouse, Too Capital-Heavy as Default</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206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PRICING MECHANICS</a:t>
            </a:r>
            <a:endParaRPr lang="en-US" sz="1600" dirty="0"/>
          </a:p>
        </p:txBody>
      </p:sp>
      <p:sp>
        <p:nvSpPr>
          <p:cNvPr id="5" name="Shape 3"/>
          <p:cNvSpPr/>
          <p:nvPr/>
        </p:nvSpPr>
        <p:spPr>
          <a:xfrm>
            <a:off x="762000" y="1651000"/>
            <a:ext cx="7112000" cy="2857500"/>
          </a:xfrm>
          <a:prstGeom prst="rect">
            <a:avLst/>
          </a:prstGeom>
          <a:solidFill>
            <a:srgbClr val="F1F5F9"/>
          </a:solidFill>
          <a:ln w="12700">
            <a:solidFill>
              <a:srgbClr val="E2E8F0"/>
            </a:solidFill>
            <a:prstDash val="solid"/>
          </a:ln>
        </p:spPr>
      </p:sp>
      <p:sp>
        <p:nvSpPr>
          <p:cNvPr id="6" name="Text 4"/>
          <p:cNvSpPr/>
          <p:nvPr/>
        </p:nvSpPr>
        <p:spPr>
          <a:xfrm>
            <a:off x="1016000" y="1778000"/>
            <a:ext cx="6604000" cy="2603500"/>
          </a:xfrm>
          <a:prstGeom prst="rect">
            <a:avLst/>
          </a:prstGeom>
          <a:noFill/>
          <a:ln/>
        </p:spPr>
        <p:txBody>
          <a:bodyPr wrap="square" lIns="0" tIns="0" rIns="0" bIns="0" rtlCol="0" anchor="t"/>
          <a:lstStyle/>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Monthly fee:</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Rs.3-8 lakh</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Plus:</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Rs.2.5-6.5 lakh over 36-60 months</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Covers:</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Hardware use, support, software, monitoring, upgrades, optional minimum-uptime SLA</a:t>
            </a:r>
            <a:endParaRPr lang="en-US" sz="1600" dirty="0"/>
          </a:p>
          <a:p>
            <a:pPr>
              <a:lnSpc>
                <a:spcPct val="160000"/>
              </a:lnSpc>
              <a:spcBef>
                <a:spcPts val="600"/>
              </a:spcBef>
            </a:pPr>
            <a:r>
              <a:rPr lang="en-US" sz="1500" b="1" dirty="0">
                <a:solidFill>
                  <a:srgbClr val="1E293B"/>
                </a:solidFill>
                <a:latin typeface="Quattrocento Sans" pitchFamily="34" charset="0"/>
                <a:ea typeface="Quattrocento Sans" pitchFamily="34" charset="-122"/>
                <a:cs typeface="Quattrocento Sans" pitchFamily="34" charset="-120"/>
              </a:rPr>
              <a:t>Steady-state GM:</a:t>
            </a:r>
            <a:pPr>
              <a:lnSpc>
                <a:spcPct val="160000"/>
              </a:lnSpc>
              <a:spcBef>
                <a:spcPts val="600"/>
              </a:spcBef>
            </a:pPr>
            <a:r>
              <a:rPr lang="en-US" sz="1500" dirty="0">
                <a:solidFill>
                  <a:srgbClr val="1E293B"/>
                </a:solidFill>
                <a:latin typeface="Quattrocento Sans" pitchFamily="34" charset="0"/>
                <a:ea typeface="Quattrocento Sans" pitchFamily="34" charset="-122"/>
                <a:cs typeface="Quattrocento Sans" pitchFamily="34" charset="-120"/>
              </a:rPr>
              <a:t> </a:t>
            </a:r>
            <a:pPr>
              <a:lnSpc>
                <a:spcPct val="160000"/>
              </a:lnSpc>
              <a:spcBef>
                <a:spcPts val="600"/>
              </a:spcBef>
            </a:pPr>
            <a:r>
              <a:rPr lang="en-US" sz="1500" dirty="0">
                <a:solidFill>
                  <a:srgbClr val="D97706"/>
                </a:solidFill>
                <a:latin typeface="Quattrocento Sans" pitchFamily="34" charset="0"/>
                <a:ea typeface="Quattrocento Sans" pitchFamily="34" charset="-122"/>
                <a:cs typeface="Quattrocento Sans" pitchFamily="34" charset="-120"/>
              </a:rPr>
              <a:t>55-70%</a:t>
            </a:r>
            <a:pPr>
              <a:lnSpc>
                <a:spcPct val="160000"/>
              </a:lnSpc>
              <a:spcBef>
                <a:spcPts val="600"/>
              </a:spcBef>
            </a:pPr>
            <a:r>
              <a:rPr lang="en-US" sz="1500" dirty="0">
                <a:solidFill>
                  <a:srgbClr val="1E293B"/>
                </a:solidFill>
                <a:latin typeface="Quattrocento Sans" pitchFamily="34" charset="0"/>
                <a:ea typeface="Quattrocento Sans" pitchFamily="34" charset="-122"/>
                <a:cs typeface="Quattrocento Sans" pitchFamily="34" charset="-120"/>
              </a:rPr>
              <a:t> if utilization high and service load controlled</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Buyer payback:</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a:t>
            </a:r>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3-9 months</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(low upfront)</a:t>
            </a:r>
            <a:endParaRPr lang="en-US" sz="1600" dirty="0"/>
          </a:p>
        </p:txBody>
      </p:sp>
      <p:sp>
        <p:nvSpPr>
          <p:cNvPr id="7" name="Text 5"/>
          <p:cNvSpPr/>
          <p:nvPr/>
        </p:nvSpPr>
        <p:spPr>
          <a:xfrm>
            <a:off x="8382000" y="1206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STARTUP IMPACT</a:t>
            </a:r>
            <a:endParaRPr lang="en-US" sz="1600" dirty="0"/>
          </a:p>
        </p:txBody>
      </p:sp>
      <p:sp>
        <p:nvSpPr>
          <p:cNvPr id="8" name="Shape 6"/>
          <p:cNvSpPr/>
          <p:nvPr/>
        </p:nvSpPr>
        <p:spPr>
          <a:xfrm>
            <a:off x="8382000" y="1651000"/>
            <a:ext cx="7112000" cy="2857500"/>
          </a:xfrm>
          <a:prstGeom prst="rect">
            <a:avLst/>
          </a:prstGeom>
          <a:solidFill>
            <a:srgbClr val="1E293B"/>
          </a:solidFill>
          <a:ln/>
        </p:spPr>
      </p:sp>
      <p:sp>
        <p:nvSpPr>
          <p:cNvPr id="9" name="Text 7"/>
          <p:cNvSpPr/>
          <p:nvPr/>
        </p:nvSpPr>
        <p:spPr>
          <a:xfrm>
            <a:off x="8636000" y="1778000"/>
            <a:ext cx="6604000" cy="2603500"/>
          </a:xfrm>
          <a:prstGeom prst="rect">
            <a:avLst/>
          </a:prstGeom>
          <a:noFill/>
          <a:ln/>
        </p:spPr>
        <p:txBody>
          <a:bodyPr wrap="square" lIns="0" tIns="0" rIns="0" bIns="0" rtlCol="0" anchor="t"/>
          <a:lstStyle/>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a:t>
            </a:r>
            <a:pPr>
              <a:lnSpc>
                <a:spcPct val="160000"/>
              </a:lnSpc>
            </a:pPr>
            <a:r>
              <a:rPr lang="en-US" sz="1500" b="1" dirty="0">
                <a:solidFill>
                  <a:srgbClr val="F1F5F9"/>
                </a:solidFill>
                <a:latin typeface="Quattrocento Sans" pitchFamily="34" charset="0"/>
                <a:ea typeface="Quattrocento Sans" pitchFamily="34" charset="-122"/>
                <a:cs typeface="Quattrocento Sans" pitchFamily="34" charset="-120"/>
              </a:rPr>
              <a:t>Hardest on startup balance sheet</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Requires financing line, asset SPV, or investor tolerance</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CAC: Rs.5-9 lakh</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CAC payback: 8-14 months</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5-year LTV: Rs.35-90 lakh</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Annual churn: 8-15%</a:t>
            </a:r>
            <a:endParaRPr lang="en-US" sz="1600" dirty="0"/>
          </a:p>
        </p:txBody>
      </p:sp>
      <p:sp>
        <p:nvSpPr>
          <p:cNvPr id="10" name="Text 8"/>
          <p:cNvSpPr/>
          <p:nvPr/>
        </p:nvSpPr>
        <p:spPr>
          <a:xfrm>
            <a:off x="762000" y="4762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WHERE IT FITS &amp; RISKS</a:t>
            </a:r>
            <a:endParaRPr lang="en-US" sz="1600" dirty="0"/>
          </a:p>
        </p:txBody>
      </p:sp>
      <p:sp>
        <p:nvSpPr>
          <p:cNvPr id="11" name="Shape 9"/>
          <p:cNvSpPr/>
          <p:nvPr/>
        </p:nvSpPr>
        <p:spPr>
          <a:xfrm>
            <a:off x="762000" y="5207000"/>
            <a:ext cx="7112000" cy="1524000"/>
          </a:xfrm>
          <a:prstGeom prst="rect">
            <a:avLst/>
          </a:prstGeom>
          <a:solidFill>
            <a:srgbClr val="ECFDF5"/>
          </a:solidFill>
          <a:ln w="12700">
            <a:solidFill>
              <a:srgbClr val="A7F3D0"/>
            </a:solidFill>
            <a:prstDash val="solid"/>
          </a:ln>
        </p:spPr>
      </p:sp>
      <p:sp>
        <p:nvSpPr>
          <p:cNvPr id="12" name="Text 10"/>
          <p:cNvSpPr/>
          <p:nvPr/>
        </p:nvSpPr>
        <p:spPr>
          <a:xfrm>
            <a:off x="1016000" y="5334000"/>
            <a:ext cx="6604000" cy="1270000"/>
          </a:xfrm>
          <a:prstGeom prst="rect">
            <a:avLst/>
          </a:prstGeom>
          <a:noFill/>
          <a:ln/>
        </p:spPr>
        <p:txBody>
          <a:bodyPr wrap="square" lIns="0" tIns="0" rIns="0" bIns="0" rtlCol="0" anchor="t"/>
          <a:lstStyle/>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Very attractive for private buyers wanting Opex approval</a:t>
            </a:r>
            <a:endParaRPr lang="en-US" sz="1600" dirty="0"/>
          </a:p>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Easiest to explain to procurement</a:t>
            </a:r>
            <a:endParaRPr lang="en-US" sz="1600" dirty="0"/>
          </a:p>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Best balance of margin and retention at scale</a:t>
            </a:r>
            <a:endParaRPr lang="en-US" sz="1600" dirty="0"/>
          </a:p>
        </p:txBody>
      </p:sp>
      <p:sp>
        <p:nvSpPr>
          <p:cNvPr id="13" name="Shape 11"/>
          <p:cNvSpPr/>
          <p:nvPr/>
        </p:nvSpPr>
        <p:spPr>
          <a:xfrm>
            <a:off x="8382000" y="5207000"/>
            <a:ext cx="7112000" cy="1524000"/>
          </a:xfrm>
          <a:prstGeom prst="rect">
            <a:avLst/>
          </a:prstGeom>
          <a:solidFill>
            <a:srgbClr val="FEF2F2"/>
          </a:solidFill>
          <a:ln w="12700">
            <a:solidFill>
              <a:srgbClr val="FECACA"/>
            </a:solidFill>
            <a:prstDash val="solid"/>
          </a:ln>
        </p:spPr>
      </p:sp>
      <p:sp>
        <p:nvSpPr>
          <p:cNvPr id="14" name="Text 12"/>
          <p:cNvSpPr/>
          <p:nvPr/>
        </p:nvSpPr>
        <p:spPr>
          <a:xfrm>
            <a:off x="8636000" y="5334000"/>
            <a:ext cx="6604000" cy="1270000"/>
          </a:xfrm>
          <a:prstGeom prst="rect">
            <a:avLst/>
          </a:prstGeom>
          <a:noFill/>
          <a:ln/>
        </p:spPr>
        <p:txBody>
          <a:bodyPr wrap="square" lIns="0" tIns="0" rIns="0" bIns="0" rtlCol="0" anchor="t"/>
          <a:lstStyle/>
          <a:p>
            <a:pPr>
              <a:lnSpc>
                <a:spcPct val="140000"/>
              </a:lnSpc>
            </a:pPr>
            <a:r>
              <a:rPr lang="en-US" sz="1400" dirty="0">
                <a:solidFill>
                  <a:srgbClr val="DC2626"/>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Underpriced contracts risk</a:t>
            </a:r>
            <a:endParaRPr lang="en-US" sz="1600" dirty="0"/>
          </a:p>
          <a:p>
            <a:pPr>
              <a:lnSpc>
                <a:spcPct val="140000"/>
              </a:lnSpc>
            </a:pPr>
            <a:r>
              <a:rPr lang="en-US" sz="1400" dirty="0">
                <a:solidFill>
                  <a:srgbClr val="DC2626"/>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Uptime liabilities on startup</a:t>
            </a:r>
            <a:endParaRPr lang="en-US" sz="1600" dirty="0"/>
          </a:p>
          <a:p>
            <a:pPr>
              <a:lnSpc>
                <a:spcPct val="140000"/>
              </a:lnSpc>
            </a:pPr>
            <a:r>
              <a:rPr lang="en-US" sz="1400" dirty="0">
                <a:solidFill>
                  <a:srgbClr val="DC2626"/>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Hardware damage risk</a:t>
            </a:r>
            <a:endParaRPr lang="en-US" sz="1600" dirty="0"/>
          </a:p>
          <a:p>
            <a:pPr>
              <a:lnSpc>
                <a:spcPct val="140000"/>
              </a:lnSpc>
            </a:pPr>
            <a:r>
              <a:rPr lang="en-US" sz="1400" dirty="0">
                <a:solidFill>
                  <a:srgbClr val="DC2626"/>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Poor asset recovery if customer defaults</a:t>
            </a:r>
            <a:endParaRPr lang="en-US" sz="1600" dirty="0"/>
          </a:p>
        </p:txBody>
      </p:sp>
      <p:sp>
        <p:nvSpPr>
          <p:cNvPr id="15" name="Shape 13"/>
          <p:cNvSpPr/>
          <p:nvPr/>
        </p:nvSpPr>
        <p:spPr>
          <a:xfrm>
            <a:off x="762000" y="7048500"/>
            <a:ext cx="14732000" cy="889000"/>
          </a:xfrm>
          <a:prstGeom prst="rect">
            <a:avLst/>
          </a:prstGeom>
          <a:solidFill>
            <a:srgbClr val="FEF3C7"/>
          </a:solidFill>
          <a:ln w="12700">
            <a:solidFill>
              <a:srgbClr val="FCD34D"/>
            </a:solidFill>
            <a:prstDash val="solid"/>
          </a:ln>
        </p:spPr>
      </p:sp>
      <p:sp>
        <p:nvSpPr>
          <p:cNvPr id="16" name="Text 14"/>
          <p:cNvSpPr/>
          <p:nvPr/>
        </p:nvSpPr>
        <p:spPr>
          <a:xfrm>
            <a:off x="1016000" y="7137400"/>
            <a:ext cx="14224000" cy="698500"/>
          </a:xfrm>
          <a:prstGeom prst="rect">
            <a:avLst/>
          </a:prstGeom>
          <a:noFill/>
          <a:ln/>
        </p:spPr>
        <p:txBody>
          <a:bodyPr wrap="square" lIns="0" tIns="0" rIns="0" bIns="0" rtlCol="0" anchor="ctr"/>
          <a:lstStyle/>
          <a:p>
            <a:pPr>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Verdict:</a:t>
            </a:r>
            <a:pPr>
              <a:lnSpc>
                <a:spcPct val="140000"/>
              </a:lnSpc>
            </a:pPr>
            <a:r>
              <a:rPr lang="en-US" sz="1500" dirty="0">
                <a:solidFill>
                  <a:srgbClr val="1E293B"/>
                </a:solidFill>
                <a:latin typeface="Quattrocento Sans" pitchFamily="34" charset="0"/>
                <a:ea typeface="Quattrocento Sans" pitchFamily="34" charset="-122"/>
                <a:cs typeface="Quattrocento Sans" pitchFamily="34" charset="-120"/>
              </a:rPr>
              <a:t> Excellent for lighthouse accounts, too capital-heavy as default. Works best when the lab is strategically valuable enough to justify financing and uptime risk. Selective RaaS for 1-3 lighthouse deployments only.</a:t>
            </a:r>
            <a:endParaRPr lang="en-US" sz="1600" dirty="0"/>
          </a:p>
        </p:txBody>
      </p:sp>
      <p:sp>
        <p:nvSpPr>
          <p:cNvPr id="17" name="Shape 15"/>
          <p:cNvSpPr/>
          <p:nvPr/>
        </p:nvSpPr>
        <p:spPr>
          <a:xfrm>
            <a:off x="762000" y="8636000"/>
            <a:ext cx="14732000" cy="25400"/>
          </a:xfrm>
          <a:prstGeom prst="rect">
            <a:avLst/>
          </a:prstGeom>
          <a:solidFill>
            <a:srgbClr val="D97706"/>
          </a:solidFill>
          <a:ln/>
        </p:spPr>
      </p:sp>
      <p:sp>
        <p:nvSpPr>
          <p:cNvPr id="18" name="Text 16"/>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19</a:t>
            </a:r>
            <a:endParaRPr lang="en-US" sz="13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270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Transactional &amp; Revenue-Share: Structurally Weak for Phase-One</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206500"/>
            <a:ext cx="7112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PER-TEST PRICING</a:t>
            </a:r>
            <a:endParaRPr lang="en-US" sz="1600" dirty="0"/>
          </a:p>
        </p:txBody>
      </p:sp>
      <p:sp>
        <p:nvSpPr>
          <p:cNvPr id="5" name="Shape 3"/>
          <p:cNvSpPr/>
          <p:nvPr/>
        </p:nvSpPr>
        <p:spPr>
          <a:xfrm>
            <a:off x="762000" y="1651000"/>
            <a:ext cx="7112000" cy="3429000"/>
          </a:xfrm>
          <a:prstGeom prst="rect">
            <a:avLst/>
          </a:prstGeom>
          <a:solidFill>
            <a:srgbClr val="F1F5F9"/>
          </a:solidFill>
          <a:ln w="12700">
            <a:solidFill>
              <a:srgbClr val="E2E8F0"/>
            </a:solidFill>
            <a:prstDash val="solid"/>
          </a:ln>
        </p:spPr>
      </p:sp>
      <p:sp>
        <p:nvSpPr>
          <p:cNvPr id="6" name="Text 4"/>
          <p:cNvSpPr/>
          <p:nvPr/>
        </p:nvSpPr>
        <p:spPr>
          <a:xfrm>
            <a:off x="1016000" y="1778000"/>
            <a:ext cx="6604000" cy="3175000"/>
          </a:xfrm>
          <a:prstGeom prst="rect">
            <a:avLst/>
          </a:prstGeom>
          <a:noFill/>
          <a:ln/>
        </p:spPr>
        <p:txBody>
          <a:bodyPr wrap="square" lIns="0" tIns="0" rIns="0" bIns="0" rtlCol="0" anchor="t"/>
          <a:lstStyle/>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Pricing:</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Rs.1.5-5 per test or Rs.3-12 per automated handoff</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GM:</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35-60% (heavily utilization-sensitive)</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Buyer payback:</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0-6 months (immediate because spend is variable)</a:t>
            </a:r>
            <a:endParaRPr lang="en-US" sz="1600" dirty="0"/>
          </a:p>
          <a:p>
            <a:pPr>
              <a:lnSpc>
                <a:spcPct val="160000"/>
              </a:lnSpc>
              <a:spcBef>
                <a:spcPts val="800"/>
              </a:spcBef>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1E293B"/>
                </a:solidFill>
                <a:latin typeface="Quattrocento Sans" pitchFamily="34" charset="0"/>
                <a:ea typeface="Quattrocento Sans" pitchFamily="34" charset="-122"/>
                <a:cs typeface="Quattrocento Sans" pitchFamily="34" charset="-120"/>
              </a:rPr>
              <a:t> Startup doesn't control reagents/assays</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Value provided is up to lab's view</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Very hard to demand fair price</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Under-monetizes value without minimum guarantees</a:t>
            </a:r>
            <a:endParaRPr lang="en-US" sz="1600" dirty="0"/>
          </a:p>
        </p:txBody>
      </p:sp>
      <p:sp>
        <p:nvSpPr>
          <p:cNvPr id="7" name="Text 5"/>
          <p:cNvSpPr/>
          <p:nvPr/>
        </p:nvSpPr>
        <p:spPr>
          <a:xfrm>
            <a:off x="8382000" y="1206500"/>
            <a:ext cx="7112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REVENUE-SHARE</a:t>
            </a:r>
            <a:endParaRPr lang="en-US" sz="1600" dirty="0"/>
          </a:p>
        </p:txBody>
      </p:sp>
      <p:sp>
        <p:nvSpPr>
          <p:cNvPr id="8" name="Shape 6"/>
          <p:cNvSpPr/>
          <p:nvPr/>
        </p:nvSpPr>
        <p:spPr>
          <a:xfrm>
            <a:off x="8382000" y="1651000"/>
            <a:ext cx="7112000" cy="3429000"/>
          </a:xfrm>
          <a:prstGeom prst="rect">
            <a:avLst/>
          </a:prstGeom>
          <a:solidFill>
            <a:srgbClr val="F1F5F9"/>
          </a:solidFill>
          <a:ln w="12700">
            <a:solidFill>
              <a:srgbClr val="E2E8F0"/>
            </a:solidFill>
            <a:prstDash val="solid"/>
          </a:ln>
        </p:spPr>
      </p:sp>
      <p:sp>
        <p:nvSpPr>
          <p:cNvPr id="9" name="Text 7"/>
          <p:cNvSpPr/>
          <p:nvPr/>
        </p:nvSpPr>
        <p:spPr>
          <a:xfrm>
            <a:off x="8636000" y="1778000"/>
            <a:ext cx="6604000" cy="3175000"/>
          </a:xfrm>
          <a:prstGeom prst="rect">
            <a:avLst/>
          </a:prstGeom>
          <a:noFill/>
          <a:ln/>
        </p:spPr>
        <p:txBody>
          <a:bodyPr wrap="square" lIns="0" tIns="0" rIns="0" bIns="0" rtlCol="0" anchor="t"/>
          <a:lstStyle/>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Pricing:</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Rs.1.5-3L/month floor + 15-30% of audited savings</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GM:</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30-55%</a:t>
            </a:r>
            <a:endParaRPr lang="en-US" sz="1600" dirty="0"/>
          </a:p>
          <a:p>
            <a:pPr>
              <a:lnSpc>
                <a:spcPct val="160000"/>
              </a:lnSpc>
            </a:pPr>
            <a:r>
              <a:rPr lang="en-US" sz="1500" b="1" dirty="0">
                <a:solidFill>
                  <a:srgbClr val="1E293B"/>
                </a:solidFill>
                <a:latin typeface="Quattrocento Sans" pitchFamily="34" charset="0"/>
                <a:ea typeface="Quattrocento Sans" pitchFamily="34" charset="-122"/>
                <a:cs typeface="Quattrocento Sans" pitchFamily="34" charset="-120"/>
              </a:rPr>
              <a:t>Buyer payback:</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Immediate if floor is modest</a:t>
            </a:r>
            <a:endParaRPr lang="en-US" sz="1600" dirty="0"/>
          </a:p>
          <a:p>
            <a:pPr>
              <a:lnSpc>
                <a:spcPct val="160000"/>
              </a:lnSpc>
              <a:spcBef>
                <a:spcPts val="800"/>
              </a:spcBef>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1E293B"/>
                </a:solidFill>
                <a:latin typeface="Quattrocento Sans" pitchFamily="34" charset="0"/>
                <a:ea typeface="Quattrocento Sans" pitchFamily="34" charset="-122"/>
                <a:cs typeface="Quattrocento Sans" pitchFamily="34" charset="-120"/>
              </a:rPr>
              <a:t> Hard to prove causality</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Endless arguments about revenue source</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Labs: "The extra revenue wasn't because of your robot"</a:t>
            </a:r>
            <a:endParaRPr lang="en-US" sz="1600" dirty="0"/>
          </a:p>
          <a:p>
            <a:pPr>
              <a:lnSpc>
                <a:spcPct val="16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1E293B"/>
                </a:solidFill>
                <a:latin typeface="Quattrocento Sans" pitchFamily="34" charset="0"/>
                <a:ea typeface="Quattrocento Sans" pitchFamily="34" charset="-122"/>
                <a:cs typeface="Quattrocento Sans" pitchFamily="34" charset="-120"/>
              </a:rPr>
              <a:t> For pre/post-analytical: usually messy</a:t>
            </a:r>
            <a:endParaRPr lang="en-US" sz="1600" dirty="0"/>
          </a:p>
        </p:txBody>
      </p:sp>
      <p:sp>
        <p:nvSpPr>
          <p:cNvPr id="10" name="Shape 8"/>
          <p:cNvSpPr/>
          <p:nvPr/>
        </p:nvSpPr>
        <p:spPr>
          <a:xfrm>
            <a:off x="762000" y="5334000"/>
            <a:ext cx="14732000" cy="1270000"/>
          </a:xfrm>
          <a:prstGeom prst="rect">
            <a:avLst/>
          </a:prstGeom>
          <a:solidFill>
            <a:srgbClr val="1E293B"/>
          </a:solidFill>
          <a:ln/>
        </p:spPr>
      </p:sp>
      <p:sp>
        <p:nvSpPr>
          <p:cNvPr id="11" name="Text 9"/>
          <p:cNvSpPr/>
          <p:nvPr/>
        </p:nvSpPr>
        <p:spPr>
          <a:xfrm>
            <a:off x="1016000" y="5461000"/>
            <a:ext cx="5080000" cy="317500"/>
          </a:xfrm>
          <a:prstGeom prst="rect">
            <a:avLst/>
          </a:prstGeom>
          <a:noFill/>
          <a:ln/>
        </p:spPr>
        <p:txBody>
          <a:bodyPr wrap="none" lIns="0" tIns="0" rIns="0" bIns="0" rtlCol="0" anchor="ctr"/>
          <a:lstStyle/>
          <a:p>
            <a:pPr>
              <a:lnSpc>
                <a:spcPct val="100000"/>
              </a:lnSpc>
            </a:pPr>
            <a:r>
              <a:rPr lang="en-US" sz="1600" dirty="0">
                <a:solidFill>
                  <a:srgbClr val="D97706"/>
                </a:solidFill>
                <a:latin typeface="Liter" pitchFamily="34" charset="0"/>
                <a:ea typeface="Liter" pitchFamily="34" charset="-122"/>
                <a:cs typeface="Liter" pitchFamily="34" charset="-120"/>
              </a:rPr>
              <a:t>WHY THESE MODELS FAIL FOR US</a:t>
            </a:r>
            <a:endParaRPr lang="en-US" sz="1600" dirty="0"/>
          </a:p>
        </p:txBody>
      </p:sp>
      <p:sp>
        <p:nvSpPr>
          <p:cNvPr id="12" name="Text 10"/>
          <p:cNvSpPr/>
          <p:nvPr/>
        </p:nvSpPr>
        <p:spPr>
          <a:xfrm>
            <a:off x="1016000" y="5842000"/>
            <a:ext cx="14224000" cy="635000"/>
          </a:xfrm>
          <a:prstGeom prst="rect">
            <a:avLst/>
          </a:prstGeom>
          <a:noFill/>
          <a:ln/>
        </p:spPr>
        <p:txBody>
          <a:bodyPr wrap="square" lIns="0" tIns="0" rIns="0" bIns="0" rtlCol="0" anchor="ctr"/>
          <a:lstStyle/>
          <a:p>
            <a:pPr>
              <a:lnSpc>
                <a:spcPct val="140000"/>
              </a:lnSpc>
            </a:pPr>
            <a:r>
              <a:rPr lang="en-US" sz="1400" dirty="0">
                <a:solidFill>
                  <a:srgbClr val="F1F5F9"/>
                </a:solidFill>
                <a:latin typeface="Quattrocento Sans" pitchFamily="34" charset="0"/>
                <a:ea typeface="Quattrocento Sans" pitchFamily="34" charset="-122"/>
                <a:cs typeface="Quattrocento Sans" pitchFamily="34" charset="-120"/>
              </a:rPr>
              <a:t>Metropolis' public test catalog shows many routine tests in the </a:t>
            </a:r>
            <a:pPr>
              <a:lnSpc>
                <a:spcPct val="140000"/>
              </a:lnSpc>
            </a:pPr>
            <a:r>
              <a:rPr lang="en-US" sz="1400" b="1" dirty="0">
                <a:solidFill>
                  <a:srgbClr val="F1F5F9"/>
                </a:solidFill>
                <a:latin typeface="Quattrocento Sans" pitchFamily="34" charset="0"/>
                <a:ea typeface="Quattrocento Sans" pitchFamily="34" charset="-122"/>
                <a:cs typeface="Quattrocento Sans" pitchFamily="34" charset="-120"/>
              </a:rPr>
              <a:t>low-hundreds to low-thousands of rupees range</a:t>
            </a:r>
            <a:pPr>
              <a:lnSpc>
                <a:spcPct val="140000"/>
              </a:lnSpc>
            </a:pPr>
            <a:r>
              <a:rPr lang="en-US" sz="1400" dirty="0">
                <a:solidFill>
                  <a:srgbClr val="F1F5F9"/>
                </a:solidFill>
                <a:latin typeface="Quattrocento Sans" pitchFamily="34" charset="0"/>
                <a:ea typeface="Quattrocento Sans" pitchFamily="34" charset="-122"/>
                <a:cs typeface="Quattrocento Sans" pitchFamily="34" charset="-120"/>
              </a:rPr>
              <a:t>. An automation vendor's fee must stay a small share. Analyzer-style reagent-rental models work because the vendor owns recurring chemistry revenue. A pre/post-analytical startup generally does not.</a:t>
            </a:r>
            <a:endParaRPr lang="en-US" sz="1600" dirty="0"/>
          </a:p>
        </p:txBody>
      </p:sp>
      <p:sp>
        <p:nvSpPr>
          <p:cNvPr id="13" name="Shape 11"/>
          <p:cNvSpPr/>
          <p:nvPr/>
        </p:nvSpPr>
        <p:spPr>
          <a:xfrm>
            <a:off x="762000" y="6921500"/>
            <a:ext cx="14732000" cy="1016000"/>
          </a:xfrm>
          <a:prstGeom prst="rect">
            <a:avLst/>
          </a:prstGeom>
          <a:solidFill>
            <a:srgbClr val="FEF3C7"/>
          </a:solidFill>
          <a:ln w="12700">
            <a:solidFill>
              <a:srgbClr val="FCD34D"/>
            </a:solidFill>
            <a:prstDash val="solid"/>
          </a:ln>
        </p:spPr>
      </p:sp>
      <p:sp>
        <p:nvSpPr>
          <p:cNvPr id="14" name="Text 12"/>
          <p:cNvSpPr/>
          <p:nvPr/>
        </p:nvSpPr>
        <p:spPr>
          <a:xfrm>
            <a:off x="1016000" y="7048500"/>
            <a:ext cx="14224000" cy="762000"/>
          </a:xfrm>
          <a:prstGeom prst="rect">
            <a:avLst/>
          </a:prstGeom>
          <a:noFill/>
          <a:ln/>
        </p:spPr>
        <p:txBody>
          <a:bodyPr wrap="square" lIns="0" tIns="0" rIns="0" bIns="0" rtlCol="0" anchor="ctr"/>
          <a:lstStyle/>
          <a:p>
            <a:pPr>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Verdict:</a:t>
            </a:r>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 Both models are structurally weaker for phase-one diagnostics automation than in categories like assay reagents or payments infrastructure. Useful only </a:t>
            </a:r>
            <a:pPr>
              <a:lnSpc>
                <a:spcPct val="150000"/>
              </a:lnSpc>
            </a:pPr>
            <a:r>
              <a:rPr lang="en-US" sz="1600" b="1" dirty="0">
                <a:solidFill>
                  <a:srgbClr val="1E293B"/>
                </a:solidFill>
                <a:latin typeface="Quattrocento Sans" pitchFamily="34" charset="0"/>
                <a:ea typeface="Quattrocento Sans" pitchFamily="34" charset="-122"/>
                <a:cs typeface="Quattrocento Sans" pitchFamily="34" charset="-120"/>
              </a:rPr>
              <a:t>with a floor that covers gross profit and financing cost</a:t>
            </a:r>
            <a:pPr>
              <a:lnSpc>
                <a:spcPct val="150000"/>
              </a:lnSpc>
            </a:pPr>
            <a:r>
              <a:rPr lang="en-US" sz="1600" dirty="0">
                <a:solidFill>
                  <a:srgbClr val="1E293B"/>
                </a:solidFill>
                <a:latin typeface="Quattrocento Sans" pitchFamily="34" charset="0"/>
                <a:ea typeface="Quattrocento Sans" pitchFamily="34" charset="-122"/>
                <a:cs typeface="Quattrocento Sans" pitchFamily="34" charset="-120"/>
              </a:rPr>
              <a:t>, or as a pilot overlay - not as a standalone core model.</a:t>
            </a:r>
            <a:endParaRPr lang="en-US" sz="1600" dirty="0"/>
          </a:p>
        </p:txBody>
      </p:sp>
      <p:sp>
        <p:nvSpPr>
          <p:cNvPr id="15" name="Shape 13"/>
          <p:cNvSpPr/>
          <p:nvPr/>
        </p:nvSpPr>
        <p:spPr>
          <a:xfrm>
            <a:off x="762000" y="8636000"/>
            <a:ext cx="14732000" cy="25400"/>
          </a:xfrm>
          <a:prstGeom prst="rect">
            <a:avLst/>
          </a:prstGeom>
          <a:solidFill>
            <a:srgbClr val="D97706"/>
          </a:solidFill>
          <a:ln/>
        </p:spPr>
      </p:sp>
      <p:sp>
        <p:nvSpPr>
          <p:cNvPr id="16" name="Text 14"/>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20</a:t>
            </a:r>
            <a:endParaRPr lang="en-US" sz="13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270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Licensing &amp; IP: Attractive Second-Act, Not Day-One Wedge</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206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REVENUE STRUCTURE</a:t>
            </a:r>
            <a:endParaRPr lang="en-US" sz="1600" dirty="0"/>
          </a:p>
        </p:txBody>
      </p:sp>
      <p:sp>
        <p:nvSpPr>
          <p:cNvPr id="5" name="Shape 3"/>
          <p:cNvSpPr/>
          <p:nvPr/>
        </p:nvSpPr>
        <p:spPr>
          <a:xfrm>
            <a:off x="762000" y="1651000"/>
            <a:ext cx="7112000" cy="3175000"/>
          </a:xfrm>
          <a:prstGeom prst="rect">
            <a:avLst/>
          </a:prstGeom>
          <a:solidFill>
            <a:srgbClr val="F1F5F9"/>
          </a:solidFill>
          <a:ln w="12700">
            <a:solidFill>
              <a:srgbClr val="E2E8F0"/>
            </a:solidFill>
            <a:prstDash val="solid"/>
          </a:ln>
        </p:spPr>
      </p:sp>
      <p:sp>
        <p:nvSpPr>
          <p:cNvPr id="6" name="Text 4"/>
          <p:cNvSpPr/>
          <p:nvPr/>
        </p:nvSpPr>
        <p:spPr>
          <a:xfrm>
            <a:off x="1016000" y="1778000"/>
            <a:ext cx="6604000" cy="2921000"/>
          </a:xfrm>
          <a:prstGeom prst="rect">
            <a:avLst/>
          </a:prstGeom>
          <a:noFill/>
          <a:ln/>
        </p:spPr>
        <p:txBody>
          <a:bodyPr wrap="square" lIns="0" tIns="0" rIns="0" bIns="0" rtlCol="0" anchor="t"/>
          <a:lstStyle/>
          <a:p>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NRE per integration:</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Rs.20-75 lakh</a:t>
            </a:r>
            <a:endParaRPr lang="en-US" sz="1600" dirty="0"/>
          </a:p>
          <a:p>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Annual license:</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Rs.50 lakh - Rs.2 crore+</a:t>
            </a:r>
            <a:endParaRPr lang="en-US" sz="1600" dirty="0"/>
          </a:p>
          <a:p>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Direct GM:</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a:t>
            </a:r>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75-90%</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once platform is mature</a:t>
            </a:r>
            <a:endParaRPr lang="en-US" sz="1600" dirty="0"/>
          </a:p>
          <a:p>
            <a:pPr>
              <a:lnSpc>
                <a:spcPct val="150000"/>
              </a:lnSpc>
              <a:spcBef>
                <a:spcPts val="600"/>
              </a:spcBef>
            </a:pPr>
            <a:r>
              <a:rPr lang="en-US" sz="1400" b="1" dirty="0">
                <a:solidFill>
                  <a:srgbClr val="1E293B"/>
                </a:solidFill>
                <a:latin typeface="Quattrocento Sans" pitchFamily="34" charset="0"/>
                <a:ea typeface="Quattrocento Sans" pitchFamily="34" charset="-122"/>
                <a:cs typeface="Quattrocento Sans" pitchFamily="34" charset="-120"/>
              </a:rPr>
              <a:t>Revenue streams:</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OEM license &amp; orchestration software</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Driver/workflow IP licensing</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White-label integrations</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Developer tool access</a:t>
            </a:r>
            <a:endParaRPr lang="en-US" sz="1600" dirty="0"/>
          </a:p>
        </p:txBody>
      </p:sp>
      <p:sp>
        <p:nvSpPr>
          <p:cNvPr id="7" name="Text 5"/>
          <p:cNvSpPr/>
          <p:nvPr/>
        </p:nvSpPr>
        <p:spPr>
          <a:xfrm>
            <a:off x="8382000" y="1206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REQUIREMENTS FOR SUCCESS</a:t>
            </a:r>
            <a:endParaRPr lang="en-US" sz="1600" dirty="0"/>
          </a:p>
        </p:txBody>
      </p:sp>
      <p:sp>
        <p:nvSpPr>
          <p:cNvPr id="8" name="Shape 6"/>
          <p:cNvSpPr/>
          <p:nvPr/>
        </p:nvSpPr>
        <p:spPr>
          <a:xfrm>
            <a:off x="8382000" y="1651000"/>
            <a:ext cx="7112000" cy="3175000"/>
          </a:xfrm>
          <a:prstGeom prst="rect">
            <a:avLst/>
          </a:prstGeom>
          <a:solidFill>
            <a:srgbClr val="1E293B"/>
          </a:solidFill>
          <a:ln/>
        </p:spPr>
      </p:sp>
      <p:sp>
        <p:nvSpPr>
          <p:cNvPr id="9" name="Text 7"/>
          <p:cNvSpPr/>
          <p:nvPr/>
        </p:nvSpPr>
        <p:spPr>
          <a:xfrm>
            <a:off x="8636000" y="1778000"/>
            <a:ext cx="6604000" cy="2921000"/>
          </a:xfrm>
          <a:prstGeom prst="rect">
            <a:avLst/>
          </a:prstGeom>
          <a:noFill/>
          <a:ln/>
        </p:spPr>
        <p:txBody>
          <a:bodyPr wrap="square" lIns="0" tIns="0" rIns="0" bIns="0" rtlCol="0" anchor="t"/>
          <a:lstStyle/>
          <a:p>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Strong fit ONLY after company has:</a:t>
            </a:r>
            <a:endParaRPr lang="en-US" sz="1600" dirty="0"/>
          </a:p>
          <a:p>
            <a:pPr>
              <a:lnSpc>
                <a:spcPct val="160000"/>
              </a:lnSpc>
              <a:spcBef>
                <a:spcPts val="600"/>
              </a:spcBef>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spcBef>
                <a:spcPts val="600"/>
              </a:spcBef>
            </a:pPr>
            <a:r>
              <a:rPr lang="en-US" sz="1500" dirty="0">
                <a:solidFill>
                  <a:srgbClr val="F1F5F9"/>
                </a:solidFill>
                <a:latin typeface="Quattrocento Sans" pitchFamily="34" charset="0"/>
                <a:ea typeface="Quattrocento Sans" pitchFamily="34" charset="-122"/>
                <a:cs typeface="Quattrocento Sans" pitchFamily="34" charset="-120"/>
              </a:rPr>
              <a:t> Credible fleet data</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Stable drivers</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Proven partner integrations</a:t>
            </a:r>
            <a:endParaRPr lang="en-US" sz="1600" dirty="0"/>
          </a:p>
          <a:p>
            <a:pPr>
              <a:lnSpc>
                <a:spcPct val="160000"/>
              </a:lnSpc>
            </a:pPr>
            <a:r>
              <a:rPr lang="en-US" sz="15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Protectable IP</a:t>
            </a:r>
            <a:endParaRPr lang="en-US" sz="1600" dirty="0"/>
          </a:p>
          <a:p>
            <a:pPr>
              <a:lnSpc>
                <a:spcPct val="160000"/>
              </a:lnSpc>
              <a:spcBef>
                <a:spcPts val="800"/>
              </a:spcBef>
            </a:pPr>
            <a:r>
              <a:rPr lang="en-US" sz="1500" i="1" dirty="0">
                <a:solidFill>
                  <a:srgbClr val="F1F5F9"/>
                </a:solidFill>
                <a:latin typeface="Quattrocento Sans" pitchFamily="34" charset="0"/>
                <a:ea typeface="Quattrocento Sans" pitchFamily="34" charset="-122"/>
                <a:cs typeface="Quattrocento Sans" pitchFamily="34" charset="-120"/>
              </a:rPr>
              <a:t>This only comes after Phase 3, where the VLA/V-JEPA model gets good enough to be useful for medical labs even without the robot.</a:t>
            </a:r>
            <a:endParaRPr lang="en-US" sz="1600" dirty="0"/>
          </a:p>
        </p:txBody>
      </p:sp>
      <p:sp>
        <p:nvSpPr>
          <p:cNvPr id="10" name="Text 8"/>
          <p:cNvSpPr/>
          <p:nvPr/>
        </p:nvSpPr>
        <p:spPr>
          <a:xfrm>
            <a:off x="762000" y="50800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RISK VECTORS</a:t>
            </a:r>
            <a:endParaRPr lang="en-US" sz="1600" dirty="0"/>
          </a:p>
        </p:txBody>
      </p:sp>
      <p:sp>
        <p:nvSpPr>
          <p:cNvPr id="11" name="Shape 9"/>
          <p:cNvSpPr/>
          <p:nvPr/>
        </p:nvSpPr>
        <p:spPr>
          <a:xfrm>
            <a:off x="762000" y="5524500"/>
            <a:ext cx="3429000" cy="825500"/>
          </a:xfrm>
          <a:prstGeom prst="rect">
            <a:avLst/>
          </a:prstGeom>
          <a:solidFill>
            <a:srgbClr val="FEF2F2"/>
          </a:solidFill>
          <a:ln w="12700">
            <a:solidFill>
              <a:srgbClr val="FECACA"/>
            </a:solidFill>
            <a:prstDash val="solid"/>
          </a:ln>
        </p:spPr>
      </p:sp>
      <p:sp>
        <p:nvSpPr>
          <p:cNvPr id="12" name="Text 10"/>
          <p:cNvSpPr/>
          <p:nvPr/>
        </p:nvSpPr>
        <p:spPr>
          <a:xfrm>
            <a:off x="952500" y="5613400"/>
            <a:ext cx="3048000" cy="609600"/>
          </a:xfrm>
          <a:prstGeom prst="rect">
            <a:avLst/>
          </a:prstGeom>
          <a:noFill/>
          <a:ln/>
        </p:spPr>
        <p:txBody>
          <a:bodyPr wrap="square" lIns="0" tIns="0" rIns="0" bIns="0" rtlCol="0" anchor="ctr"/>
          <a:lstStyle/>
          <a:p>
            <a:pPr>
              <a:lnSpc>
                <a:spcPct val="140000"/>
              </a:lnSpc>
            </a:pPr>
            <a:r>
              <a:rPr lang="en-US" sz="1400" dirty="0">
                <a:solidFill>
                  <a:srgbClr val="DC2626"/>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Concentration risk - few large deals</a:t>
            </a:r>
            <a:endParaRPr lang="en-US" sz="1600" dirty="0"/>
          </a:p>
        </p:txBody>
      </p:sp>
      <p:sp>
        <p:nvSpPr>
          <p:cNvPr id="13" name="Shape 11"/>
          <p:cNvSpPr/>
          <p:nvPr/>
        </p:nvSpPr>
        <p:spPr>
          <a:xfrm>
            <a:off x="4445000" y="5524500"/>
            <a:ext cx="3429000" cy="825500"/>
          </a:xfrm>
          <a:prstGeom prst="rect">
            <a:avLst/>
          </a:prstGeom>
          <a:solidFill>
            <a:srgbClr val="FEF2F2"/>
          </a:solidFill>
          <a:ln w="12700">
            <a:solidFill>
              <a:srgbClr val="FECACA"/>
            </a:solidFill>
            <a:prstDash val="solid"/>
          </a:ln>
        </p:spPr>
      </p:sp>
      <p:sp>
        <p:nvSpPr>
          <p:cNvPr id="14" name="Text 12"/>
          <p:cNvSpPr/>
          <p:nvPr/>
        </p:nvSpPr>
        <p:spPr>
          <a:xfrm>
            <a:off x="4635500" y="5613400"/>
            <a:ext cx="3048000" cy="609600"/>
          </a:xfrm>
          <a:prstGeom prst="rect">
            <a:avLst/>
          </a:prstGeom>
          <a:noFill/>
          <a:ln/>
        </p:spPr>
        <p:txBody>
          <a:bodyPr wrap="square" lIns="0" tIns="0" rIns="0" bIns="0" rtlCol="0" anchor="ctr"/>
          <a:lstStyle/>
          <a:p>
            <a:pPr>
              <a:lnSpc>
                <a:spcPct val="140000"/>
              </a:lnSpc>
            </a:pPr>
            <a:r>
              <a:rPr lang="en-US" sz="1400" dirty="0">
                <a:solidFill>
                  <a:srgbClr val="DC2626"/>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Long BD cycles (18-36 months)</a:t>
            </a:r>
            <a:endParaRPr lang="en-US" sz="1600" dirty="0"/>
          </a:p>
        </p:txBody>
      </p:sp>
      <p:sp>
        <p:nvSpPr>
          <p:cNvPr id="15" name="Shape 13"/>
          <p:cNvSpPr/>
          <p:nvPr/>
        </p:nvSpPr>
        <p:spPr>
          <a:xfrm>
            <a:off x="8128000" y="5524500"/>
            <a:ext cx="3429000" cy="825500"/>
          </a:xfrm>
          <a:prstGeom prst="rect">
            <a:avLst/>
          </a:prstGeom>
          <a:solidFill>
            <a:srgbClr val="FEF2F2"/>
          </a:solidFill>
          <a:ln w="12700">
            <a:solidFill>
              <a:srgbClr val="FECACA"/>
            </a:solidFill>
            <a:prstDash val="solid"/>
          </a:ln>
        </p:spPr>
      </p:sp>
      <p:sp>
        <p:nvSpPr>
          <p:cNvPr id="16" name="Text 14"/>
          <p:cNvSpPr/>
          <p:nvPr/>
        </p:nvSpPr>
        <p:spPr>
          <a:xfrm>
            <a:off x="8318500" y="5613400"/>
            <a:ext cx="3048000" cy="609600"/>
          </a:xfrm>
          <a:prstGeom prst="rect">
            <a:avLst/>
          </a:prstGeom>
          <a:noFill/>
          <a:ln/>
        </p:spPr>
        <p:txBody>
          <a:bodyPr wrap="square" lIns="0" tIns="0" rIns="0" bIns="0" rtlCol="0" anchor="ctr"/>
          <a:lstStyle/>
          <a:p>
            <a:pPr>
              <a:lnSpc>
                <a:spcPct val="140000"/>
              </a:lnSpc>
            </a:pPr>
            <a:r>
              <a:rPr lang="en-US" sz="1400" dirty="0">
                <a:solidFill>
                  <a:srgbClr val="DC2626"/>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Dependency on partner roadmap</a:t>
            </a:r>
            <a:endParaRPr lang="en-US" sz="1600" dirty="0"/>
          </a:p>
        </p:txBody>
      </p:sp>
      <p:sp>
        <p:nvSpPr>
          <p:cNvPr id="17" name="Shape 15"/>
          <p:cNvSpPr/>
          <p:nvPr/>
        </p:nvSpPr>
        <p:spPr>
          <a:xfrm>
            <a:off x="11811000" y="5524500"/>
            <a:ext cx="3683000" cy="825500"/>
          </a:xfrm>
          <a:prstGeom prst="rect">
            <a:avLst/>
          </a:prstGeom>
          <a:solidFill>
            <a:srgbClr val="FEF2F2"/>
          </a:solidFill>
          <a:ln w="12700">
            <a:solidFill>
              <a:srgbClr val="FECACA"/>
            </a:solidFill>
            <a:prstDash val="solid"/>
          </a:ln>
        </p:spPr>
      </p:sp>
      <p:sp>
        <p:nvSpPr>
          <p:cNvPr id="18" name="Text 16"/>
          <p:cNvSpPr/>
          <p:nvPr/>
        </p:nvSpPr>
        <p:spPr>
          <a:xfrm>
            <a:off x="12001500" y="5613400"/>
            <a:ext cx="3302000" cy="609600"/>
          </a:xfrm>
          <a:prstGeom prst="rect">
            <a:avLst/>
          </a:prstGeom>
          <a:noFill/>
          <a:ln/>
        </p:spPr>
        <p:txBody>
          <a:bodyPr wrap="square" lIns="0" tIns="0" rIns="0" bIns="0" rtlCol="0" anchor="ctr"/>
          <a:lstStyle/>
          <a:p>
            <a:pPr>
              <a:lnSpc>
                <a:spcPct val="140000"/>
              </a:lnSpc>
            </a:pPr>
            <a:r>
              <a:rPr lang="en-US" sz="1400" dirty="0">
                <a:solidFill>
                  <a:srgbClr val="DC2626"/>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IP leakage risk</a:t>
            </a:r>
            <a:endParaRPr lang="en-US" sz="1600" dirty="0"/>
          </a:p>
        </p:txBody>
      </p:sp>
      <p:sp>
        <p:nvSpPr>
          <p:cNvPr id="19" name="Shape 17"/>
          <p:cNvSpPr/>
          <p:nvPr/>
        </p:nvSpPr>
        <p:spPr>
          <a:xfrm>
            <a:off x="762000" y="6604000"/>
            <a:ext cx="14732000" cy="889000"/>
          </a:xfrm>
          <a:prstGeom prst="rect">
            <a:avLst/>
          </a:prstGeom>
          <a:solidFill>
            <a:srgbClr val="FEF3C7"/>
          </a:solidFill>
          <a:ln w="12700">
            <a:solidFill>
              <a:srgbClr val="FCD34D"/>
            </a:solidFill>
            <a:prstDash val="solid"/>
          </a:ln>
        </p:spPr>
      </p:sp>
      <p:sp>
        <p:nvSpPr>
          <p:cNvPr id="20" name="Text 18"/>
          <p:cNvSpPr/>
          <p:nvPr/>
        </p:nvSpPr>
        <p:spPr>
          <a:xfrm>
            <a:off x="1016000" y="6705600"/>
            <a:ext cx="14224000" cy="698500"/>
          </a:xfrm>
          <a:prstGeom prst="rect">
            <a:avLst/>
          </a:prstGeom>
          <a:noFill/>
          <a:ln/>
        </p:spPr>
        <p:txBody>
          <a:bodyPr wrap="square" lIns="0" tIns="0" rIns="0" bIns="0" rtlCol="0" anchor="ctr"/>
          <a:lstStyle/>
          <a:p>
            <a:pPr>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Verdict:</a:t>
            </a:r>
            <a:pPr>
              <a:lnSpc>
                <a:spcPct val="140000"/>
              </a:lnSpc>
            </a:pPr>
            <a:r>
              <a:rPr lang="en-US" sz="1500" dirty="0">
                <a:solidFill>
                  <a:srgbClr val="1E293B"/>
                </a:solidFill>
                <a:latin typeface="Quattrocento Sans" pitchFamily="34" charset="0"/>
                <a:ea typeface="Quattrocento Sans" pitchFamily="34" charset="-122"/>
                <a:cs typeface="Quattrocento Sans" pitchFamily="34" charset="-120"/>
              </a:rPr>
              <a:t> Attractive second-act model after field validation, not the initial wedge. Opentrons' OEM positioning shows platforms can expand into partner-driven revenue, but deals are strongest with credible deployments and custom drivers.</a:t>
            </a:r>
            <a:endParaRPr lang="en-US" sz="1600" dirty="0"/>
          </a:p>
        </p:txBody>
      </p:sp>
      <p:sp>
        <p:nvSpPr>
          <p:cNvPr id="21" name="Shape 19"/>
          <p:cNvSpPr/>
          <p:nvPr/>
        </p:nvSpPr>
        <p:spPr>
          <a:xfrm>
            <a:off x="762000" y="8636000"/>
            <a:ext cx="14732000" cy="25400"/>
          </a:xfrm>
          <a:prstGeom prst="rect">
            <a:avLst/>
          </a:prstGeom>
          <a:solidFill>
            <a:srgbClr val="D97706"/>
          </a:solidFill>
          <a:ln/>
        </p:spPr>
      </p:sp>
      <p:sp>
        <p:nvSpPr>
          <p:cNvPr id="22" name="Text 20"/>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21</a:t>
            </a:r>
            <a:endParaRPr lang="en-US" sz="13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KPI Summary: Normalized to 2,000 Samples/Day, 26 Days/Month</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117600"/>
            <a:ext cx="10160000" cy="254000"/>
          </a:xfrm>
          <a:prstGeom prst="rect">
            <a:avLst/>
          </a:prstGeom>
          <a:noFill/>
          <a:ln/>
        </p:spPr>
        <p:txBody>
          <a:bodyPr wrap="none" lIns="0" tIns="0" rIns="0" bIns="0" rtlCol="0" anchor="ctr"/>
          <a:lstStyle/>
          <a:p>
            <a:pPr>
              <a:lnSpc>
                <a:spcPct val="100000"/>
              </a:lnSpc>
            </a:pPr>
            <a:r>
              <a:rPr lang="en-US" sz="1200" dirty="0">
                <a:solidFill>
                  <a:srgbClr val="475569"/>
                </a:solidFill>
                <a:latin typeface="Quattrocento Sans" pitchFamily="34" charset="0"/>
                <a:ea typeface="Quattrocento Sans" pitchFamily="34" charset="-122"/>
                <a:cs typeface="Quattrocento Sans" pitchFamily="34" charset="-120"/>
              </a:rPr>
              <a:t>For lumpy models (CapEx, Hybrid), "ARPU" = recognized revenue in year one, not recurring ARR alone</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62000" y="1460500"/>
          <a:ext cx="14732000" cy="5257800"/>
        </p:xfrm>
        <a:graphic>
          <a:graphicData uri="http://schemas.openxmlformats.org/drawingml/2006/table">
            <a:tbl>
              <a:tblPr/>
              <a:tblGrid>
                <a:gridCol w="2062480"/>
                <a:gridCol w="2062480"/>
                <a:gridCol w="1767840"/>
                <a:gridCol w="1767840"/>
                <a:gridCol w="1767840"/>
                <a:gridCol w="1767840"/>
                <a:gridCol w="1767840"/>
                <a:gridCol w="1767840"/>
              </a:tblGrid>
              <a:tr h="598345">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Model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Year-One ARPU</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CAC</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CAC Payback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Buyer Payback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5-Yr LTV</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Churn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Steady GM</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776576">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CapEx</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Rs.33-61L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Rs.6-12L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1-4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18-30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Rs.18-35L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&lt;5%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45-58%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76576">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RaaS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Rs.30-78L/yr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Rs.5-9L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8-14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3-9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Rs.35-90L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8-15%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55-70%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776576">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Hybrid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Rs.28-52L yr1</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Rs.5-10L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6-12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9-18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Rs.30-65L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5-10%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55-68%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76576">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Per-Test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Rs.2-4/test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Rs.4-8L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12-24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0-6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Rs.20-45L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7-15%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35-60%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776576">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Rev-Share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Rs.15-30L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Rs.6-10L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12-24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Immediate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Rs.18-50L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10-20%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30-55%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76576">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Licensing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Rs.50L-2Cr+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Rs.10-25L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18-36 mo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Partner-specific</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Rs.75L-3Cr+</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Deal risk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75-90%</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bl>
          </a:graphicData>
        </a:graphic>
      </p:graphicFrame>
      <p:sp>
        <p:nvSpPr>
          <p:cNvPr id="6" name="Text 3"/>
          <p:cNvSpPr/>
          <p:nvPr/>
        </p:nvSpPr>
        <p:spPr>
          <a:xfrm>
            <a:off x="762000" y="7620000"/>
            <a:ext cx="14732000" cy="381000"/>
          </a:xfrm>
          <a:prstGeom prst="rect">
            <a:avLst/>
          </a:prstGeom>
          <a:noFill/>
          <a:ln/>
        </p:spPr>
        <p:txBody>
          <a:bodyPr wrap="square" lIns="0" tIns="0" rIns="0" bIns="0" rtlCol="0" anchor="ctr"/>
          <a:lstStyle/>
          <a:p>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Modeled assumptions by the author, using public anchors: Opentrons, Automata, SGPGIMS, AIIMS Bhopal, Metropolis, INR at Rs.95.785/USD</a:t>
            </a:r>
            <a:endParaRPr lang="en-US" sz="1300" dirty="0"/>
          </a:p>
        </p:txBody>
      </p:sp>
      <p:sp>
        <p:nvSpPr>
          <p:cNvPr id="7" name="Shape 4"/>
          <p:cNvSpPr/>
          <p:nvPr/>
        </p:nvSpPr>
        <p:spPr>
          <a:xfrm>
            <a:off x="762000" y="8636000"/>
            <a:ext cx="14732000" cy="25400"/>
          </a:xfrm>
          <a:prstGeom prst="rect">
            <a:avLst/>
          </a:prstGeom>
          <a:solidFill>
            <a:srgbClr val="D97706"/>
          </a:solidFill>
          <a:ln/>
        </p:spPr>
      </p:sp>
      <p:sp>
        <p:nvSpPr>
          <p:cNvPr id="8" name="Text 5"/>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22</a:t>
            </a:r>
            <a:endParaRPr lang="en-US" sz="13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ttps://kimi-img.moonshot.cn/pub/slides/okc/twrgmxeyd52h4/mnt/agents/output/business_model/images/1_Smart_robots_in_the_lab_for_automated.png">    </p:cNvPr>
          <p:cNvPicPr>
            <a:picLocks noChangeAspect="1"/>
          </p:cNvPicPr>
          <p:nvPr/>
        </p:nvPicPr>
        <p:blipFill>
          <a:blip r:embed="rId1"/>
          <a:srcRect l="5556" r="5556"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172A">
                  <a:alpha val="94000"/>
                </a:srgbClr>
              </a:gs>
              <a:gs pos="60000">
                <a:srgbClr val="0F172A">
                  <a:alpha val="88000"/>
                </a:srgbClr>
              </a:gs>
              <a:gs pos="100000">
                <a:srgbClr val="0F172A">
                  <a:alpha val="56000"/>
                </a:srgbClr>
              </a:gs>
            </a:gsLst>
            <a:lin ang="0" scaled="1"/>
          </a:gradFill>
          <a:ln w="12700">
            <a:solidFill>
              <a:srgbClr val="333333"/>
            </a:solidFill>
            <a:prstDash val="solid"/>
          </a:ln>
        </p:spPr>
      </p:sp>
      <p:sp>
        <p:nvSpPr>
          <p:cNvPr id="4" name="Text 1"/>
          <p:cNvSpPr/>
          <p:nvPr/>
        </p:nvSpPr>
        <p:spPr>
          <a:xfrm>
            <a:off x="762000" y="2286000"/>
            <a:ext cx="3810000" cy="1524000"/>
          </a:xfrm>
          <a:prstGeom prst="rect">
            <a:avLst/>
          </a:prstGeom>
          <a:noFill/>
          <a:ln/>
        </p:spPr>
        <p:txBody>
          <a:bodyPr wrap="none" lIns="0" tIns="0" rIns="0" bIns="0" rtlCol="0" anchor="ctr"/>
          <a:lstStyle/>
          <a:p>
            <a:pPr>
              <a:lnSpc>
                <a:spcPct val="100000"/>
              </a:lnSpc>
            </a:pPr>
            <a:r>
              <a:rPr lang="en-US" sz="9600" dirty="0">
                <a:solidFill>
                  <a:srgbClr val="D97706"/>
                </a:solidFill>
                <a:latin typeface="Liter" pitchFamily="34" charset="0"/>
                <a:ea typeface="Liter" pitchFamily="34" charset="-122"/>
                <a:cs typeface="Liter" pitchFamily="34" charset="-120"/>
              </a:rPr>
              <a:t>05</a:t>
            </a:r>
            <a:endParaRPr lang="en-US" sz="1600" dirty="0"/>
          </a:p>
        </p:txBody>
      </p:sp>
      <p:sp>
        <p:nvSpPr>
          <p:cNvPr id="5" name="Text 2"/>
          <p:cNvSpPr/>
          <p:nvPr/>
        </p:nvSpPr>
        <p:spPr>
          <a:xfrm>
            <a:off x="762000" y="3937000"/>
            <a:ext cx="11430000" cy="698500"/>
          </a:xfrm>
          <a:prstGeom prst="rect">
            <a:avLst/>
          </a:prstGeom>
          <a:noFill/>
          <a:ln/>
        </p:spPr>
        <p:txBody>
          <a:bodyPr wrap="none" lIns="0" tIns="0" rIns="0" bIns="0" rtlCol="0" anchor="ctr"/>
          <a:lstStyle/>
          <a:p>
            <a:pPr>
              <a:lnSpc>
                <a:spcPct val="100000"/>
              </a:lnSpc>
            </a:pPr>
            <a:r>
              <a:rPr lang="en-US" sz="3800" spc="100" kern="0" dirty="0">
                <a:solidFill>
                  <a:srgbClr val="F1F5F9"/>
                </a:solidFill>
                <a:latin typeface="Liter" pitchFamily="34" charset="0"/>
                <a:ea typeface="Liter" pitchFamily="34" charset="-122"/>
                <a:cs typeface="Liter" pitchFamily="34" charset="-120"/>
              </a:rPr>
              <a:t>GO-TO-MARKET STRATEGY</a:t>
            </a:r>
            <a:endParaRPr lang="en-US" sz="1600" dirty="0"/>
          </a:p>
        </p:txBody>
      </p:sp>
      <p:sp>
        <p:nvSpPr>
          <p:cNvPr id="6" name="Shape 3"/>
          <p:cNvSpPr/>
          <p:nvPr/>
        </p:nvSpPr>
        <p:spPr>
          <a:xfrm>
            <a:off x="762000" y="4826000"/>
            <a:ext cx="1524000" cy="50800"/>
          </a:xfrm>
          <a:prstGeom prst="rect">
            <a:avLst/>
          </a:prstGeom>
          <a:solidFill>
            <a:srgbClr val="D97706"/>
          </a:solidFill>
          <a:ln/>
        </p:spPr>
      </p:sp>
      <p:sp>
        <p:nvSpPr>
          <p:cNvPr id="7" name="Text 4"/>
          <p:cNvSpPr/>
          <p:nvPr/>
        </p:nvSpPr>
        <p:spPr>
          <a:xfrm>
            <a:off x="762000" y="5080000"/>
            <a:ext cx="10160000" cy="444500"/>
          </a:xfrm>
          <a:prstGeom prst="rect">
            <a:avLst/>
          </a:prstGeom>
          <a:noFill/>
          <a:ln/>
        </p:spPr>
        <p:txBody>
          <a:bodyPr wrap="square" lIns="0" tIns="0" rIns="0" bIns="0" rtlCol="0" anchor="ctr"/>
          <a:lstStyle/>
          <a:p>
            <a:pPr>
              <a:lnSpc>
                <a:spcPct val="100000"/>
              </a:lnSpc>
            </a:pPr>
            <a:r>
              <a:rPr lang="en-US" sz="1800" dirty="0">
                <a:solidFill>
                  <a:srgbClr val="94A3B8"/>
                </a:solidFill>
                <a:latin typeface="Quattrocento Sans" pitchFamily="34" charset="0"/>
                <a:ea typeface="Quattrocento Sans" pitchFamily="34" charset="-122"/>
                <a:cs typeface="Quattrocento Sans" pitchFamily="34" charset="-120"/>
              </a:rPr>
              <a:t>Paid pilots, target segments, success metrics, and market entry timeline</a:t>
            </a:r>
            <a:endParaRPr lang="en-US" sz="16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270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Paid Pilots Only: The Four Commercial Protections</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206500"/>
            <a:ext cx="762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WHY PAID PILOTS, NOT FREE</a:t>
            </a:r>
            <a:endParaRPr lang="en-US" sz="1600" dirty="0"/>
          </a:p>
        </p:txBody>
      </p:sp>
      <p:sp>
        <p:nvSpPr>
          <p:cNvPr id="5" name="Shape 3"/>
          <p:cNvSpPr/>
          <p:nvPr/>
        </p:nvSpPr>
        <p:spPr>
          <a:xfrm>
            <a:off x="762000" y="1651000"/>
            <a:ext cx="14732000" cy="1143000"/>
          </a:xfrm>
          <a:prstGeom prst="rect">
            <a:avLst/>
          </a:prstGeom>
          <a:solidFill>
            <a:srgbClr val="1E293B"/>
          </a:solidFill>
          <a:ln/>
        </p:spPr>
      </p:sp>
      <p:sp>
        <p:nvSpPr>
          <p:cNvPr id="6" name="Text 4"/>
          <p:cNvSpPr/>
          <p:nvPr/>
        </p:nvSpPr>
        <p:spPr>
          <a:xfrm>
            <a:off x="1016000" y="1752600"/>
            <a:ext cx="14224000" cy="990600"/>
          </a:xfrm>
          <a:prstGeom prst="rect">
            <a:avLst/>
          </a:prstGeom>
          <a:noFill/>
          <a:ln/>
        </p:spPr>
        <p:txBody>
          <a:bodyPr wrap="square" lIns="0" tIns="0" rIns="0" bIns="0" rtlCol="0" anchor="ctr"/>
          <a:lstStyle/>
          <a:p>
            <a:pPr>
              <a:lnSpc>
                <a:spcPct val="130000"/>
              </a:lnSpc>
            </a:pPr>
            <a:r>
              <a:rPr lang="en-US" sz="1300" dirty="0">
                <a:solidFill>
                  <a:srgbClr val="F1F5F9"/>
                </a:solidFill>
                <a:latin typeface="Quattrocento Sans" pitchFamily="34" charset="0"/>
                <a:ea typeface="Quattrocento Sans" pitchFamily="34" charset="-122"/>
                <a:cs typeface="Quattrocento Sans" pitchFamily="34" charset="-120"/>
              </a:rPr>
              <a:t>In regulated and accreditation-sensitive lab environments, pilots don't only prove hardware - they force the </a:t>
            </a:r>
            <a:pPr>
              <a:lnSpc>
                <a:spcPct val="130000"/>
              </a:lnSpc>
            </a:pPr>
            <a:r>
              <a:rPr lang="en-US" sz="1300" b="1" dirty="0">
                <a:solidFill>
                  <a:srgbClr val="F1F5F9"/>
                </a:solidFill>
                <a:latin typeface="Quattrocento Sans" pitchFamily="34" charset="0"/>
                <a:ea typeface="Quattrocento Sans" pitchFamily="34" charset="-122"/>
                <a:cs typeface="Quattrocento Sans" pitchFamily="34" charset="-120"/>
              </a:rPr>
              <a:t>real commercial work</a:t>
            </a:r>
            <a:pPr>
              <a:lnSpc>
                <a:spcPct val="130000"/>
              </a:lnSpc>
            </a:pPr>
            <a:r>
              <a:rPr lang="en-US" sz="1300" dirty="0">
                <a:solidFill>
                  <a:srgbClr val="F1F5F9"/>
                </a:solidFill>
                <a:latin typeface="Quattrocento Sans" pitchFamily="34" charset="0"/>
                <a:ea typeface="Quattrocento Sans" pitchFamily="34" charset="-122"/>
                <a:cs typeface="Quattrocento Sans" pitchFamily="34" charset="-120"/>
              </a:rPr>
              <a:t> to happen: SOP alignment, IT integration, quality signoff, training cadence, floor ownership, and escalation paths. Opentrons and Automata both frame installation, IQ/OQ, protocol development, and ongoing support as core parts of deployment.</a:t>
            </a:r>
            <a:endParaRPr lang="en-US" sz="1600" dirty="0"/>
          </a:p>
        </p:txBody>
      </p:sp>
      <p:sp>
        <p:nvSpPr>
          <p:cNvPr id="7" name="Text 5"/>
          <p:cNvSpPr/>
          <p:nvPr/>
        </p:nvSpPr>
        <p:spPr>
          <a:xfrm>
            <a:off x="762000" y="2946400"/>
            <a:ext cx="7620000" cy="355600"/>
          </a:xfrm>
          <a:prstGeom prst="rect">
            <a:avLst/>
          </a:prstGeom>
          <a:noFill/>
          <a:ln/>
        </p:spPr>
        <p:txBody>
          <a:bodyPr wrap="none" lIns="0" tIns="0" rIns="0" bIns="0" rtlCol="0" anchor="ctr"/>
          <a:lstStyle/>
          <a:p>
            <a:pPr>
              <a:lnSpc>
                <a:spcPct val="100000"/>
              </a:lnSpc>
            </a:pPr>
            <a:r>
              <a:rPr lang="en-US" sz="1800" dirty="0">
                <a:solidFill>
                  <a:srgbClr val="DC2626"/>
                </a:solidFill>
                <a:latin typeface="Liter" pitchFamily="34" charset="0"/>
                <a:ea typeface="Liter" pitchFamily="34" charset="-122"/>
                <a:cs typeface="Liter" pitchFamily="34" charset="-120"/>
              </a:rPr>
              <a:t>THE "DEAD ZONE" OF FREE PILOTS</a:t>
            </a:r>
            <a:endParaRPr lang="en-US" sz="1600" dirty="0"/>
          </a:p>
        </p:txBody>
      </p:sp>
      <p:sp>
        <p:nvSpPr>
          <p:cNvPr id="8" name="Shape 6"/>
          <p:cNvSpPr/>
          <p:nvPr/>
        </p:nvSpPr>
        <p:spPr>
          <a:xfrm>
            <a:off x="762000" y="3390900"/>
            <a:ext cx="7112000" cy="1651000"/>
          </a:xfrm>
          <a:prstGeom prst="rect">
            <a:avLst/>
          </a:prstGeom>
          <a:solidFill>
            <a:srgbClr val="FEF2F2"/>
          </a:solidFill>
          <a:ln w="12700">
            <a:solidFill>
              <a:srgbClr val="FECACA"/>
            </a:solidFill>
            <a:prstDash val="solid"/>
          </a:ln>
        </p:spPr>
      </p:sp>
      <p:sp>
        <p:nvSpPr>
          <p:cNvPr id="9" name="Text 7"/>
          <p:cNvSpPr/>
          <p:nvPr/>
        </p:nvSpPr>
        <p:spPr>
          <a:xfrm>
            <a:off x="1016000" y="3517900"/>
            <a:ext cx="6604000" cy="1397000"/>
          </a:xfrm>
          <a:prstGeom prst="rect">
            <a:avLst/>
          </a:prstGeom>
          <a:noFill/>
          <a:ln/>
        </p:spPr>
        <p:txBody>
          <a:bodyPr wrap="square" lIns="0" tIns="0" rIns="0" bIns="0" rtlCol="0" anchor="t"/>
          <a:lstStyle/>
          <a:p>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Lab agrees to free pilot. Since they paid nothing:</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They delay meetings</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Ignore feedback, don't assign staff</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E293B"/>
                </a:solidFill>
                <a:latin typeface="Quattrocento Sans" pitchFamily="34" charset="0"/>
                <a:ea typeface="Quattrocento Sans" pitchFamily="34" charset="-122"/>
                <a:cs typeface="Quattrocento Sans" pitchFamily="34" charset="-120"/>
              </a:rPr>
              <a:t> After 6 months: "We'll get back to you"</a:t>
            </a:r>
            <a:endParaRPr lang="en-US" sz="1600" dirty="0"/>
          </a:p>
        </p:txBody>
      </p:sp>
      <p:sp>
        <p:nvSpPr>
          <p:cNvPr id="10" name="Text 8"/>
          <p:cNvSpPr/>
          <p:nvPr/>
        </p:nvSpPr>
        <p:spPr>
          <a:xfrm>
            <a:off x="8382000" y="2946400"/>
            <a:ext cx="762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FOUR COMMERCIAL PROTECTIONS</a:t>
            </a:r>
            <a:endParaRPr lang="en-US" sz="1600" dirty="0"/>
          </a:p>
        </p:txBody>
      </p:sp>
      <p:sp>
        <p:nvSpPr>
          <p:cNvPr id="11" name="Shape 9"/>
          <p:cNvSpPr/>
          <p:nvPr/>
        </p:nvSpPr>
        <p:spPr>
          <a:xfrm>
            <a:off x="8382000" y="3390900"/>
            <a:ext cx="7112000" cy="698500"/>
          </a:xfrm>
          <a:prstGeom prst="rect">
            <a:avLst/>
          </a:prstGeom>
          <a:solidFill>
            <a:srgbClr val="F1F5F9"/>
          </a:solidFill>
          <a:ln w="12700">
            <a:solidFill>
              <a:srgbClr val="E2E8F0"/>
            </a:solidFill>
            <a:prstDash val="solid"/>
          </a:ln>
        </p:spPr>
      </p:sp>
      <p:sp>
        <p:nvSpPr>
          <p:cNvPr id="12" name="Text 10"/>
          <p:cNvSpPr/>
          <p:nvPr/>
        </p:nvSpPr>
        <p:spPr>
          <a:xfrm>
            <a:off x="8509000" y="3454400"/>
            <a:ext cx="381000" cy="508000"/>
          </a:xfrm>
          <a:prstGeom prst="rect">
            <a:avLst/>
          </a:prstGeom>
          <a:noFill/>
          <a:ln/>
        </p:spPr>
        <p:txBody>
          <a:bodyPr wrap="none" lIns="0" tIns="0" rIns="0" bIns="0" rtlCol="0" anchor="ctr"/>
          <a:lstStyle/>
          <a:p>
            <a:pPr algn="ctr">
              <a:lnSpc>
                <a:spcPct val="100000"/>
              </a:lnSpc>
            </a:pPr>
            <a:r>
              <a:rPr lang="en-US" sz="2200" dirty="0">
                <a:solidFill>
                  <a:srgbClr val="D97706"/>
                </a:solidFill>
                <a:latin typeface="Liter" pitchFamily="34" charset="0"/>
                <a:ea typeface="Liter" pitchFamily="34" charset="-122"/>
                <a:cs typeface="Liter" pitchFamily="34" charset="-120"/>
              </a:rPr>
              <a:t>1</a:t>
            </a:r>
            <a:endParaRPr lang="en-US" sz="1600" dirty="0"/>
          </a:p>
        </p:txBody>
      </p:sp>
      <p:sp>
        <p:nvSpPr>
          <p:cNvPr id="13" name="Text 11"/>
          <p:cNvSpPr/>
          <p:nvPr/>
        </p:nvSpPr>
        <p:spPr>
          <a:xfrm>
            <a:off x="8953500" y="3492500"/>
            <a:ext cx="6350000" cy="508000"/>
          </a:xfrm>
          <a:prstGeom prst="rect">
            <a:avLst/>
          </a:prstGeom>
          <a:noFill/>
          <a:ln/>
        </p:spPr>
        <p:txBody>
          <a:bodyPr wrap="square" lIns="0" tIns="0" rIns="0" bIns="0" rtlCol="0" anchor="ctr"/>
          <a:lstStyle/>
          <a:p>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Billable workflow scope</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 clearly defined what the pilot covers</a:t>
            </a:r>
            <a:endParaRPr lang="en-US" sz="1600" dirty="0"/>
          </a:p>
        </p:txBody>
      </p:sp>
      <p:sp>
        <p:nvSpPr>
          <p:cNvPr id="14" name="Shape 12"/>
          <p:cNvSpPr/>
          <p:nvPr/>
        </p:nvSpPr>
        <p:spPr>
          <a:xfrm>
            <a:off x="8382000" y="4216400"/>
            <a:ext cx="7112000" cy="698500"/>
          </a:xfrm>
          <a:prstGeom prst="rect">
            <a:avLst/>
          </a:prstGeom>
          <a:solidFill>
            <a:srgbClr val="F1F5F9"/>
          </a:solidFill>
          <a:ln w="12700">
            <a:solidFill>
              <a:srgbClr val="E2E8F0"/>
            </a:solidFill>
            <a:prstDash val="solid"/>
          </a:ln>
        </p:spPr>
      </p:sp>
      <p:sp>
        <p:nvSpPr>
          <p:cNvPr id="15" name="Text 13"/>
          <p:cNvSpPr/>
          <p:nvPr/>
        </p:nvSpPr>
        <p:spPr>
          <a:xfrm>
            <a:off x="8483600" y="4279900"/>
            <a:ext cx="431800" cy="508000"/>
          </a:xfrm>
          <a:prstGeom prst="rect">
            <a:avLst/>
          </a:prstGeom>
          <a:noFill/>
          <a:ln/>
        </p:spPr>
        <p:txBody>
          <a:bodyPr wrap="none" lIns="0" tIns="0" rIns="0" bIns="0" rtlCol="0" anchor="ctr"/>
          <a:lstStyle/>
          <a:p>
            <a:pPr algn="ctr">
              <a:lnSpc>
                <a:spcPct val="100000"/>
              </a:lnSpc>
            </a:pPr>
            <a:r>
              <a:rPr lang="en-US" sz="2200" dirty="0">
                <a:solidFill>
                  <a:srgbClr val="D97706"/>
                </a:solidFill>
                <a:latin typeface="Liter" pitchFamily="34" charset="0"/>
                <a:ea typeface="Liter" pitchFamily="34" charset="-122"/>
                <a:cs typeface="Liter" pitchFamily="34" charset="-120"/>
              </a:rPr>
              <a:t>2</a:t>
            </a:r>
            <a:endParaRPr lang="en-US" sz="1600" dirty="0"/>
          </a:p>
        </p:txBody>
      </p:sp>
      <p:sp>
        <p:nvSpPr>
          <p:cNvPr id="16" name="Text 14"/>
          <p:cNvSpPr/>
          <p:nvPr/>
        </p:nvSpPr>
        <p:spPr>
          <a:xfrm>
            <a:off x="8953500" y="4318000"/>
            <a:ext cx="6350000" cy="508000"/>
          </a:xfrm>
          <a:prstGeom prst="rect">
            <a:avLst/>
          </a:prstGeom>
          <a:noFill/>
          <a:ln/>
        </p:spPr>
        <p:txBody>
          <a:bodyPr wrap="square" lIns="0" tIns="0" rIns="0" bIns="0" rtlCol="0" anchor="ctr"/>
          <a:lstStyle/>
          <a:p>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Customer obligations</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 bench space, utilities, LIS access, process owner</a:t>
            </a:r>
            <a:endParaRPr lang="en-US" sz="1600" dirty="0"/>
          </a:p>
        </p:txBody>
      </p:sp>
      <p:sp>
        <p:nvSpPr>
          <p:cNvPr id="17" name="Shape 15"/>
          <p:cNvSpPr/>
          <p:nvPr/>
        </p:nvSpPr>
        <p:spPr>
          <a:xfrm>
            <a:off x="8382000" y="5334000"/>
            <a:ext cx="7112000" cy="698500"/>
          </a:xfrm>
          <a:prstGeom prst="rect">
            <a:avLst/>
          </a:prstGeom>
          <a:solidFill>
            <a:srgbClr val="F1F5F9"/>
          </a:solidFill>
          <a:ln w="12700">
            <a:solidFill>
              <a:srgbClr val="E2E8F0"/>
            </a:solidFill>
            <a:prstDash val="solid"/>
          </a:ln>
        </p:spPr>
      </p:sp>
      <p:sp>
        <p:nvSpPr>
          <p:cNvPr id="18" name="Text 16"/>
          <p:cNvSpPr/>
          <p:nvPr/>
        </p:nvSpPr>
        <p:spPr>
          <a:xfrm>
            <a:off x="8483600" y="5397500"/>
            <a:ext cx="431800" cy="508000"/>
          </a:xfrm>
          <a:prstGeom prst="rect">
            <a:avLst/>
          </a:prstGeom>
          <a:noFill/>
          <a:ln/>
        </p:spPr>
        <p:txBody>
          <a:bodyPr wrap="none" lIns="0" tIns="0" rIns="0" bIns="0" rtlCol="0" anchor="ctr"/>
          <a:lstStyle/>
          <a:p>
            <a:pPr algn="ctr">
              <a:lnSpc>
                <a:spcPct val="100000"/>
              </a:lnSpc>
            </a:pPr>
            <a:r>
              <a:rPr lang="en-US" sz="2200" dirty="0">
                <a:solidFill>
                  <a:srgbClr val="D97706"/>
                </a:solidFill>
                <a:latin typeface="Liter" pitchFamily="34" charset="0"/>
                <a:ea typeface="Liter" pitchFamily="34" charset="-122"/>
                <a:cs typeface="Liter" pitchFamily="34" charset="-120"/>
              </a:rPr>
              <a:t>3</a:t>
            </a:r>
            <a:endParaRPr lang="en-US" sz="1600" dirty="0"/>
          </a:p>
        </p:txBody>
      </p:sp>
      <p:sp>
        <p:nvSpPr>
          <p:cNvPr id="19" name="Text 17"/>
          <p:cNvSpPr/>
          <p:nvPr/>
        </p:nvSpPr>
        <p:spPr>
          <a:xfrm>
            <a:off x="8953500" y="5397500"/>
            <a:ext cx="6350000" cy="609600"/>
          </a:xfrm>
          <a:prstGeom prst="rect">
            <a:avLst/>
          </a:prstGeom>
          <a:noFill/>
          <a:ln/>
        </p:spPr>
        <p:txBody>
          <a:bodyPr wrap="square" lIns="0" tIns="0" rIns="0" bIns="0" rtlCol="0" anchor="ctr"/>
          <a:lstStyle/>
          <a:p>
            <a:pPr>
              <a:lnSpc>
                <a:spcPct val="130000"/>
              </a:lnSpc>
            </a:pPr>
            <a:r>
              <a:rPr lang="en-US" sz="1300" b="1" dirty="0">
                <a:solidFill>
                  <a:srgbClr val="1E293B"/>
                </a:solidFill>
                <a:latin typeface="Quattrocento Sans" pitchFamily="34" charset="0"/>
                <a:ea typeface="Quattrocento Sans" pitchFamily="34" charset="-122"/>
                <a:cs typeface="Quattrocento Sans" pitchFamily="34" charset="-120"/>
              </a:rPr>
              <a:t>Conversion clause</a:t>
            </a:r>
            <a:pPr>
              <a:lnSpc>
                <a:spcPct val="130000"/>
              </a:lnSpc>
            </a:pPr>
            <a:r>
              <a:rPr lang="en-US" sz="1300" dirty="0">
                <a:solidFill>
                  <a:srgbClr val="1E293B"/>
                </a:solidFill>
                <a:latin typeface="Quattrocento Sans" pitchFamily="34" charset="0"/>
                <a:ea typeface="Quattrocento Sans" pitchFamily="34" charset="-122"/>
                <a:cs typeface="Quattrocento Sans" pitchFamily="34" charset="-120"/>
              </a:rPr>
              <a:t> - 50-100% of pilot fees credited against production deployment</a:t>
            </a:r>
            <a:endParaRPr lang="en-US" sz="1600" dirty="0"/>
          </a:p>
        </p:txBody>
      </p:sp>
      <p:sp>
        <p:nvSpPr>
          <p:cNvPr id="20" name="Shape 18"/>
          <p:cNvSpPr/>
          <p:nvPr/>
        </p:nvSpPr>
        <p:spPr>
          <a:xfrm>
            <a:off x="8382000" y="6159500"/>
            <a:ext cx="7112000" cy="698500"/>
          </a:xfrm>
          <a:prstGeom prst="rect">
            <a:avLst/>
          </a:prstGeom>
          <a:solidFill>
            <a:srgbClr val="F1F5F9"/>
          </a:solidFill>
          <a:ln w="12700">
            <a:solidFill>
              <a:srgbClr val="E2E8F0"/>
            </a:solidFill>
            <a:prstDash val="solid"/>
          </a:ln>
        </p:spPr>
      </p:sp>
      <p:sp>
        <p:nvSpPr>
          <p:cNvPr id="21" name="Text 19"/>
          <p:cNvSpPr/>
          <p:nvPr/>
        </p:nvSpPr>
        <p:spPr>
          <a:xfrm>
            <a:off x="8483600" y="6223000"/>
            <a:ext cx="431800" cy="508000"/>
          </a:xfrm>
          <a:prstGeom prst="rect">
            <a:avLst/>
          </a:prstGeom>
          <a:noFill/>
          <a:ln/>
        </p:spPr>
        <p:txBody>
          <a:bodyPr wrap="none" lIns="0" tIns="0" rIns="0" bIns="0" rtlCol="0" anchor="ctr"/>
          <a:lstStyle/>
          <a:p>
            <a:pPr algn="ctr">
              <a:lnSpc>
                <a:spcPct val="100000"/>
              </a:lnSpc>
            </a:pPr>
            <a:r>
              <a:rPr lang="en-US" sz="2200" dirty="0">
                <a:solidFill>
                  <a:srgbClr val="D97706"/>
                </a:solidFill>
                <a:latin typeface="Liter" pitchFamily="34" charset="0"/>
                <a:ea typeface="Liter" pitchFamily="34" charset="-122"/>
                <a:cs typeface="Liter" pitchFamily="34" charset="-120"/>
              </a:rPr>
              <a:t>4</a:t>
            </a:r>
            <a:endParaRPr lang="en-US" sz="1600" dirty="0"/>
          </a:p>
        </p:txBody>
      </p:sp>
      <p:sp>
        <p:nvSpPr>
          <p:cNvPr id="22" name="Text 20"/>
          <p:cNvSpPr/>
          <p:nvPr/>
        </p:nvSpPr>
        <p:spPr>
          <a:xfrm>
            <a:off x="8953500" y="6223000"/>
            <a:ext cx="6350000" cy="609600"/>
          </a:xfrm>
          <a:prstGeom prst="rect">
            <a:avLst/>
          </a:prstGeom>
          <a:noFill/>
          <a:ln/>
        </p:spPr>
        <p:txBody>
          <a:bodyPr wrap="square" lIns="0" tIns="0" rIns="0" bIns="0" rtlCol="0" anchor="ctr"/>
          <a:lstStyle/>
          <a:p>
            <a:pPr>
              <a:lnSpc>
                <a:spcPct val="130000"/>
              </a:lnSpc>
            </a:pPr>
            <a:r>
              <a:rPr lang="en-US" sz="1300" b="1" dirty="0">
                <a:solidFill>
                  <a:srgbClr val="1E293B"/>
                </a:solidFill>
                <a:latin typeface="Quattrocento Sans" pitchFamily="34" charset="0"/>
                <a:ea typeface="Quattrocento Sans" pitchFamily="34" charset="-122"/>
                <a:cs typeface="Quattrocento Sans" pitchFamily="34" charset="-120"/>
              </a:rPr>
              <a:t>Data-rights clause</a:t>
            </a:r>
            <a:pPr>
              <a:lnSpc>
                <a:spcPct val="130000"/>
              </a:lnSpc>
            </a:pPr>
            <a:r>
              <a:rPr lang="en-US" sz="1300" dirty="0">
                <a:solidFill>
                  <a:srgbClr val="1E293B"/>
                </a:solidFill>
                <a:latin typeface="Quattrocento Sans" pitchFamily="34" charset="0"/>
                <a:ea typeface="Quattrocento Sans" pitchFamily="34" charset="-122"/>
                <a:cs typeface="Quattrocento Sans" pitchFamily="34" charset="-120"/>
              </a:rPr>
              <a:t> - de-identified operational events for improving scheduling, vision, exception handling</a:t>
            </a:r>
            <a:endParaRPr lang="en-US" sz="1600" dirty="0"/>
          </a:p>
        </p:txBody>
      </p:sp>
      <p:sp>
        <p:nvSpPr>
          <p:cNvPr id="23" name="Shape 21"/>
          <p:cNvSpPr/>
          <p:nvPr/>
        </p:nvSpPr>
        <p:spPr>
          <a:xfrm>
            <a:off x="762000" y="7175500"/>
            <a:ext cx="14732000" cy="825500"/>
          </a:xfrm>
          <a:prstGeom prst="rect">
            <a:avLst/>
          </a:prstGeom>
          <a:solidFill>
            <a:srgbClr val="FEF3C7"/>
          </a:solidFill>
          <a:ln w="12700">
            <a:solidFill>
              <a:srgbClr val="FCD34D"/>
            </a:solidFill>
            <a:prstDash val="solid"/>
          </a:ln>
        </p:spPr>
      </p:sp>
      <p:sp>
        <p:nvSpPr>
          <p:cNvPr id="24" name="Text 22"/>
          <p:cNvSpPr/>
          <p:nvPr/>
        </p:nvSpPr>
        <p:spPr>
          <a:xfrm>
            <a:off x="1016000" y="7239000"/>
            <a:ext cx="14224000" cy="698500"/>
          </a:xfrm>
          <a:prstGeom prst="rect">
            <a:avLst/>
          </a:prstGeom>
          <a:noFill/>
          <a:ln/>
        </p:spPr>
        <p:txBody>
          <a:bodyPr wrap="square" lIns="0" tIns="0" rIns="0" bIns="0" rtlCol="0" anchor="ctr"/>
          <a:lstStyle/>
          <a:p>
            <a:pPr>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Without these protections,</a:t>
            </a:r>
            <a:pPr>
              <a:lnSpc>
                <a:spcPct val="140000"/>
              </a:lnSpc>
            </a:pPr>
            <a:r>
              <a:rPr lang="en-US" sz="1500" dirty="0">
                <a:solidFill>
                  <a:srgbClr val="1E293B"/>
                </a:solidFill>
                <a:latin typeface="Quattrocento Sans" pitchFamily="34" charset="0"/>
                <a:ea typeface="Quattrocento Sans" pitchFamily="34" charset="-122"/>
                <a:cs typeface="Quattrocento Sans" pitchFamily="34" charset="-120"/>
              </a:rPr>
              <a:t> the startup may create buyer education and product learning without monetizing either. That risk is particularly high if the company drifts toward unpaid "innovation pilots."</a:t>
            </a:r>
            <a:endParaRPr lang="en-US" sz="1600" dirty="0"/>
          </a:p>
        </p:txBody>
      </p:sp>
      <p:sp>
        <p:nvSpPr>
          <p:cNvPr id="25" name="Shape 23"/>
          <p:cNvSpPr/>
          <p:nvPr/>
        </p:nvSpPr>
        <p:spPr>
          <a:xfrm>
            <a:off x="762000" y="8636000"/>
            <a:ext cx="14732000" cy="25400"/>
          </a:xfrm>
          <a:prstGeom prst="rect">
            <a:avLst/>
          </a:prstGeom>
          <a:solidFill>
            <a:srgbClr val="D97706"/>
          </a:solidFill>
          <a:ln/>
        </p:spPr>
      </p:sp>
      <p:sp>
        <p:nvSpPr>
          <p:cNvPr id="26" name="Text 24"/>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24</a:t>
            </a:r>
            <a:endParaRPr lang="en-US" sz="13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270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Target Lab Segments: Three-Tier Pilot Strategy</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4699000" cy="5334000"/>
          </a:xfrm>
          <a:prstGeom prst="rect">
            <a:avLst/>
          </a:prstGeom>
          <a:solidFill>
            <a:srgbClr val="1E293B"/>
          </a:solidFill>
          <a:ln/>
        </p:spPr>
      </p:sp>
      <p:sp>
        <p:nvSpPr>
          <p:cNvPr id="5" name="Text 3"/>
          <p:cNvSpPr/>
          <p:nvPr/>
        </p:nvSpPr>
        <p:spPr>
          <a:xfrm>
            <a:off x="952500" y="1397000"/>
            <a:ext cx="1270000" cy="317500"/>
          </a:xfrm>
          <a:prstGeom prst="rect">
            <a:avLst/>
          </a:prstGeom>
          <a:noFill/>
          <a:ln/>
        </p:spPr>
        <p:txBody>
          <a:bodyPr wrap="none" lIns="0" tIns="0" rIns="0" bIns="0" rtlCol="0" anchor="ctr"/>
          <a:lstStyle/>
          <a:p>
            <a:pPr algn="ctr">
              <a:lnSpc>
                <a:spcPct val="100000"/>
              </a:lnSpc>
            </a:pPr>
            <a:r>
              <a:rPr lang="en-US" sz="1300" dirty="0">
                <a:solidFill>
                  <a:srgbClr val="FFFFFF"/>
                </a:solidFill>
                <a:highlight>
                  <a:srgbClr val="D97706">
                    <a:alpha val="100000"/>
                  </a:srgbClr>
                </a:highlight>
                <a:latin typeface="Liter" pitchFamily="34" charset="0"/>
                <a:ea typeface="Liter" pitchFamily="34" charset="-122"/>
                <a:cs typeface="Liter" pitchFamily="34" charset="-120"/>
              </a:rPr>
              <a:t>TIER 1</a:t>
            </a:r>
            <a:endParaRPr lang="en-US" sz="1600" dirty="0"/>
          </a:p>
        </p:txBody>
      </p:sp>
      <p:sp>
        <p:nvSpPr>
          <p:cNvPr id="6" name="Text 4"/>
          <p:cNvSpPr/>
          <p:nvPr/>
        </p:nvSpPr>
        <p:spPr>
          <a:xfrm>
            <a:off x="952500" y="1841500"/>
            <a:ext cx="4318000" cy="698500"/>
          </a:xfrm>
          <a:prstGeom prst="rect">
            <a:avLst/>
          </a:prstGeom>
          <a:noFill/>
          <a:ln/>
        </p:spPr>
        <p:txBody>
          <a:bodyPr wrap="square" lIns="0" tIns="0" rIns="0" bIns="0" rtlCol="0" anchor="t"/>
          <a:lstStyle/>
          <a:p>
            <a:pPr>
              <a:lnSpc>
                <a:spcPct val="130000"/>
              </a:lnSpc>
            </a:pPr>
            <a:r>
              <a:rPr lang="en-US" sz="1800" dirty="0">
                <a:solidFill>
                  <a:srgbClr val="F1F5F9"/>
                </a:solidFill>
                <a:latin typeface="Liter" pitchFamily="34" charset="0"/>
                <a:ea typeface="Liter" pitchFamily="34" charset="-122"/>
                <a:cs typeface="Liter" pitchFamily="34" charset="-120"/>
              </a:rPr>
              <a:t>Regional Private Reference Lab</a:t>
            </a:r>
            <a:endParaRPr lang="en-US" sz="1600" dirty="0"/>
          </a:p>
        </p:txBody>
      </p:sp>
      <p:sp>
        <p:nvSpPr>
          <p:cNvPr id="7" name="Text 5"/>
          <p:cNvSpPr/>
          <p:nvPr/>
        </p:nvSpPr>
        <p:spPr>
          <a:xfrm>
            <a:off x="952500" y="2603500"/>
            <a:ext cx="4318000" cy="3810000"/>
          </a:xfrm>
          <a:prstGeom prst="rect">
            <a:avLst/>
          </a:prstGeom>
          <a:noFill/>
          <a:ln/>
        </p:spPr>
        <p:txBody>
          <a:bodyPr wrap="square" lIns="0" tIns="0" rIns="0" bIns="0" rtlCol="0" anchor="t"/>
          <a:lstStyle/>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a:t>
            </a:r>
            <a:pPr>
              <a:lnSpc>
                <a:spcPct val="150000"/>
              </a:lnSpc>
            </a:pPr>
            <a:r>
              <a:rPr lang="en-US" sz="1400" b="1" dirty="0">
                <a:solidFill>
                  <a:srgbClr val="F1F5F9"/>
                </a:solidFill>
                <a:latin typeface="Quattrocento Sans" pitchFamily="34" charset="0"/>
                <a:ea typeface="Quattrocento Sans" pitchFamily="34" charset="-122"/>
                <a:cs typeface="Quattrocento Sans" pitchFamily="34" charset="-120"/>
              </a:rPr>
              <a:t>1,500-3,000 samples/day</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Existing LIS, multi-bench</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Independent or promoter-led</a:t>
            </a:r>
            <a:endParaRPr lang="en-US" sz="1600" dirty="0"/>
          </a:p>
          <a:p>
            <a:pPr>
              <a:lnSpc>
                <a:spcPct val="150000"/>
              </a:lnSpc>
              <a:spcBef>
                <a:spcPts val="800"/>
              </a:spcBef>
            </a:pPr>
            <a:r>
              <a:rPr lang="en-US" sz="1400" b="1" dirty="0">
                <a:solidFill>
                  <a:srgbClr val="F1F5F9"/>
                </a:solidFill>
                <a:latin typeface="Quattrocento Sans" pitchFamily="34" charset="0"/>
                <a:ea typeface="Quattrocento Sans" pitchFamily="34" charset="-122"/>
                <a:cs typeface="Quattrocento Sans" pitchFamily="34" charset="-120"/>
              </a:rPr>
              <a:t>Why attractive:</a:t>
            </a:r>
            <a:endParaRPr lang="en-US" sz="1600" dirty="0"/>
          </a:p>
          <a:p>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Fastest commercial learning. Decision-making tighter than large chains. Pain is visible on the floor.</a:t>
            </a:r>
            <a:endParaRPr lang="en-US" sz="1600" dirty="0"/>
          </a:p>
          <a:p>
            <a:pPr>
              <a:lnSpc>
                <a:spcPct val="150000"/>
              </a:lnSpc>
              <a:spcBef>
                <a:spcPts val="800"/>
              </a:spcBef>
            </a:pPr>
            <a:r>
              <a:rPr lang="en-US" sz="1400" b="1" dirty="0">
                <a:solidFill>
                  <a:srgbClr val="F1F5F9"/>
                </a:solidFill>
                <a:latin typeface="Quattrocento Sans" pitchFamily="34" charset="0"/>
                <a:ea typeface="Quattrocento Sans" pitchFamily="34" charset="-122"/>
                <a:cs typeface="Quattrocento Sans" pitchFamily="34" charset="-120"/>
              </a:rPr>
              <a:t>Sales cycle:</a:t>
            </a:r>
            <a:pPr>
              <a:lnSpc>
                <a:spcPct val="150000"/>
              </a:lnSpc>
              <a:spcBef>
                <a:spcPts val="800"/>
              </a:spcBef>
            </a:pPr>
            <a:r>
              <a:rPr lang="en-US" sz="1400" dirty="0">
                <a:solidFill>
                  <a:srgbClr val="F1F5F9"/>
                </a:solidFill>
                <a:latin typeface="Quattrocento Sans" pitchFamily="34" charset="0"/>
                <a:ea typeface="Quattrocento Sans" pitchFamily="34" charset="-122"/>
                <a:cs typeface="Quattrocento Sans" pitchFamily="34" charset="-120"/>
              </a:rPr>
              <a:t> 6-12 weeks</a:t>
            </a:r>
            <a:endParaRPr lang="en-US" sz="1600" dirty="0"/>
          </a:p>
          <a:p>
            <a:pPr>
              <a:lnSpc>
                <a:spcPct val="150000"/>
              </a:lnSpc>
            </a:pPr>
            <a:r>
              <a:rPr lang="en-US" sz="1400" b="1" dirty="0">
                <a:solidFill>
                  <a:srgbClr val="F1F5F9"/>
                </a:solidFill>
                <a:latin typeface="Quattrocento Sans" pitchFamily="34" charset="0"/>
                <a:ea typeface="Quattrocento Sans" pitchFamily="34" charset="-122"/>
                <a:cs typeface="Quattrocento Sans" pitchFamily="34" charset="-120"/>
              </a:rPr>
              <a:t>Pilot fee:</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Rs.3-5 lakh</a:t>
            </a:r>
            <a:endParaRPr lang="en-US" sz="1600" dirty="0"/>
          </a:p>
          <a:p>
            <a:pPr>
              <a:lnSpc>
                <a:spcPct val="150000"/>
              </a:lnSpc>
            </a:pPr>
            <a:r>
              <a:rPr lang="en-US" sz="1400" b="1" dirty="0">
                <a:solidFill>
                  <a:srgbClr val="F1F5F9"/>
                </a:solidFill>
                <a:latin typeface="Quattrocento Sans" pitchFamily="34" charset="0"/>
                <a:ea typeface="Quattrocento Sans" pitchFamily="34" charset="-122"/>
                <a:cs typeface="Quattrocento Sans" pitchFamily="34" charset="-120"/>
              </a:rPr>
              <a:t>Conversion:</a:t>
            </a:r>
            <a:pPr>
              <a:lnSpc>
                <a:spcPct val="150000"/>
              </a:lnSpc>
            </a:pPr>
            <a:r>
              <a:rPr lang="en-US" sz="1400" dirty="0">
                <a:solidFill>
                  <a:srgbClr val="F1F5F9"/>
                </a:solidFill>
                <a:latin typeface="Quattrocento Sans" pitchFamily="34" charset="0"/>
                <a:ea typeface="Quattrocento Sans" pitchFamily="34" charset="-122"/>
                <a:cs typeface="Quattrocento Sans" pitchFamily="34" charset="-120"/>
              </a:rPr>
              <a:t> Hybrid default</a:t>
            </a:r>
            <a:endParaRPr lang="en-US" sz="1600" dirty="0"/>
          </a:p>
        </p:txBody>
      </p:sp>
      <p:sp>
        <p:nvSpPr>
          <p:cNvPr id="8" name="Shape 6"/>
          <p:cNvSpPr/>
          <p:nvPr/>
        </p:nvSpPr>
        <p:spPr>
          <a:xfrm>
            <a:off x="5715000" y="1270000"/>
            <a:ext cx="4699000" cy="5334000"/>
          </a:xfrm>
          <a:prstGeom prst="rect">
            <a:avLst/>
          </a:prstGeom>
          <a:solidFill>
            <a:srgbClr val="F1F5F9"/>
          </a:solidFill>
          <a:ln w="12700">
            <a:solidFill>
              <a:srgbClr val="E2E8F0"/>
            </a:solidFill>
            <a:prstDash val="solid"/>
          </a:ln>
        </p:spPr>
      </p:sp>
      <p:sp>
        <p:nvSpPr>
          <p:cNvPr id="9" name="Text 7"/>
          <p:cNvSpPr/>
          <p:nvPr/>
        </p:nvSpPr>
        <p:spPr>
          <a:xfrm>
            <a:off x="5905500" y="1397000"/>
            <a:ext cx="1270000" cy="317500"/>
          </a:xfrm>
          <a:prstGeom prst="rect">
            <a:avLst/>
          </a:prstGeom>
          <a:noFill/>
          <a:ln/>
        </p:spPr>
        <p:txBody>
          <a:bodyPr wrap="none" lIns="0" tIns="0" rIns="0" bIns="0" rtlCol="0" anchor="ctr"/>
          <a:lstStyle/>
          <a:p>
            <a:pPr algn="ctr">
              <a:lnSpc>
                <a:spcPct val="100000"/>
              </a:lnSpc>
            </a:pPr>
            <a:r>
              <a:rPr lang="en-US" sz="1300" dirty="0">
                <a:solidFill>
                  <a:srgbClr val="1E293B"/>
                </a:solidFill>
                <a:highlight>
                  <a:srgbClr val="D97706">
                    <a:alpha val="100000"/>
                  </a:srgbClr>
                </a:highlight>
                <a:latin typeface="Liter" pitchFamily="34" charset="0"/>
                <a:ea typeface="Liter" pitchFamily="34" charset="-122"/>
                <a:cs typeface="Liter" pitchFamily="34" charset="-120"/>
              </a:rPr>
              <a:t>TIER 2</a:t>
            </a:r>
            <a:endParaRPr lang="en-US" sz="1600" dirty="0"/>
          </a:p>
        </p:txBody>
      </p:sp>
      <p:sp>
        <p:nvSpPr>
          <p:cNvPr id="10" name="Text 8"/>
          <p:cNvSpPr/>
          <p:nvPr/>
        </p:nvSpPr>
        <p:spPr>
          <a:xfrm>
            <a:off x="5905500" y="1841500"/>
            <a:ext cx="4318000" cy="698500"/>
          </a:xfrm>
          <a:prstGeom prst="rect">
            <a:avLst/>
          </a:prstGeom>
          <a:noFill/>
          <a:ln/>
        </p:spPr>
        <p:txBody>
          <a:bodyPr wrap="square" lIns="0" tIns="0" rIns="0" bIns="0" rtlCol="0" anchor="t"/>
          <a:lstStyle/>
          <a:p>
            <a:pPr>
              <a:lnSpc>
                <a:spcPct val="130000"/>
              </a:lnSpc>
            </a:pPr>
            <a:r>
              <a:rPr lang="en-US" sz="1800" dirty="0">
                <a:solidFill>
                  <a:srgbClr val="1E293B"/>
                </a:solidFill>
                <a:latin typeface="Liter" pitchFamily="34" charset="0"/>
                <a:ea typeface="Liter" pitchFamily="34" charset="-122"/>
                <a:cs typeface="Liter" pitchFamily="34" charset="-120"/>
              </a:rPr>
              <a:t>Chain Hub or Spoke-Hub Central Lab</a:t>
            </a:r>
            <a:endParaRPr lang="en-US" sz="1600" dirty="0"/>
          </a:p>
        </p:txBody>
      </p:sp>
      <p:sp>
        <p:nvSpPr>
          <p:cNvPr id="11" name="Text 9"/>
          <p:cNvSpPr/>
          <p:nvPr/>
        </p:nvSpPr>
        <p:spPr>
          <a:xfrm>
            <a:off x="5905500" y="2603500"/>
            <a:ext cx="4318000" cy="3810000"/>
          </a:xfrm>
          <a:prstGeom prst="rect">
            <a:avLst/>
          </a:prstGeom>
          <a:noFill/>
          <a:ln/>
        </p:spPr>
        <p:txBody>
          <a:bodyPr wrap="square" lIns="0" tIns="0" rIns="0" bIns="0" rtlCol="0" anchor="t"/>
          <a:lstStyle/>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a:t>
            </a:r>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3,000-5,000 samples/day</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National quality function</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Multiple analyzer vendors</a:t>
            </a:r>
            <a:endParaRPr lang="en-US" sz="1600" dirty="0"/>
          </a:p>
          <a:p>
            <a:pPr>
              <a:lnSpc>
                <a:spcPct val="150000"/>
              </a:lnSpc>
              <a:spcBef>
                <a:spcPts val="800"/>
              </a:spcBef>
            </a:pPr>
            <a:r>
              <a:rPr lang="en-US" sz="1400" b="1" dirty="0">
                <a:solidFill>
                  <a:srgbClr val="1E293B"/>
                </a:solidFill>
                <a:latin typeface="Quattrocento Sans" pitchFamily="34" charset="0"/>
                <a:ea typeface="Quattrocento Sans" pitchFamily="34" charset="-122"/>
                <a:cs typeface="Quattrocento Sans" pitchFamily="34" charset="-120"/>
              </a:rPr>
              <a:t>Why attractive:</a:t>
            </a:r>
            <a:endParaRPr lang="en-US" sz="1600" dirty="0"/>
          </a:p>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Best lighthouse value. Highest expansion upside if one site succeeds. Strongest source of fleet data.</a:t>
            </a:r>
            <a:endParaRPr lang="en-US" sz="1600" dirty="0"/>
          </a:p>
          <a:p>
            <a:pPr>
              <a:lnSpc>
                <a:spcPct val="150000"/>
              </a:lnSpc>
              <a:spcBef>
                <a:spcPts val="800"/>
              </a:spcBef>
            </a:pPr>
            <a:r>
              <a:rPr lang="en-US" sz="1400" b="1" dirty="0">
                <a:solidFill>
                  <a:srgbClr val="1E293B"/>
                </a:solidFill>
                <a:latin typeface="Quattrocento Sans" pitchFamily="34" charset="0"/>
                <a:ea typeface="Quattrocento Sans" pitchFamily="34" charset="-122"/>
                <a:cs typeface="Quattrocento Sans" pitchFamily="34" charset="-120"/>
              </a:rPr>
              <a:t>Sales cycle:</a:t>
            </a:r>
            <a:pPr>
              <a:lnSpc>
                <a:spcPct val="150000"/>
              </a:lnSpc>
              <a:spcBef>
                <a:spcPts val="800"/>
              </a:spcBef>
            </a:pPr>
            <a:r>
              <a:rPr lang="en-US" sz="1400" dirty="0">
                <a:solidFill>
                  <a:srgbClr val="1E293B"/>
                </a:solidFill>
                <a:latin typeface="Quattrocento Sans" pitchFamily="34" charset="0"/>
                <a:ea typeface="Quattrocento Sans" pitchFamily="34" charset="-122"/>
                <a:cs typeface="Quattrocento Sans" pitchFamily="34" charset="-120"/>
              </a:rPr>
              <a:t> 3-6 months pilot, 6-9 months rollout</a:t>
            </a:r>
            <a:endParaRPr lang="en-US" sz="1600" dirty="0"/>
          </a:p>
          <a:p>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Pilot fee:</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Rs.5-8 lakh</a:t>
            </a:r>
            <a:endParaRPr lang="en-US" sz="1600" dirty="0"/>
          </a:p>
          <a:p>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Conversion:</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Selective RaaS or Hybrid</a:t>
            </a:r>
            <a:endParaRPr lang="en-US" sz="1600" dirty="0"/>
          </a:p>
        </p:txBody>
      </p:sp>
      <p:sp>
        <p:nvSpPr>
          <p:cNvPr id="12" name="Shape 10"/>
          <p:cNvSpPr/>
          <p:nvPr/>
        </p:nvSpPr>
        <p:spPr>
          <a:xfrm>
            <a:off x="10668000" y="1270000"/>
            <a:ext cx="4826000" cy="5334000"/>
          </a:xfrm>
          <a:prstGeom prst="rect">
            <a:avLst/>
          </a:prstGeom>
          <a:solidFill>
            <a:srgbClr val="F1F5F9"/>
          </a:solidFill>
          <a:ln w="12700">
            <a:solidFill>
              <a:srgbClr val="E2E8F0"/>
            </a:solidFill>
            <a:prstDash val="solid"/>
          </a:ln>
        </p:spPr>
      </p:sp>
      <p:sp>
        <p:nvSpPr>
          <p:cNvPr id="13" name="Text 11"/>
          <p:cNvSpPr/>
          <p:nvPr/>
        </p:nvSpPr>
        <p:spPr>
          <a:xfrm>
            <a:off x="10858500" y="1397000"/>
            <a:ext cx="1270000" cy="317500"/>
          </a:xfrm>
          <a:prstGeom prst="rect">
            <a:avLst/>
          </a:prstGeom>
          <a:noFill/>
          <a:ln/>
        </p:spPr>
        <p:txBody>
          <a:bodyPr wrap="none" lIns="0" tIns="0" rIns="0" bIns="0" rtlCol="0" anchor="ctr"/>
          <a:lstStyle/>
          <a:p>
            <a:pPr algn="ctr">
              <a:lnSpc>
                <a:spcPct val="100000"/>
              </a:lnSpc>
            </a:pPr>
            <a:r>
              <a:rPr lang="en-US" sz="1300" dirty="0">
                <a:solidFill>
                  <a:srgbClr val="1E293B"/>
                </a:solidFill>
                <a:highlight>
                  <a:srgbClr val="94A3B8">
                    <a:alpha val="100000"/>
                  </a:srgbClr>
                </a:highlight>
                <a:latin typeface="Liter" pitchFamily="34" charset="0"/>
                <a:ea typeface="Liter" pitchFamily="34" charset="-122"/>
                <a:cs typeface="Liter" pitchFamily="34" charset="-120"/>
              </a:rPr>
              <a:t>TIER 3</a:t>
            </a:r>
            <a:endParaRPr lang="en-US" sz="1600" dirty="0"/>
          </a:p>
        </p:txBody>
      </p:sp>
      <p:sp>
        <p:nvSpPr>
          <p:cNvPr id="14" name="Text 12"/>
          <p:cNvSpPr/>
          <p:nvPr/>
        </p:nvSpPr>
        <p:spPr>
          <a:xfrm>
            <a:off x="10858500" y="1841500"/>
            <a:ext cx="4445000" cy="698500"/>
          </a:xfrm>
          <a:prstGeom prst="rect">
            <a:avLst/>
          </a:prstGeom>
          <a:noFill/>
          <a:ln/>
        </p:spPr>
        <p:txBody>
          <a:bodyPr wrap="square" lIns="0" tIns="0" rIns="0" bIns="0" rtlCol="0" anchor="t"/>
          <a:lstStyle/>
          <a:p>
            <a:pPr>
              <a:lnSpc>
                <a:spcPct val="130000"/>
              </a:lnSpc>
            </a:pPr>
            <a:r>
              <a:rPr lang="en-US" sz="1800" dirty="0">
                <a:solidFill>
                  <a:srgbClr val="1E293B"/>
                </a:solidFill>
                <a:latin typeface="Liter" pitchFamily="34" charset="0"/>
                <a:ea typeface="Liter" pitchFamily="34" charset="-122"/>
                <a:cs typeface="Liter" pitchFamily="34" charset="-120"/>
              </a:rPr>
              <a:t>Hospital Enterprise / PPP / Public</a:t>
            </a:r>
            <a:endParaRPr lang="en-US" sz="1600" dirty="0"/>
          </a:p>
        </p:txBody>
      </p:sp>
      <p:sp>
        <p:nvSpPr>
          <p:cNvPr id="15" name="Text 13"/>
          <p:cNvSpPr/>
          <p:nvPr/>
        </p:nvSpPr>
        <p:spPr>
          <a:xfrm>
            <a:off x="10858500" y="2603500"/>
            <a:ext cx="4445000" cy="3810000"/>
          </a:xfrm>
          <a:prstGeom prst="rect">
            <a:avLst/>
          </a:prstGeom>
          <a:noFill/>
          <a:ln/>
        </p:spPr>
        <p:txBody>
          <a:bodyPr wrap="square" lIns="0" tIns="0" rIns="0" bIns="0" rtlCol="0" anchor="t"/>
          <a:lstStyle/>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a:t>
            </a:r>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800-2,000 samples/day</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High urgency, service complexity</a:t>
            </a:r>
            <a:endParaRPr lang="en-US" sz="1600" dirty="0"/>
          </a:p>
          <a:p>
            <a:pPr>
              <a:lnSpc>
                <a:spcPct val="150000"/>
              </a:lnSpc>
            </a:pPr>
            <a:r>
              <a:rPr lang="en-US" sz="14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District integrated lab</a:t>
            </a:r>
            <a:endParaRPr lang="en-US" sz="1600" dirty="0"/>
          </a:p>
          <a:p>
            <a:pPr>
              <a:lnSpc>
                <a:spcPct val="150000"/>
              </a:lnSpc>
              <a:spcBef>
                <a:spcPts val="800"/>
              </a:spcBef>
            </a:pPr>
            <a:r>
              <a:rPr lang="en-US" sz="1400" b="1" dirty="0">
                <a:solidFill>
                  <a:srgbClr val="1E293B"/>
                </a:solidFill>
                <a:latin typeface="Quattrocento Sans" pitchFamily="34" charset="0"/>
                <a:ea typeface="Quattrocento Sans" pitchFamily="34" charset="-122"/>
                <a:cs typeface="Quattrocento Sans" pitchFamily="34" charset="-120"/>
              </a:rPr>
              <a:t>Why attractive:</a:t>
            </a:r>
            <a:endParaRPr lang="en-US" sz="1600" dirty="0"/>
          </a:p>
          <a:p>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Good for credibility and tenderability. Public-health use cases. But slowest path.</a:t>
            </a:r>
            <a:endParaRPr lang="en-US" sz="1600" dirty="0"/>
          </a:p>
          <a:p>
            <a:pPr>
              <a:lnSpc>
                <a:spcPct val="150000"/>
              </a:lnSpc>
              <a:spcBef>
                <a:spcPts val="800"/>
              </a:spcBef>
            </a:pPr>
            <a:r>
              <a:rPr lang="en-US" sz="1400" b="1" dirty="0">
                <a:solidFill>
                  <a:srgbClr val="1E293B"/>
                </a:solidFill>
                <a:latin typeface="Quattrocento Sans" pitchFamily="34" charset="0"/>
                <a:ea typeface="Quattrocento Sans" pitchFamily="34" charset="-122"/>
                <a:cs typeface="Quattrocento Sans" pitchFamily="34" charset="-120"/>
              </a:rPr>
              <a:t>Sales cycle:</a:t>
            </a:r>
            <a:pPr>
              <a:lnSpc>
                <a:spcPct val="150000"/>
              </a:lnSpc>
              <a:spcBef>
                <a:spcPts val="800"/>
              </a:spcBef>
            </a:pPr>
            <a:r>
              <a:rPr lang="en-US" sz="1400" dirty="0">
                <a:solidFill>
                  <a:srgbClr val="1E293B"/>
                </a:solidFill>
                <a:latin typeface="Quattrocento Sans" pitchFamily="34" charset="0"/>
                <a:ea typeface="Quattrocento Sans" pitchFamily="34" charset="-122"/>
                <a:cs typeface="Quattrocento Sans" pitchFamily="34" charset="-120"/>
              </a:rPr>
              <a:t> 6-12+ months</a:t>
            </a:r>
            <a:endParaRPr lang="en-US" sz="1600" dirty="0"/>
          </a:p>
          <a:p>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Pilot style:</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Managed-service</a:t>
            </a:r>
            <a:endParaRPr lang="en-US" sz="1600" dirty="0"/>
          </a:p>
          <a:p>
            <a:pPr>
              <a:lnSpc>
                <a:spcPct val="150000"/>
              </a:lnSpc>
            </a:pPr>
            <a:r>
              <a:rPr lang="en-US" sz="1400" b="1" dirty="0">
                <a:solidFill>
                  <a:srgbClr val="1E293B"/>
                </a:solidFill>
                <a:latin typeface="Quattrocento Sans" pitchFamily="34" charset="0"/>
                <a:ea typeface="Quattrocento Sans" pitchFamily="34" charset="-122"/>
                <a:cs typeface="Quattrocento Sans" pitchFamily="34" charset="-120"/>
              </a:rPr>
              <a:t>Conversion:</a:t>
            </a:r>
            <a:pPr>
              <a:lnSpc>
                <a:spcPct val="150000"/>
              </a:lnSpc>
            </a:pPr>
            <a:r>
              <a:rPr lang="en-US" sz="1400" dirty="0">
                <a:solidFill>
                  <a:srgbClr val="1E293B"/>
                </a:solidFill>
                <a:latin typeface="Quattrocento Sans" pitchFamily="34" charset="0"/>
                <a:ea typeface="Quattrocento Sans" pitchFamily="34" charset="-122"/>
                <a:cs typeface="Quattrocento Sans" pitchFamily="34" charset="-120"/>
              </a:rPr>
              <a:t> Hybrid later when procurement path clear</a:t>
            </a:r>
            <a:endParaRPr lang="en-US" sz="1600" dirty="0"/>
          </a:p>
        </p:txBody>
      </p:sp>
      <p:sp>
        <p:nvSpPr>
          <p:cNvPr id="16" name="Text 14"/>
          <p:cNvSpPr/>
          <p:nvPr/>
        </p:nvSpPr>
        <p:spPr>
          <a:xfrm>
            <a:off x="762000" y="6858000"/>
            <a:ext cx="762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RECOMMENDED ORDER OF ATTACK</a:t>
            </a:r>
            <a:endParaRPr lang="en-US" sz="1600" dirty="0"/>
          </a:p>
        </p:txBody>
      </p:sp>
      <p:sp>
        <p:nvSpPr>
          <p:cNvPr id="17" name="Shape 15"/>
          <p:cNvSpPr/>
          <p:nvPr/>
        </p:nvSpPr>
        <p:spPr>
          <a:xfrm>
            <a:off x="762000" y="7302500"/>
            <a:ext cx="14732000" cy="762000"/>
          </a:xfrm>
          <a:prstGeom prst="rect">
            <a:avLst/>
          </a:prstGeom>
          <a:solidFill>
            <a:srgbClr val="FEF3C7"/>
          </a:solidFill>
          <a:ln w="12700">
            <a:solidFill>
              <a:srgbClr val="FCD34D"/>
            </a:solidFill>
            <a:prstDash val="solid"/>
          </a:ln>
        </p:spPr>
      </p:sp>
      <p:sp>
        <p:nvSpPr>
          <p:cNvPr id="18" name="Text 16"/>
          <p:cNvSpPr/>
          <p:nvPr/>
        </p:nvSpPr>
        <p:spPr>
          <a:xfrm>
            <a:off x="1016000" y="7366000"/>
            <a:ext cx="14224000" cy="635000"/>
          </a:xfrm>
          <a:prstGeom prst="rect">
            <a:avLst/>
          </a:prstGeom>
          <a:noFill/>
          <a:ln/>
        </p:spPr>
        <p:txBody>
          <a:bodyPr wrap="square" lIns="0" tIns="0" rIns="0" bIns="0" rtlCol="0" anchor="ctr"/>
          <a:lstStyle/>
          <a:p>
            <a:pPr>
              <a:lnSpc>
                <a:spcPct val="140000"/>
              </a:lnSpc>
            </a:pPr>
            <a:r>
              <a:rPr lang="en-US" sz="1600" b="1" dirty="0">
                <a:solidFill>
                  <a:srgbClr val="1E293B"/>
                </a:solidFill>
                <a:latin typeface="Quattrocento Sans" pitchFamily="34" charset="0"/>
                <a:ea typeface="Quattrocento Sans" pitchFamily="34" charset="-122"/>
                <a:cs typeface="Quattrocento Sans" pitchFamily="34" charset="-120"/>
              </a:rPr>
              <a:t>1. Regional private reference lab</a:t>
            </a:r>
            <a:pPr>
              <a:lnSpc>
                <a:spcPct val="140000"/>
              </a:lnSpc>
            </a:pPr>
            <a:r>
              <a:rPr lang="en-US" sz="1600" dirty="0">
                <a:solidFill>
                  <a:srgbClr val="1E293B"/>
                </a:solidFill>
                <a:latin typeface="Quattrocento Sans" pitchFamily="34" charset="0"/>
                <a:ea typeface="Quattrocento Sans" pitchFamily="34" charset="-122"/>
                <a:cs typeface="Quattrocento Sans" pitchFamily="34" charset="-120"/>
              </a:rPr>
              <a:t> (fastest learning) </a:t>
            </a:r>
            <a:pPr>
              <a:lnSpc>
                <a:spcPct val="14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40000"/>
              </a:lnSpc>
            </a:pPr>
            <a:r>
              <a:rPr lang="en-US" sz="1600" dirty="0">
                <a:solidFill>
                  <a:srgbClr val="1E293B"/>
                </a:solidFill>
                <a:latin typeface="Quattrocento Sans" pitchFamily="34" charset="0"/>
                <a:ea typeface="Quattrocento Sans" pitchFamily="34" charset="-122"/>
                <a:cs typeface="Quattrocento Sans" pitchFamily="34" charset="-120"/>
              </a:rPr>
              <a:t> </a:t>
            </a:r>
            <a:pPr>
              <a:lnSpc>
                <a:spcPct val="140000"/>
              </a:lnSpc>
            </a:pPr>
            <a:r>
              <a:rPr lang="en-US" sz="1600" b="1" dirty="0">
                <a:solidFill>
                  <a:srgbClr val="1E293B"/>
                </a:solidFill>
                <a:latin typeface="Quattrocento Sans" pitchFamily="34" charset="0"/>
                <a:ea typeface="Quattrocento Sans" pitchFamily="34" charset="-122"/>
                <a:cs typeface="Quattrocento Sans" pitchFamily="34" charset="-120"/>
              </a:rPr>
              <a:t>2. Chain hub lab</a:t>
            </a:r>
            <a:pPr>
              <a:lnSpc>
                <a:spcPct val="140000"/>
              </a:lnSpc>
            </a:pPr>
            <a:r>
              <a:rPr lang="en-US" sz="1600" dirty="0">
                <a:solidFill>
                  <a:srgbClr val="1E293B"/>
                </a:solidFill>
                <a:latin typeface="Quattrocento Sans" pitchFamily="34" charset="0"/>
                <a:ea typeface="Quattrocento Sans" pitchFamily="34" charset="-122"/>
                <a:cs typeface="Quattrocento Sans" pitchFamily="34" charset="-120"/>
              </a:rPr>
              <a:t> (lighthouse + expansion) </a:t>
            </a:r>
            <a:pPr>
              <a:lnSpc>
                <a:spcPct val="14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40000"/>
              </a:lnSpc>
            </a:pPr>
            <a:r>
              <a:rPr lang="en-US" sz="1600" dirty="0">
                <a:solidFill>
                  <a:srgbClr val="1E293B"/>
                </a:solidFill>
                <a:latin typeface="Quattrocento Sans" pitchFamily="34" charset="0"/>
                <a:ea typeface="Quattrocento Sans" pitchFamily="34" charset="-122"/>
                <a:cs typeface="Quattrocento Sans" pitchFamily="34" charset="-120"/>
              </a:rPr>
              <a:t> </a:t>
            </a:r>
            <a:pPr>
              <a:lnSpc>
                <a:spcPct val="140000"/>
              </a:lnSpc>
            </a:pPr>
            <a:r>
              <a:rPr lang="en-US" sz="1600" b="1" dirty="0">
                <a:solidFill>
                  <a:srgbClr val="1E293B"/>
                </a:solidFill>
                <a:latin typeface="Quattrocento Sans" pitchFamily="34" charset="0"/>
                <a:ea typeface="Quattrocento Sans" pitchFamily="34" charset="-122"/>
                <a:cs typeface="Quattrocento Sans" pitchFamily="34" charset="-120"/>
              </a:rPr>
              <a:t>3. Hospital enterprise or PPP/public lab</a:t>
            </a:r>
            <a:pPr>
              <a:lnSpc>
                <a:spcPct val="140000"/>
              </a:lnSpc>
            </a:pPr>
            <a:r>
              <a:rPr lang="en-US" sz="1600" dirty="0">
                <a:solidFill>
                  <a:srgbClr val="1E293B"/>
                </a:solidFill>
                <a:latin typeface="Quattrocento Sans" pitchFamily="34" charset="0"/>
                <a:ea typeface="Quattrocento Sans" pitchFamily="34" charset="-122"/>
                <a:cs typeface="Quattrocento Sans" pitchFamily="34" charset="-120"/>
              </a:rPr>
              <a:t> (credibility, tenderability)</a:t>
            </a:r>
            <a:endParaRPr lang="en-US" sz="1600" dirty="0"/>
          </a:p>
        </p:txBody>
      </p:sp>
      <p:sp>
        <p:nvSpPr>
          <p:cNvPr id="19" name="Shape 17"/>
          <p:cNvSpPr/>
          <p:nvPr/>
        </p:nvSpPr>
        <p:spPr>
          <a:xfrm>
            <a:off x="762000" y="8636000"/>
            <a:ext cx="14732000" cy="25400"/>
          </a:xfrm>
          <a:prstGeom prst="rect">
            <a:avLst/>
          </a:prstGeom>
          <a:solidFill>
            <a:srgbClr val="D97706"/>
          </a:solidFill>
          <a:ln/>
        </p:spPr>
      </p:sp>
      <p:sp>
        <p:nvSpPr>
          <p:cNvPr id="20" name="Text 18"/>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25</a:t>
            </a:r>
            <a:endParaRPr lang="en-US" sz="13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Pilot Success Metrics: Operational, Financial, and Quality-Linked</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Text 2"/>
          <p:cNvSpPr/>
          <p:nvPr/>
        </p:nvSpPr>
        <p:spPr>
          <a:xfrm>
            <a:off x="762000" y="1143000"/>
            <a:ext cx="14732000" cy="355600"/>
          </a:xfrm>
          <a:prstGeom prst="rect">
            <a:avLst/>
          </a:prstGeom>
          <a:noFill/>
          <a:ln/>
        </p:spPr>
        <p:txBody>
          <a:bodyPr wrap="square" lIns="0" tIns="0" rIns="0" bIns="0" rtlCol="0" anchor="ctr"/>
          <a:lstStyle/>
          <a:p>
            <a:pPr>
              <a:lnSpc>
                <a:spcPct val="100000"/>
              </a:lnSpc>
            </a:pPr>
            <a:r>
              <a:rPr lang="en-US" sz="1600" b="1" dirty="0">
                <a:solidFill>
                  <a:srgbClr val="D97706"/>
                </a:solidFill>
                <a:latin typeface="Quattrocento Sans" pitchFamily="34" charset="0"/>
                <a:ea typeface="Quattrocento Sans" pitchFamily="34" charset="-122"/>
                <a:cs typeface="Quattrocento Sans" pitchFamily="34" charset="-120"/>
              </a:rPr>
              <a:t>The most important metrics are NOT "robot cycles completed." They are business outcomes.</a:t>
            </a:r>
            <a:endParaRPr lang="en-US" sz="1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62000" y="1651000"/>
          <a:ext cx="14732000" cy="3937000"/>
        </p:xfrm>
        <a:graphic>
          <a:graphicData uri="http://schemas.openxmlformats.org/drawingml/2006/table">
            <a:tbl>
              <a:tblPr/>
              <a:tblGrid>
                <a:gridCol w="4124960"/>
                <a:gridCol w="6187440"/>
                <a:gridCol w="4419600"/>
              </a:tblGrid>
              <a:tr h="436020">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Metric Category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What to Measure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400" b="1" u="none" dirty="0">
                          <a:solidFill>
                            <a:srgbClr val="FFFFFF"/>
                          </a:solidFill>
                          <a:latin typeface="QuattrocentoSans" pitchFamily="34" charset="0"/>
                          <a:ea typeface="QuattrocentoSans" pitchFamily="34" charset="-122"/>
                          <a:cs typeface="QuattrocentoSans" pitchFamily="34" charset="-120"/>
                        </a:rPr>
                        <a:t>Target Benchmark</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50014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Operational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Reduction in manual touches per sample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&gt;50% reduction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014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Operational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Automation coverage on scoped workflow</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&gt;=70% automated routing</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50014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Quality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Barcode-read success rate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98.5%+</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014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Reliability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System uptime during staffed hours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&gt;=98%</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50014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Speed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p95 TAT improvement on target benches</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15-25% reduction</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014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Quality</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Mis-sort or exception rate</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Near-zero</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6F3"/>
                    </a:solidFill>
                  </a:tcPr>
                </a:tc>
              </a:tr>
              <a:tr h="500140">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Financial</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1E293B"/>
                          </a:solidFill>
                          <a:latin typeface="QuattrocentoSans" pitchFamily="34" charset="0"/>
                          <a:ea typeface="QuattrocentoSans" pitchFamily="34" charset="-122"/>
                          <a:cs typeface="QuattrocentoSans" pitchFamily="34" charset="-120"/>
                        </a:rPr>
                        <a:t>FTE hours redeployed (not removed)</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400" u="none" dirty="0">
                          <a:solidFill>
                            <a:srgbClr val="D97706"/>
                          </a:solidFill>
                          <a:latin typeface="QuattrocentoSans" pitchFamily="34" charset="0"/>
                          <a:ea typeface="QuattrocentoSans" pitchFamily="34" charset="-122"/>
                          <a:cs typeface="QuattrocentoSans" pitchFamily="34" charset="-120"/>
                        </a:rPr>
                        <a:t>Measurable redeployment</a:t>
                      </a:r>
                      <a:endParaRPr lang="en-US" sz="14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762000" y="58420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WHY THESE METRICS MATTER</a:t>
            </a:r>
            <a:endParaRPr lang="en-US" sz="1600" dirty="0"/>
          </a:p>
        </p:txBody>
      </p:sp>
      <p:sp>
        <p:nvSpPr>
          <p:cNvPr id="7" name="Shape 4"/>
          <p:cNvSpPr/>
          <p:nvPr/>
        </p:nvSpPr>
        <p:spPr>
          <a:xfrm>
            <a:off x="762000" y="6324600"/>
            <a:ext cx="3429000" cy="1270000"/>
          </a:xfrm>
          <a:prstGeom prst="rect">
            <a:avLst/>
          </a:prstGeom>
          <a:solidFill>
            <a:srgbClr val="F1F5F9"/>
          </a:solidFill>
          <a:ln w="12700">
            <a:solidFill>
              <a:srgbClr val="E2E8F0"/>
            </a:solidFill>
            <a:prstDash val="solid"/>
          </a:ln>
        </p:spPr>
      </p:sp>
      <p:sp>
        <p:nvSpPr>
          <p:cNvPr id="8" name="Shape 5"/>
          <p:cNvSpPr/>
          <p:nvPr/>
        </p:nvSpPr>
        <p:spPr>
          <a:xfrm>
            <a:off x="990600" y="6477000"/>
            <a:ext cx="228600" cy="304800"/>
          </a:xfrm>
          <a:custGeom>
            <a:avLst/>
            <a:gdLst/>
            <a:ahLst/>
            <a:cxnLst/>
            <a:rect l="l" t="t" r="r" b="b"/>
            <a:pathLst>
              <a:path w="228600" h="304800">
                <a:moveTo>
                  <a:pt x="185380" y="19050"/>
                </a:moveTo>
                <a:lnTo>
                  <a:pt x="190500" y="19050"/>
                </a:lnTo>
                <a:cubicBezTo>
                  <a:pt x="211515" y="19050"/>
                  <a:pt x="228600" y="36135"/>
                  <a:pt x="228600" y="57150"/>
                </a:cubicBezTo>
                <a:lnTo>
                  <a:pt x="228600" y="266700"/>
                </a:lnTo>
                <a:cubicBezTo>
                  <a:pt x="228600" y="287715"/>
                  <a:pt x="211515" y="304800"/>
                  <a:pt x="190500" y="304800"/>
                </a:cubicBezTo>
                <a:lnTo>
                  <a:pt x="38100" y="304800"/>
                </a:lnTo>
                <a:cubicBezTo>
                  <a:pt x="17085" y="304800"/>
                  <a:pt x="0" y="287715"/>
                  <a:pt x="0" y="266700"/>
                </a:cubicBezTo>
                <a:lnTo>
                  <a:pt x="0" y="57150"/>
                </a:lnTo>
                <a:cubicBezTo>
                  <a:pt x="0" y="36135"/>
                  <a:pt x="17085" y="19050"/>
                  <a:pt x="38100" y="19050"/>
                </a:cubicBezTo>
                <a:lnTo>
                  <a:pt x="43220" y="19050"/>
                </a:lnTo>
                <a:cubicBezTo>
                  <a:pt x="49768" y="7680"/>
                  <a:pt x="62091" y="0"/>
                  <a:pt x="76200" y="0"/>
                </a:cubicBezTo>
                <a:lnTo>
                  <a:pt x="152400" y="0"/>
                </a:lnTo>
                <a:cubicBezTo>
                  <a:pt x="166509" y="0"/>
                  <a:pt x="178832" y="7680"/>
                  <a:pt x="185380" y="19050"/>
                </a:cubicBezTo>
                <a:close/>
                <a:moveTo>
                  <a:pt x="147638" y="66675"/>
                </a:moveTo>
                <a:cubicBezTo>
                  <a:pt x="155555" y="66675"/>
                  <a:pt x="161925" y="60305"/>
                  <a:pt x="161925" y="52388"/>
                </a:cubicBezTo>
                <a:cubicBezTo>
                  <a:pt x="161925" y="44470"/>
                  <a:pt x="155555" y="38100"/>
                  <a:pt x="147638" y="38100"/>
                </a:cubicBezTo>
                <a:lnTo>
                  <a:pt x="80962" y="38100"/>
                </a:lnTo>
                <a:cubicBezTo>
                  <a:pt x="73045" y="38100"/>
                  <a:pt x="66675" y="44470"/>
                  <a:pt x="66675" y="52388"/>
                </a:cubicBezTo>
                <a:cubicBezTo>
                  <a:pt x="66675" y="60305"/>
                  <a:pt x="73045" y="66675"/>
                  <a:pt x="80962" y="66675"/>
                </a:cubicBezTo>
                <a:lnTo>
                  <a:pt x="147638" y="66675"/>
                </a:lnTo>
                <a:close/>
                <a:moveTo>
                  <a:pt x="164544" y="155198"/>
                </a:moveTo>
                <a:cubicBezTo>
                  <a:pt x="168712" y="148530"/>
                  <a:pt x="166688" y="139720"/>
                  <a:pt x="160020" y="135493"/>
                </a:cubicBezTo>
                <a:cubicBezTo>
                  <a:pt x="153352" y="131266"/>
                  <a:pt x="144542" y="133350"/>
                  <a:pt x="140315" y="140018"/>
                </a:cubicBezTo>
                <a:lnTo>
                  <a:pt x="103763" y="198537"/>
                </a:lnTo>
                <a:lnTo>
                  <a:pt x="87690" y="177105"/>
                </a:lnTo>
                <a:cubicBezTo>
                  <a:pt x="82927" y="170795"/>
                  <a:pt x="73997" y="169485"/>
                  <a:pt x="67687" y="174248"/>
                </a:cubicBezTo>
                <a:cubicBezTo>
                  <a:pt x="61377" y="179010"/>
                  <a:pt x="60067" y="187940"/>
                  <a:pt x="64830" y="194250"/>
                </a:cubicBezTo>
                <a:lnTo>
                  <a:pt x="93405" y="232350"/>
                </a:lnTo>
                <a:cubicBezTo>
                  <a:pt x="96202" y="236101"/>
                  <a:pt x="100727" y="238244"/>
                  <a:pt x="105430" y="238065"/>
                </a:cubicBezTo>
                <a:cubicBezTo>
                  <a:pt x="110133" y="237887"/>
                  <a:pt x="114419" y="235387"/>
                  <a:pt x="116919" y="231338"/>
                </a:cubicBezTo>
                <a:lnTo>
                  <a:pt x="164544" y="155138"/>
                </a:lnTo>
                <a:close/>
              </a:path>
            </a:pathLst>
          </a:custGeom>
          <a:solidFill>
            <a:srgbClr val="D97706"/>
          </a:solidFill>
          <a:ln/>
        </p:spPr>
      </p:sp>
      <p:sp>
        <p:nvSpPr>
          <p:cNvPr id="9" name="Text 6"/>
          <p:cNvSpPr/>
          <p:nvPr/>
        </p:nvSpPr>
        <p:spPr>
          <a:xfrm>
            <a:off x="1371600" y="6451600"/>
            <a:ext cx="2667000" cy="317500"/>
          </a:xfrm>
          <a:prstGeom prst="rect">
            <a:avLst/>
          </a:prstGeom>
          <a:noFill/>
          <a:ln/>
        </p:spPr>
        <p:txBody>
          <a:bodyPr wrap="none" lIns="0" tIns="0" rIns="0" bIns="0" rtlCol="0" anchor="ctr"/>
          <a:lstStyle/>
          <a:p>
            <a:pPr>
              <a:lnSpc>
                <a:spcPct val="100000"/>
              </a:lnSpc>
            </a:pPr>
            <a:r>
              <a:rPr lang="en-US" sz="1400" dirty="0">
                <a:solidFill>
                  <a:srgbClr val="1E293B"/>
                </a:solidFill>
                <a:latin typeface="Liter" pitchFamily="34" charset="0"/>
                <a:ea typeface="Liter" pitchFamily="34" charset="-122"/>
                <a:cs typeface="Liter" pitchFamily="34" charset="-120"/>
              </a:rPr>
              <a:t>PROCUREMENT TEAMS</a:t>
            </a:r>
            <a:endParaRPr lang="en-US" sz="1600" dirty="0"/>
          </a:p>
        </p:txBody>
      </p:sp>
      <p:sp>
        <p:nvSpPr>
          <p:cNvPr id="10" name="Text 7"/>
          <p:cNvSpPr/>
          <p:nvPr/>
        </p:nvSpPr>
        <p:spPr>
          <a:xfrm>
            <a:off x="952500" y="6858000"/>
            <a:ext cx="3048000" cy="571500"/>
          </a:xfrm>
          <a:prstGeom prst="rect">
            <a:avLst/>
          </a:prstGeom>
          <a:noFill/>
          <a:ln/>
        </p:spPr>
        <p:txBody>
          <a:bodyPr wrap="square" lIns="0" tIns="0" rIns="0" bIns="0" rtlCol="0" anchor="t"/>
          <a:lstStyle/>
          <a:p>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Care about cost reduction, payback period, ROI numbers</a:t>
            </a:r>
            <a:endParaRPr lang="en-US" sz="1600" dirty="0"/>
          </a:p>
        </p:txBody>
      </p:sp>
      <p:sp>
        <p:nvSpPr>
          <p:cNvPr id="11" name="Shape 8"/>
          <p:cNvSpPr/>
          <p:nvPr/>
        </p:nvSpPr>
        <p:spPr>
          <a:xfrm>
            <a:off x="4445000" y="6324600"/>
            <a:ext cx="3429000" cy="1270000"/>
          </a:xfrm>
          <a:prstGeom prst="rect">
            <a:avLst/>
          </a:prstGeom>
          <a:solidFill>
            <a:srgbClr val="F1F5F9"/>
          </a:solidFill>
          <a:ln w="12700">
            <a:solidFill>
              <a:srgbClr val="E2E8F0"/>
            </a:solidFill>
            <a:prstDash val="solid"/>
          </a:ln>
        </p:spPr>
      </p:sp>
      <p:sp>
        <p:nvSpPr>
          <p:cNvPr id="12" name="Shape 9"/>
          <p:cNvSpPr/>
          <p:nvPr/>
        </p:nvSpPr>
        <p:spPr>
          <a:xfrm>
            <a:off x="4654550" y="6477000"/>
            <a:ext cx="266700" cy="304800"/>
          </a:xfrm>
          <a:custGeom>
            <a:avLst/>
            <a:gdLst/>
            <a:ahLst/>
            <a:cxnLst/>
            <a:rect l="l" t="t" r="r" b="b"/>
            <a:pathLst>
              <a:path w="266700" h="304800">
                <a:moveTo>
                  <a:pt x="146387" y="-15419"/>
                </a:moveTo>
                <a:cubicBezTo>
                  <a:pt x="138410" y="-20300"/>
                  <a:pt x="128349" y="-20300"/>
                  <a:pt x="120372" y="-15419"/>
                </a:cubicBezTo>
                <a:cubicBezTo>
                  <a:pt x="105847" y="-6548"/>
                  <a:pt x="96857" y="-4167"/>
                  <a:pt x="79831" y="-4524"/>
                </a:cubicBezTo>
                <a:cubicBezTo>
                  <a:pt x="70485" y="-4762"/>
                  <a:pt x="61793" y="298"/>
                  <a:pt x="57269" y="8513"/>
                </a:cubicBezTo>
                <a:cubicBezTo>
                  <a:pt x="49113" y="23455"/>
                  <a:pt x="42505" y="30063"/>
                  <a:pt x="27563" y="38219"/>
                </a:cubicBezTo>
                <a:cubicBezTo>
                  <a:pt x="19348" y="42684"/>
                  <a:pt x="14347" y="51435"/>
                  <a:pt x="14526" y="60781"/>
                </a:cubicBezTo>
                <a:cubicBezTo>
                  <a:pt x="14942" y="77807"/>
                  <a:pt x="12502" y="86797"/>
                  <a:pt x="3631" y="101322"/>
                </a:cubicBezTo>
                <a:cubicBezTo>
                  <a:pt x="-1250" y="109299"/>
                  <a:pt x="-1250" y="119360"/>
                  <a:pt x="3631" y="127337"/>
                </a:cubicBezTo>
                <a:cubicBezTo>
                  <a:pt x="12502" y="141863"/>
                  <a:pt x="14883" y="150852"/>
                  <a:pt x="14526" y="167878"/>
                </a:cubicBezTo>
                <a:cubicBezTo>
                  <a:pt x="14287" y="177225"/>
                  <a:pt x="19348" y="185916"/>
                  <a:pt x="27563" y="190440"/>
                </a:cubicBezTo>
                <a:cubicBezTo>
                  <a:pt x="40719" y="197644"/>
                  <a:pt x="47387" y="203597"/>
                  <a:pt x="54412" y="215146"/>
                </a:cubicBezTo>
                <a:lnTo>
                  <a:pt x="25420" y="272951"/>
                </a:lnTo>
                <a:cubicBezTo>
                  <a:pt x="21908" y="280035"/>
                  <a:pt x="24765" y="288608"/>
                  <a:pt x="31790" y="292120"/>
                </a:cubicBezTo>
                <a:lnTo>
                  <a:pt x="82987" y="317718"/>
                </a:lnTo>
                <a:cubicBezTo>
                  <a:pt x="89833" y="321112"/>
                  <a:pt x="98167" y="318552"/>
                  <a:pt x="101858" y="311884"/>
                </a:cubicBezTo>
                <a:lnTo>
                  <a:pt x="133290" y="255270"/>
                </a:lnTo>
                <a:lnTo>
                  <a:pt x="164723" y="311884"/>
                </a:lnTo>
                <a:cubicBezTo>
                  <a:pt x="168414" y="318552"/>
                  <a:pt x="176748" y="321171"/>
                  <a:pt x="183594" y="317718"/>
                </a:cubicBezTo>
                <a:lnTo>
                  <a:pt x="234791" y="292120"/>
                </a:lnTo>
                <a:cubicBezTo>
                  <a:pt x="241875" y="288608"/>
                  <a:pt x="244733" y="280035"/>
                  <a:pt x="241161" y="272951"/>
                </a:cubicBezTo>
                <a:lnTo>
                  <a:pt x="212229" y="215086"/>
                </a:lnTo>
                <a:cubicBezTo>
                  <a:pt x="219194" y="203537"/>
                  <a:pt x="225921" y="197584"/>
                  <a:pt x="239078" y="190381"/>
                </a:cubicBezTo>
                <a:cubicBezTo>
                  <a:pt x="247293" y="185916"/>
                  <a:pt x="252293" y="177165"/>
                  <a:pt x="252115" y="167819"/>
                </a:cubicBezTo>
                <a:cubicBezTo>
                  <a:pt x="251698" y="150793"/>
                  <a:pt x="254139" y="141803"/>
                  <a:pt x="263009" y="127278"/>
                </a:cubicBezTo>
                <a:cubicBezTo>
                  <a:pt x="267891" y="119301"/>
                  <a:pt x="267891" y="109240"/>
                  <a:pt x="263009" y="101263"/>
                </a:cubicBezTo>
                <a:cubicBezTo>
                  <a:pt x="254139" y="86737"/>
                  <a:pt x="251758" y="77748"/>
                  <a:pt x="252115" y="60722"/>
                </a:cubicBezTo>
                <a:cubicBezTo>
                  <a:pt x="252353" y="51375"/>
                  <a:pt x="247293" y="42684"/>
                  <a:pt x="239078" y="38160"/>
                </a:cubicBezTo>
                <a:cubicBezTo>
                  <a:pt x="224135" y="30004"/>
                  <a:pt x="217527" y="23396"/>
                  <a:pt x="209371" y="8453"/>
                </a:cubicBezTo>
                <a:cubicBezTo>
                  <a:pt x="204907" y="238"/>
                  <a:pt x="196155" y="-4762"/>
                  <a:pt x="186809" y="-4584"/>
                </a:cubicBezTo>
                <a:cubicBezTo>
                  <a:pt x="169783" y="-4167"/>
                  <a:pt x="160794" y="-6608"/>
                  <a:pt x="146268" y="-15478"/>
                </a:cubicBezTo>
                <a:close/>
                <a:moveTo>
                  <a:pt x="133350" y="57150"/>
                </a:moveTo>
                <a:cubicBezTo>
                  <a:pt x="164892" y="57150"/>
                  <a:pt x="190500" y="82758"/>
                  <a:pt x="190500" y="114300"/>
                </a:cubicBezTo>
                <a:cubicBezTo>
                  <a:pt x="190500" y="145842"/>
                  <a:pt x="164892" y="171450"/>
                  <a:pt x="133350" y="171450"/>
                </a:cubicBezTo>
                <a:cubicBezTo>
                  <a:pt x="101808" y="171450"/>
                  <a:pt x="76200" y="145842"/>
                  <a:pt x="76200" y="114300"/>
                </a:cubicBezTo>
                <a:cubicBezTo>
                  <a:pt x="76200" y="82758"/>
                  <a:pt x="101808" y="57150"/>
                  <a:pt x="133350" y="57150"/>
                </a:cubicBezTo>
                <a:close/>
              </a:path>
            </a:pathLst>
          </a:custGeom>
          <a:solidFill>
            <a:srgbClr val="D97706"/>
          </a:solidFill>
          <a:ln/>
        </p:spPr>
      </p:sp>
      <p:sp>
        <p:nvSpPr>
          <p:cNvPr id="13" name="Text 10"/>
          <p:cNvSpPr/>
          <p:nvPr/>
        </p:nvSpPr>
        <p:spPr>
          <a:xfrm>
            <a:off x="5054600" y="6451600"/>
            <a:ext cx="2667000" cy="317500"/>
          </a:xfrm>
          <a:prstGeom prst="rect">
            <a:avLst/>
          </a:prstGeom>
          <a:noFill/>
          <a:ln/>
        </p:spPr>
        <p:txBody>
          <a:bodyPr wrap="none" lIns="0" tIns="0" rIns="0" bIns="0" rtlCol="0" anchor="ctr"/>
          <a:lstStyle/>
          <a:p>
            <a:pPr>
              <a:lnSpc>
                <a:spcPct val="100000"/>
              </a:lnSpc>
            </a:pPr>
            <a:r>
              <a:rPr lang="en-US" sz="1400" dirty="0">
                <a:solidFill>
                  <a:srgbClr val="1E293B"/>
                </a:solidFill>
                <a:latin typeface="Liter" pitchFamily="34" charset="0"/>
                <a:ea typeface="Liter" pitchFamily="34" charset="-122"/>
                <a:cs typeface="Liter" pitchFamily="34" charset="-120"/>
              </a:rPr>
              <a:t>QUALITY TEAMS</a:t>
            </a:r>
            <a:endParaRPr lang="en-US" sz="1600" dirty="0"/>
          </a:p>
        </p:txBody>
      </p:sp>
      <p:sp>
        <p:nvSpPr>
          <p:cNvPr id="14" name="Text 11"/>
          <p:cNvSpPr/>
          <p:nvPr/>
        </p:nvSpPr>
        <p:spPr>
          <a:xfrm>
            <a:off x="4635500" y="6858000"/>
            <a:ext cx="3048000" cy="571500"/>
          </a:xfrm>
          <a:prstGeom prst="rect">
            <a:avLst/>
          </a:prstGeom>
          <a:noFill/>
          <a:ln/>
        </p:spPr>
        <p:txBody>
          <a:bodyPr wrap="square" lIns="0" tIns="0" rIns="0" bIns="0" rtlCol="0" anchor="t"/>
          <a:lstStyle/>
          <a:p>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Care about error rates, traceability, audit compliance</a:t>
            </a:r>
            <a:endParaRPr lang="en-US" sz="1600" dirty="0"/>
          </a:p>
        </p:txBody>
      </p:sp>
      <p:sp>
        <p:nvSpPr>
          <p:cNvPr id="15" name="Shape 12"/>
          <p:cNvSpPr/>
          <p:nvPr/>
        </p:nvSpPr>
        <p:spPr>
          <a:xfrm>
            <a:off x="8128000" y="6324600"/>
            <a:ext cx="3429000" cy="1270000"/>
          </a:xfrm>
          <a:prstGeom prst="rect">
            <a:avLst/>
          </a:prstGeom>
          <a:solidFill>
            <a:srgbClr val="F1F5F9"/>
          </a:solidFill>
          <a:ln w="12700">
            <a:solidFill>
              <a:srgbClr val="E2E8F0"/>
            </a:solidFill>
            <a:prstDash val="solid"/>
          </a:ln>
        </p:spPr>
      </p:sp>
      <p:sp>
        <p:nvSpPr>
          <p:cNvPr id="16" name="Shape 13"/>
          <p:cNvSpPr/>
          <p:nvPr/>
        </p:nvSpPr>
        <p:spPr>
          <a:xfrm>
            <a:off x="8318500" y="6477000"/>
            <a:ext cx="304800" cy="304800"/>
          </a:xfrm>
          <a:custGeom>
            <a:avLst/>
            <a:gdLst/>
            <a:ahLst/>
            <a:cxnLst/>
            <a:rect l="l" t="t" r="r" b="b"/>
            <a:pathLst>
              <a:path w="304800" h="304800">
                <a:moveTo>
                  <a:pt x="152400" y="0"/>
                </a:moveTo>
                <a:cubicBezTo>
                  <a:pt x="236512" y="0"/>
                  <a:pt x="304800" y="68288"/>
                  <a:pt x="304800" y="152400"/>
                </a:cubicBezTo>
                <a:cubicBezTo>
                  <a:pt x="304800" y="236512"/>
                  <a:pt x="236512" y="304800"/>
                  <a:pt x="152400" y="304800"/>
                </a:cubicBezTo>
                <a:cubicBezTo>
                  <a:pt x="68288" y="304800"/>
                  <a:pt x="0" y="236512"/>
                  <a:pt x="0" y="152400"/>
                </a:cubicBezTo>
                <a:cubicBezTo>
                  <a:pt x="0" y="68288"/>
                  <a:pt x="68288" y="0"/>
                  <a:pt x="152400" y="0"/>
                </a:cubicBezTo>
                <a:close/>
                <a:moveTo>
                  <a:pt x="138113" y="71438"/>
                </a:moveTo>
                <a:lnTo>
                  <a:pt x="138113" y="152400"/>
                </a:lnTo>
                <a:cubicBezTo>
                  <a:pt x="138113" y="157163"/>
                  <a:pt x="140494" y="161627"/>
                  <a:pt x="144482" y="164306"/>
                </a:cubicBezTo>
                <a:lnTo>
                  <a:pt x="201632" y="202406"/>
                </a:lnTo>
                <a:cubicBezTo>
                  <a:pt x="208181" y="206812"/>
                  <a:pt x="217051" y="205026"/>
                  <a:pt x="221456" y="198418"/>
                </a:cubicBezTo>
                <a:cubicBezTo>
                  <a:pt x="225862" y="191810"/>
                  <a:pt x="224076" y="182999"/>
                  <a:pt x="217468" y="178594"/>
                </a:cubicBezTo>
                <a:lnTo>
                  <a:pt x="166688" y="144780"/>
                </a:lnTo>
                <a:lnTo>
                  <a:pt x="166688" y="71438"/>
                </a:lnTo>
                <a:cubicBezTo>
                  <a:pt x="166688" y="63520"/>
                  <a:pt x="160318" y="57150"/>
                  <a:pt x="152400" y="57150"/>
                </a:cubicBezTo>
                <a:cubicBezTo>
                  <a:pt x="144482" y="57150"/>
                  <a:pt x="138113" y="63520"/>
                  <a:pt x="138113" y="71438"/>
                </a:cubicBezTo>
                <a:close/>
              </a:path>
            </a:pathLst>
          </a:custGeom>
          <a:solidFill>
            <a:srgbClr val="D97706"/>
          </a:solidFill>
          <a:ln/>
        </p:spPr>
      </p:sp>
      <p:sp>
        <p:nvSpPr>
          <p:cNvPr id="17" name="Text 14"/>
          <p:cNvSpPr/>
          <p:nvPr/>
        </p:nvSpPr>
        <p:spPr>
          <a:xfrm>
            <a:off x="8737600" y="6451600"/>
            <a:ext cx="2667000" cy="317500"/>
          </a:xfrm>
          <a:prstGeom prst="rect">
            <a:avLst/>
          </a:prstGeom>
          <a:noFill/>
          <a:ln/>
        </p:spPr>
        <p:txBody>
          <a:bodyPr wrap="none" lIns="0" tIns="0" rIns="0" bIns="0" rtlCol="0" anchor="ctr"/>
          <a:lstStyle/>
          <a:p>
            <a:pPr>
              <a:lnSpc>
                <a:spcPct val="100000"/>
              </a:lnSpc>
            </a:pPr>
            <a:r>
              <a:rPr lang="en-US" sz="1400" dirty="0">
                <a:solidFill>
                  <a:srgbClr val="1E293B"/>
                </a:solidFill>
                <a:latin typeface="Liter" pitchFamily="34" charset="0"/>
                <a:ea typeface="Liter" pitchFamily="34" charset="-122"/>
                <a:cs typeface="Liter" pitchFamily="34" charset="-120"/>
              </a:rPr>
              <a:t>LAB MANAGERS</a:t>
            </a:r>
            <a:endParaRPr lang="en-US" sz="1600" dirty="0"/>
          </a:p>
        </p:txBody>
      </p:sp>
      <p:sp>
        <p:nvSpPr>
          <p:cNvPr id="18" name="Text 15"/>
          <p:cNvSpPr/>
          <p:nvPr/>
        </p:nvSpPr>
        <p:spPr>
          <a:xfrm>
            <a:off x="8318500" y="6858000"/>
            <a:ext cx="3048000" cy="571500"/>
          </a:xfrm>
          <a:prstGeom prst="rect">
            <a:avLst/>
          </a:prstGeom>
          <a:noFill/>
          <a:ln/>
        </p:spPr>
        <p:txBody>
          <a:bodyPr wrap="square" lIns="0" tIns="0" rIns="0" bIns="0" rtlCol="0" anchor="t"/>
          <a:lstStyle/>
          <a:p>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Care about TAT, throughput, bench utilization, staff redeployment</a:t>
            </a:r>
            <a:endParaRPr lang="en-US" sz="1600" dirty="0"/>
          </a:p>
        </p:txBody>
      </p:sp>
      <p:sp>
        <p:nvSpPr>
          <p:cNvPr id="19" name="Shape 16"/>
          <p:cNvSpPr/>
          <p:nvPr/>
        </p:nvSpPr>
        <p:spPr>
          <a:xfrm>
            <a:off x="11811000" y="6324600"/>
            <a:ext cx="3683000" cy="1270000"/>
          </a:xfrm>
          <a:prstGeom prst="rect">
            <a:avLst/>
          </a:prstGeom>
          <a:solidFill>
            <a:srgbClr val="F1F5F9"/>
          </a:solidFill>
          <a:ln w="12700">
            <a:solidFill>
              <a:srgbClr val="E2E8F0"/>
            </a:solidFill>
            <a:prstDash val="solid"/>
          </a:ln>
        </p:spPr>
      </p:sp>
      <p:sp>
        <p:nvSpPr>
          <p:cNvPr id="20" name="Shape 17"/>
          <p:cNvSpPr/>
          <p:nvPr/>
        </p:nvSpPr>
        <p:spPr>
          <a:xfrm>
            <a:off x="12020550" y="6477000"/>
            <a:ext cx="266700" cy="304800"/>
          </a:xfrm>
          <a:custGeom>
            <a:avLst/>
            <a:gdLst/>
            <a:ahLst/>
            <a:cxnLst/>
            <a:rect l="l" t="t" r="r" b="b"/>
            <a:pathLst>
              <a:path w="266700" h="304800">
                <a:moveTo>
                  <a:pt x="133350" y="4763"/>
                </a:moveTo>
                <a:cubicBezTo>
                  <a:pt x="93923" y="4763"/>
                  <a:pt x="61913" y="36773"/>
                  <a:pt x="61912" y="76200"/>
                </a:cubicBezTo>
                <a:cubicBezTo>
                  <a:pt x="61912" y="115627"/>
                  <a:pt x="93923" y="147638"/>
                  <a:pt x="133350" y="147638"/>
                </a:cubicBezTo>
                <a:cubicBezTo>
                  <a:pt x="172777" y="147638"/>
                  <a:pt x="204787" y="115627"/>
                  <a:pt x="204787" y="76200"/>
                </a:cubicBezTo>
                <a:cubicBezTo>
                  <a:pt x="204787" y="36773"/>
                  <a:pt x="172777" y="4763"/>
                  <a:pt x="133350" y="4763"/>
                </a:cubicBezTo>
                <a:close/>
                <a:moveTo>
                  <a:pt x="169069" y="190976"/>
                </a:moveTo>
                <a:cubicBezTo>
                  <a:pt x="165854" y="190679"/>
                  <a:pt x="162520" y="190500"/>
                  <a:pt x="159187" y="190500"/>
                </a:cubicBezTo>
                <a:lnTo>
                  <a:pt x="107454" y="190500"/>
                </a:lnTo>
                <a:cubicBezTo>
                  <a:pt x="104120" y="190500"/>
                  <a:pt x="100846" y="190679"/>
                  <a:pt x="97572" y="190976"/>
                </a:cubicBezTo>
                <a:lnTo>
                  <a:pt x="97572" y="231160"/>
                </a:lnTo>
                <a:cubicBezTo>
                  <a:pt x="107394" y="235684"/>
                  <a:pt x="114240" y="245626"/>
                  <a:pt x="114240" y="257115"/>
                </a:cubicBezTo>
                <a:cubicBezTo>
                  <a:pt x="114240" y="272891"/>
                  <a:pt x="101441" y="285690"/>
                  <a:pt x="85665" y="285690"/>
                </a:cubicBezTo>
                <a:cubicBezTo>
                  <a:pt x="69890" y="285690"/>
                  <a:pt x="57090" y="272891"/>
                  <a:pt x="57090" y="257115"/>
                </a:cubicBezTo>
                <a:cubicBezTo>
                  <a:pt x="57090" y="245566"/>
                  <a:pt x="63937" y="235625"/>
                  <a:pt x="73759" y="231160"/>
                </a:cubicBezTo>
                <a:lnTo>
                  <a:pt x="73759" y="196394"/>
                </a:lnTo>
                <a:cubicBezTo>
                  <a:pt x="36314" y="210145"/>
                  <a:pt x="9525" y="246221"/>
                  <a:pt x="9525" y="288488"/>
                </a:cubicBezTo>
                <a:cubicBezTo>
                  <a:pt x="9525" y="297478"/>
                  <a:pt x="16847" y="304800"/>
                  <a:pt x="25837" y="304800"/>
                </a:cubicBezTo>
                <a:lnTo>
                  <a:pt x="240804" y="304800"/>
                </a:lnTo>
                <a:cubicBezTo>
                  <a:pt x="249793" y="304800"/>
                  <a:pt x="257115" y="297478"/>
                  <a:pt x="257115" y="288488"/>
                </a:cubicBezTo>
                <a:cubicBezTo>
                  <a:pt x="257115" y="246221"/>
                  <a:pt x="230326" y="210205"/>
                  <a:pt x="192822" y="196453"/>
                </a:cubicBezTo>
                <a:lnTo>
                  <a:pt x="192822" y="218718"/>
                </a:lnTo>
                <a:cubicBezTo>
                  <a:pt x="206692" y="223599"/>
                  <a:pt x="216634" y="236875"/>
                  <a:pt x="216634" y="252413"/>
                </a:cubicBezTo>
                <a:lnTo>
                  <a:pt x="216634" y="271463"/>
                </a:lnTo>
                <a:cubicBezTo>
                  <a:pt x="216634" y="278011"/>
                  <a:pt x="211276" y="283369"/>
                  <a:pt x="204728" y="283369"/>
                </a:cubicBezTo>
                <a:cubicBezTo>
                  <a:pt x="198180" y="283369"/>
                  <a:pt x="192822" y="278011"/>
                  <a:pt x="192822" y="271463"/>
                </a:cubicBezTo>
                <a:lnTo>
                  <a:pt x="192822" y="252413"/>
                </a:lnTo>
                <a:cubicBezTo>
                  <a:pt x="192822" y="245864"/>
                  <a:pt x="187464" y="240506"/>
                  <a:pt x="180915" y="240506"/>
                </a:cubicBezTo>
                <a:cubicBezTo>
                  <a:pt x="174367" y="240506"/>
                  <a:pt x="169009" y="245864"/>
                  <a:pt x="169009" y="252413"/>
                </a:cubicBezTo>
                <a:lnTo>
                  <a:pt x="169009" y="271463"/>
                </a:lnTo>
                <a:cubicBezTo>
                  <a:pt x="169009" y="278011"/>
                  <a:pt x="163651" y="283369"/>
                  <a:pt x="157103" y="283369"/>
                </a:cubicBezTo>
                <a:cubicBezTo>
                  <a:pt x="150555" y="283369"/>
                  <a:pt x="145197" y="278011"/>
                  <a:pt x="145197" y="271463"/>
                </a:cubicBezTo>
                <a:lnTo>
                  <a:pt x="145197" y="252413"/>
                </a:lnTo>
                <a:cubicBezTo>
                  <a:pt x="145197" y="236875"/>
                  <a:pt x="155138" y="223659"/>
                  <a:pt x="169009" y="218718"/>
                </a:cubicBezTo>
                <a:lnTo>
                  <a:pt x="169009" y="190976"/>
                </a:lnTo>
                <a:close/>
              </a:path>
            </a:pathLst>
          </a:custGeom>
          <a:solidFill>
            <a:srgbClr val="D97706"/>
          </a:solidFill>
          <a:ln/>
        </p:spPr>
      </p:sp>
      <p:sp>
        <p:nvSpPr>
          <p:cNvPr id="21" name="Text 18"/>
          <p:cNvSpPr/>
          <p:nvPr/>
        </p:nvSpPr>
        <p:spPr>
          <a:xfrm>
            <a:off x="12420600" y="6451600"/>
            <a:ext cx="2921000" cy="317500"/>
          </a:xfrm>
          <a:prstGeom prst="rect">
            <a:avLst/>
          </a:prstGeom>
          <a:noFill/>
          <a:ln/>
        </p:spPr>
        <p:txBody>
          <a:bodyPr wrap="none" lIns="0" tIns="0" rIns="0" bIns="0" rtlCol="0" anchor="ctr"/>
          <a:lstStyle/>
          <a:p>
            <a:pPr>
              <a:lnSpc>
                <a:spcPct val="100000"/>
              </a:lnSpc>
            </a:pPr>
            <a:r>
              <a:rPr lang="en-US" sz="1400" dirty="0">
                <a:solidFill>
                  <a:srgbClr val="1E293B"/>
                </a:solidFill>
                <a:latin typeface="Liter" pitchFamily="34" charset="0"/>
                <a:ea typeface="Liter" pitchFamily="34" charset="-122"/>
                <a:cs typeface="Liter" pitchFamily="34" charset="-120"/>
              </a:rPr>
              <a:t>CLINICIANS</a:t>
            </a:r>
            <a:endParaRPr lang="en-US" sz="1600" dirty="0"/>
          </a:p>
        </p:txBody>
      </p:sp>
      <p:sp>
        <p:nvSpPr>
          <p:cNvPr id="22" name="Text 19"/>
          <p:cNvSpPr/>
          <p:nvPr/>
        </p:nvSpPr>
        <p:spPr>
          <a:xfrm>
            <a:off x="12001500" y="6858000"/>
            <a:ext cx="3302000" cy="571500"/>
          </a:xfrm>
          <a:prstGeom prst="rect">
            <a:avLst/>
          </a:prstGeom>
          <a:noFill/>
          <a:ln/>
        </p:spPr>
        <p:txBody>
          <a:bodyPr wrap="square" lIns="0" tIns="0" rIns="0" bIns="0" rtlCol="0" anchor="t"/>
          <a:lstStyle/>
          <a:p>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Care about faster reports, fewer errors, reliable turnaround</a:t>
            </a:r>
            <a:endParaRPr lang="en-US" sz="1600" dirty="0"/>
          </a:p>
        </p:txBody>
      </p:sp>
      <p:sp>
        <p:nvSpPr>
          <p:cNvPr id="23" name="Shape 20"/>
          <p:cNvSpPr/>
          <p:nvPr/>
        </p:nvSpPr>
        <p:spPr>
          <a:xfrm>
            <a:off x="762000" y="8636000"/>
            <a:ext cx="14732000" cy="25400"/>
          </a:xfrm>
          <a:prstGeom prst="rect">
            <a:avLst/>
          </a:prstGeom>
          <a:solidFill>
            <a:srgbClr val="D97706"/>
          </a:solidFill>
          <a:ln/>
        </p:spPr>
      </p:sp>
      <p:sp>
        <p:nvSpPr>
          <p:cNvPr id="24" name="Text 21"/>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26</a:t>
            </a:r>
            <a:endParaRPr lang="en-US" sz="13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Market Entry Timeline: July 2026 - July 2027</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2540000"/>
            <a:ext cx="14732000" cy="38100"/>
          </a:xfrm>
          <a:prstGeom prst="rect">
            <a:avLst/>
          </a:prstGeom>
          <a:solidFill>
            <a:srgbClr val="D97706"/>
          </a:solidFill>
          <a:ln/>
        </p:spPr>
      </p:sp>
      <p:sp>
        <p:nvSpPr>
          <p:cNvPr id="5" name="Shape 3"/>
          <p:cNvSpPr/>
          <p:nvPr/>
        </p:nvSpPr>
        <p:spPr>
          <a:xfrm>
            <a:off x="1371600" y="2451100"/>
            <a:ext cx="203200" cy="203200"/>
          </a:xfrm>
          <a:prstGeom prst="ellipse">
            <a:avLst/>
          </a:prstGeom>
          <a:solidFill>
            <a:srgbClr val="D97706"/>
          </a:solidFill>
          <a:ln/>
        </p:spPr>
      </p:sp>
      <p:sp>
        <p:nvSpPr>
          <p:cNvPr id="6" name="Shape 4"/>
          <p:cNvSpPr/>
          <p:nvPr/>
        </p:nvSpPr>
        <p:spPr>
          <a:xfrm>
            <a:off x="3911600" y="2451100"/>
            <a:ext cx="203200" cy="203200"/>
          </a:xfrm>
          <a:prstGeom prst="ellipse">
            <a:avLst/>
          </a:prstGeom>
          <a:solidFill>
            <a:srgbClr val="D97706"/>
          </a:solidFill>
          <a:ln/>
        </p:spPr>
      </p:sp>
      <p:sp>
        <p:nvSpPr>
          <p:cNvPr id="7" name="Shape 5"/>
          <p:cNvSpPr/>
          <p:nvPr/>
        </p:nvSpPr>
        <p:spPr>
          <a:xfrm>
            <a:off x="6451600" y="2451100"/>
            <a:ext cx="203200" cy="203200"/>
          </a:xfrm>
          <a:prstGeom prst="ellipse">
            <a:avLst/>
          </a:prstGeom>
          <a:solidFill>
            <a:srgbClr val="D97706"/>
          </a:solidFill>
          <a:ln/>
        </p:spPr>
      </p:sp>
      <p:sp>
        <p:nvSpPr>
          <p:cNvPr id="8" name="Shape 6"/>
          <p:cNvSpPr/>
          <p:nvPr/>
        </p:nvSpPr>
        <p:spPr>
          <a:xfrm>
            <a:off x="8991600" y="2451100"/>
            <a:ext cx="203200" cy="203200"/>
          </a:xfrm>
          <a:prstGeom prst="ellipse">
            <a:avLst/>
          </a:prstGeom>
          <a:solidFill>
            <a:srgbClr val="D97706"/>
          </a:solidFill>
          <a:ln/>
        </p:spPr>
      </p:sp>
      <p:sp>
        <p:nvSpPr>
          <p:cNvPr id="9" name="Shape 7"/>
          <p:cNvSpPr/>
          <p:nvPr/>
        </p:nvSpPr>
        <p:spPr>
          <a:xfrm>
            <a:off x="11531600" y="2451100"/>
            <a:ext cx="203200" cy="203200"/>
          </a:xfrm>
          <a:prstGeom prst="ellipse">
            <a:avLst/>
          </a:prstGeom>
          <a:solidFill>
            <a:srgbClr val="D97706"/>
          </a:solidFill>
          <a:ln/>
        </p:spPr>
      </p:sp>
      <p:sp>
        <p:nvSpPr>
          <p:cNvPr id="10" name="Shape 8"/>
          <p:cNvSpPr/>
          <p:nvPr/>
        </p:nvSpPr>
        <p:spPr>
          <a:xfrm>
            <a:off x="14071600" y="2451100"/>
            <a:ext cx="203200" cy="203200"/>
          </a:xfrm>
          <a:prstGeom prst="ellipse">
            <a:avLst/>
          </a:prstGeom>
          <a:solidFill>
            <a:srgbClr val="D97706"/>
          </a:solidFill>
          <a:ln/>
        </p:spPr>
      </p:sp>
      <p:sp>
        <p:nvSpPr>
          <p:cNvPr id="11" name="Text 9"/>
          <p:cNvSpPr/>
          <p:nvPr/>
        </p:nvSpPr>
        <p:spPr>
          <a:xfrm>
            <a:off x="762000" y="2095500"/>
            <a:ext cx="1778000" cy="279400"/>
          </a:xfrm>
          <a:prstGeom prst="rect">
            <a:avLst/>
          </a:prstGeom>
          <a:noFill/>
          <a:ln/>
        </p:spPr>
        <p:txBody>
          <a:bodyPr wrap="none" lIns="0" tIns="0" rIns="0" bIns="0" rtlCol="0" anchor="ctr"/>
          <a:lstStyle/>
          <a:p>
            <a:pPr algn="ctr">
              <a:lnSpc>
                <a:spcPct val="100000"/>
              </a:lnSpc>
            </a:pPr>
            <a:r>
              <a:rPr lang="en-US" sz="1200" dirty="0">
                <a:solidFill>
                  <a:srgbClr val="475569"/>
                </a:solidFill>
                <a:latin typeface="Liter" pitchFamily="34" charset="0"/>
                <a:ea typeface="Liter" pitchFamily="34" charset="-122"/>
                <a:cs typeface="Liter" pitchFamily="34" charset="-120"/>
              </a:rPr>
              <a:t>JUL-AUG 2026</a:t>
            </a:r>
            <a:endParaRPr lang="en-US" sz="1600" dirty="0"/>
          </a:p>
        </p:txBody>
      </p:sp>
      <p:sp>
        <p:nvSpPr>
          <p:cNvPr id="12" name="Text 10"/>
          <p:cNvSpPr/>
          <p:nvPr/>
        </p:nvSpPr>
        <p:spPr>
          <a:xfrm>
            <a:off x="3302000" y="2095500"/>
            <a:ext cx="1778000" cy="279400"/>
          </a:xfrm>
          <a:prstGeom prst="rect">
            <a:avLst/>
          </a:prstGeom>
          <a:noFill/>
          <a:ln/>
        </p:spPr>
        <p:txBody>
          <a:bodyPr wrap="none" lIns="0" tIns="0" rIns="0" bIns="0" rtlCol="0" anchor="ctr"/>
          <a:lstStyle/>
          <a:p>
            <a:pPr algn="ctr">
              <a:lnSpc>
                <a:spcPct val="100000"/>
              </a:lnSpc>
            </a:pPr>
            <a:r>
              <a:rPr lang="en-US" sz="1200" dirty="0">
                <a:solidFill>
                  <a:srgbClr val="475569"/>
                </a:solidFill>
                <a:latin typeface="Liter" pitchFamily="34" charset="0"/>
                <a:ea typeface="Liter" pitchFamily="34" charset="-122"/>
                <a:cs typeface="Liter" pitchFamily="34" charset="-120"/>
              </a:rPr>
              <a:t>SEP-OCT 2026</a:t>
            </a:r>
            <a:endParaRPr lang="en-US" sz="1600" dirty="0"/>
          </a:p>
        </p:txBody>
      </p:sp>
      <p:sp>
        <p:nvSpPr>
          <p:cNvPr id="13" name="Text 11"/>
          <p:cNvSpPr/>
          <p:nvPr/>
        </p:nvSpPr>
        <p:spPr>
          <a:xfrm>
            <a:off x="5842000" y="2095500"/>
            <a:ext cx="1778000" cy="279400"/>
          </a:xfrm>
          <a:prstGeom prst="rect">
            <a:avLst/>
          </a:prstGeom>
          <a:noFill/>
          <a:ln/>
        </p:spPr>
        <p:txBody>
          <a:bodyPr wrap="none" lIns="0" tIns="0" rIns="0" bIns="0" rtlCol="0" anchor="ctr"/>
          <a:lstStyle/>
          <a:p>
            <a:pPr algn="ctr">
              <a:lnSpc>
                <a:spcPct val="100000"/>
              </a:lnSpc>
            </a:pPr>
            <a:r>
              <a:rPr lang="en-US" sz="1200" dirty="0">
                <a:solidFill>
                  <a:srgbClr val="475569"/>
                </a:solidFill>
                <a:latin typeface="Liter" pitchFamily="34" charset="0"/>
                <a:ea typeface="Liter" pitchFamily="34" charset="-122"/>
                <a:cs typeface="Liter" pitchFamily="34" charset="-120"/>
              </a:rPr>
              <a:t>NOV-DEC 2026</a:t>
            </a:r>
            <a:endParaRPr lang="en-US" sz="1600" dirty="0"/>
          </a:p>
        </p:txBody>
      </p:sp>
      <p:sp>
        <p:nvSpPr>
          <p:cNvPr id="14" name="Text 12"/>
          <p:cNvSpPr/>
          <p:nvPr/>
        </p:nvSpPr>
        <p:spPr>
          <a:xfrm>
            <a:off x="8382000" y="2095500"/>
            <a:ext cx="1778000" cy="279400"/>
          </a:xfrm>
          <a:prstGeom prst="rect">
            <a:avLst/>
          </a:prstGeom>
          <a:noFill/>
          <a:ln/>
        </p:spPr>
        <p:txBody>
          <a:bodyPr wrap="none" lIns="0" tIns="0" rIns="0" bIns="0" rtlCol="0" anchor="ctr"/>
          <a:lstStyle/>
          <a:p>
            <a:pPr algn="ctr">
              <a:lnSpc>
                <a:spcPct val="100000"/>
              </a:lnSpc>
            </a:pPr>
            <a:r>
              <a:rPr lang="en-US" sz="1200" dirty="0">
                <a:solidFill>
                  <a:srgbClr val="475569"/>
                </a:solidFill>
                <a:latin typeface="Liter" pitchFamily="34" charset="0"/>
                <a:ea typeface="Liter" pitchFamily="34" charset="-122"/>
                <a:cs typeface="Liter" pitchFamily="34" charset="-120"/>
              </a:rPr>
              <a:t>JAN-MAR 2027</a:t>
            </a:r>
            <a:endParaRPr lang="en-US" sz="1600" dirty="0"/>
          </a:p>
        </p:txBody>
      </p:sp>
      <p:sp>
        <p:nvSpPr>
          <p:cNvPr id="15" name="Text 13"/>
          <p:cNvSpPr/>
          <p:nvPr/>
        </p:nvSpPr>
        <p:spPr>
          <a:xfrm>
            <a:off x="10922000" y="2095500"/>
            <a:ext cx="1778000" cy="279400"/>
          </a:xfrm>
          <a:prstGeom prst="rect">
            <a:avLst/>
          </a:prstGeom>
          <a:noFill/>
          <a:ln/>
        </p:spPr>
        <p:txBody>
          <a:bodyPr wrap="none" lIns="0" tIns="0" rIns="0" bIns="0" rtlCol="0" anchor="ctr"/>
          <a:lstStyle/>
          <a:p>
            <a:pPr algn="ctr">
              <a:lnSpc>
                <a:spcPct val="100000"/>
              </a:lnSpc>
            </a:pPr>
            <a:r>
              <a:rPr lang="en-US" sz="1200" dirty="0">
                <a:solidFill>
                  <a:srgbClr val="475569"/>
                </a:solidFill>
                <a:latin typeface="Liter" pitchFamily="34" charset="0"/>
                <a:ea typeface="Liter" pitchFamily="34" charset="-122"/>
                <a:cs typeface="Liter" pitchFamily="34" charset="-120"/>
              </a:rPr>
              <a:t>APR-MAY 2027</a:t>
            </a:r>
            <a:endParaRPr lang="en-US" sz="1600" dirty="0"/>
          </a:p>
        </p:txBody>
      </p:sp>
      <p:sp>
        <p:nvSpPr>
          <p:cNvPr id="16" name="Text 14"/>
          <p:cNvSpPr/>
          <p:nvPr/>
        </p:nvSpPr>
        <p:spPr>
          <a:xfrm>
            <a:off x="13462000" y="2095500"/>
            <a:ext cx="1778000" cy="279400"/>
          </a:xfrm>
          <a:prstGeom prst="rect">
            <a:avLst/>
          </a:prstGeom>
          <a:noFill/>
          <a:ln/>
        </p:spPr>
        <p:txBody>
          <a:bodyPr wrap="none" lIns="0" tIns="0" rIns="0" bIns="0" rtlCol="0" anchor="ctr"/>
          <a:lstStyle/>
          <a:p>
            <a:pPr algn="ctr">
              <a:lnSpc>
                <a:spcPct val="100000"/>
              </a:lnSpc>
            </a:pPr>
            <a:r>
              <a:rPr lang="en-US" sz="1200" dirty="0">
                <a:solidFill>
                  <a:srgbClr val="475569"/>
                </a:solidFill>
                <a:latin typeface="Liter" pitchFamily="34" charset="0"/>
                <a:ea typeface="Liter" pitchFamily="34" charset="-122"/>
                <a:cs typeface="Liter" pitchFamily="34" charset="-120"/>
              </a:rPr>
              <a:t>JUN-JUL 2027</a:t>
            </a:r>
            <a:endParaRPr lang="en-US" sz="1600" dirty="0"/>
          </a:p>
        </p:txBody>
      </p:sp>
      <p:sp>
        <p:nvSpPr>
          <p:cNvPr id="17" name="Shape 15"/>
          <p:cNvSpPr/>
          <p:nvPr/>
        </p:nvSpPr>
        <p:spPr>
          <a:xfrm>
            <a:off x="762000" y="2794000"/>
            <a:ext cx="2286000" cy="2286000"/>
          </a:xfrm>
          <a:prstGeom prst="rect">
            <a:avLst/>
          </a:prstGeom>
          <a:solidFill>
            <a:srgbClr val="1E293B"/>
          </a:solidFill>
          <a:ln/>
        </p:spPr>
      </p:sp>
      <p:sp>
        <p:nvSpPr>
          <p:cNvPr id="18" name="Text 16"/>
          <p:cNvSpPr/>
          <p:nvPr/>
        </p:nvSpPr>
        <p:spPr>
          <a:xfrm>
            <a:off x="889000" y="2895600"/>
            <a:ext cx="2032000" cy="279400"/>
          </a:xfrm>
          <a:prstGeom prst="rect">
            <a:avLst/>
          </a:prstGeom>
          <a:noFill/>
          <a:ln/>
        </p:spPr>
        <p:txBody>
          <a:bodyPr wrap="none" lIns="0" tIns="0" rIns="0" bIns="0" rtlCol="0" anchor="ctr"/>
          <a:lstStyle/>
          <a:p>
            <a:pPr>
              <a:lnSpc>
                <a:spcPct val="100000"/>
              </a:lnSpc>
            </a:pPr>
            <a:r>
              <a:rPr lang="en-US" sz="1300" dirty="0">
                <a:solidFill>
                  <a:srgbClr val="D97706"/>
                </a:solidFill>
                <a:latin typeface="Liter" pitchFamily="34" charset="0"/>
                <a:ea typeface="Liter" pitchFamily="34" charset="-122"/>
                <a:cs typeface="Liter" pitchFamily="34" charset="-120"/>
              </a:rPr>
              <a:t>PAID PILOTS</a:t>
            </a:r>
            <a:endParaRPr lang="en-US" sz="1600" dirty="0"/>
          </a:p>
        </p:txBody>
      </p:sp>
      <p:sp>
        <p:nvSpPr>
          <p:cNvPr id="19" name="Text 17"/>
          <p:cNvSpPr/>
          <p:nvPr/>
        </p:nvSpPr>
        <p:spPr>
          <a:xfrm>
            <a:off x="889000" y="3238500"/>
            <a:ext cx="2032000" cy="1714500"/>
          </a:xfrm>
          <a:prstGeom prst="rect">
            <a:avLst/>
          </a:prstGeom>
          <a:noFill/>
          <a:ln/>
        </p:spPr>
        <p:txBody>
          <a:bodyPr wrap="square" lIns="0" tIns="0" rIns="0" bIns="0" rtlCol="0" anchor="t"/>
          <a:lstStyle/>
          <a:p>
            <a:pPr>
              <a:lnSpc>
                <a:spcPct val="150000"/>
              </a:lnSpc>
            </a:pPr>
            <a:r>
              <a:rPr lang="en-US" sz="1200" dirty="0">
                <a:solidFill>
                  <a:srgbClr val="F1F5F9"/>
                </a:solidFill>
                <a:latin typeface="Quattrocento Sans" pitchFamily="34" charset="0"/>
                <a:ea typeface="Quattrocento Sans" pitchFamily="34" charset="-122"/>
                <a:cs typeface="Quattrocento Sans" pitchFamily="34" charset="-120"/>
              </a:rPr>
              <a:t>Paid regional pilots with regional private reference labs</a:t>
            </a:r>
            <a:endParaRPr lang="en-US" sz="1600" dirty="0"/>
          </a:p>
          <a:p>
            <a:pPr>
              <a:lnSpc>
                <a:spcPct val="150000"/>
              </a:lnSpc>
              <a:spcBef>
                <a:spcPts val="600"/>
              </a:spcBef>
            </a:pPr>
            <a:r>
              <a:rPr lang="en-US" sz="1200" b="1" dirty="0">
                <a:solidFill>
                  <a:srgbClr val="F1F5F9"/>
                </a:solidFill>
                <a:latin typeface="Quattrocento Sans" pitchFamily="34" charset="0"/>
                <a:ea typeface="Quattrocento Sans" pitchFamily="34" charset="-122"/>
                <a:cs typeface="Quattrocento Sans" pitchFamily="34" charset="-120"/>
              </a:rPr>
              <a:t>Rs.3-5 lakh</a:t>
            </a:r>
            <a:pPr>
              <a:lnSpc>
                <a:spcPct val="150000"/>
              </a:lnSpc>
              <a:spcBef>
                <a:spcPts val="600"/>
              </a:spcBef>
            </a:pPr>
            <a:r>
              <a:rPr lang="en-US" sz="1200" dirty="0">
                <a:solidFill>
                  <a:srgbClr val="F1F5F9"/>
                </a:solidFill>
                <a:latin typeface="Quattrocento Sans" pitchFamily="34" charset="0"/>
                <a:ea typeface="Quattrocento Sans" pitchFamily="34" charset="-122"/>
                <a:cs typeface="Quattrocento Sans" pitchFamily="34" charset="-120"/>
              </a:rPr>
              <a:t> per pilot</a:t>
            </a:r>
            <a:endParaRPr lang="en-US" sz="1600" dirty="0"/>
          </a:p>
        </p:txBody>
      </p:sp>
      <p:sp>
        <p:nvSpPr>
          <p:cNvPr id="20" name="Shape 18"/>
          <p:cNvSpPr/>
          <p:nvPr/>
        </p:nvSpPr>
        <p:spPr>
          <a:xfrm>
            <a:off x="3302000" y="2794000"/>
            <a:ext cx="2286000" cy="2286000"/>
          </a:xfrm>
          <a:prstGeom prst="rect">
            <a:avLst/>
          </a:prstGeom>
          <a:solidFill>
            <a:srgbClr val="F1F5F9"/>
          </a:solidFill>
          <a:ln w="12700">
            <a:solidFill>
              <a:srgbClr val="E2E8F0"/>
            </a:solidFill>
            <a:prstDash val="solid"/>
          </a:ln>
        </p:spPr>
      </p:sp>
      <p:sp>
        <p:nvSpPr>
          <p:cNvPr id="21" name="Text 19"/>
          <p:cNvSpPr/>
          <p:nvPr/>
        </p:nvSpPr>
        <p:spPr>
          <a:xfrm>
            <a:off x="3429000" y="2895600"/>
            <a:ext cx="2032000" cy="279400"/>
          </a:xfrm>
          <a:prstGeom prst="rect">
            <a:avLst/>
          </a:prstGeom>
          <a:noFill/>
          <a:ln/>
        </p:spPr>
        <p:txBody>
          <a:bodyPr wrap="none" lIns="0" tIns="0" rIns="0" bIns="0" rtlCol="0" anchor="ctr"/>
          <a:lstStyle/>
          <a:p>
            <a:pPr>
              <a:lnSpc>
                <a:spcPct val="100000"/>
              </a:lnSpc>
            </a:pPr>
            <a:r>
              <a:rPr lang="en-US" sz="1300" dirty="0">
                <a:solidFill>
                  <a:srgbClr val="D97706"/>
                </a:solidFill>
                <a:latin typeface="Liter" pitchFamily="34" charset="0"/>
                <a:ea typeface="Liter" pitchFamily="34" charset="-122"/>
                <a:cs typeface="Liter" pitchFamily="34" charset="-120"/>
              </a:rPr>
              <a:t>HYBRID LAUNCH</a:t>
            </a:r>
            <a:endParaRPr lang="en-US" sz="1600" dirty="0"/>
          </a:p>
        </p:txBody>
      </p:sp>
      <p:sp>
        <p:nvSpPr>
          <p:cNvPr id="22" name="Text 20"/>
          <p:cNvSpPr/>
          <p:nvPr/>
        </p:nvSpPr>
        <p:spPr>
          <a:xfrm>
            <a:off x="3429000" y="3238500"/>
            <a:ext cx="2032000" cy="1714500"/>
          </a:xfrm>
          <a:prstGeom prst="rect">
            <a:avLst/>
          </a:prstGeom>
          <a:noFill/>
          <a:ln/>
        </p:spPr>
        <p:txBody>
          <a:bodyPr wrap="square" lIns="0" tIns="0" rIns="0" bIns="0" rtlCol="0" anchor="t"/>
          <a:lstStyle/>
          <a:p>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Standard hybrid offer launched</a:t>
            </a:r>
            <a:endParaRPr lang="en-US" sz="1600" dirty="0"/>
          </a:p>
          <a:p>
            <a:pPr>
              <a:lnSpc>
                <a:spcPct val="150000"/>
              </a:lnSpc>
              <a:spcBef>
                <a:spcPts val="600"/>
              </a:spcBef>
            </a:pPr>
            <a:r>
              <a:rPr lang="en-US" sz="1200" b="1" dirty="0">
                <a:solidFill>
                  <a:srgbClr val="1E293B"/>
                </a:solidFill>
                <a:latin typeface="Quattrocento Sans" pitchFamily="34" charset="0"/>
                <a:ea typeface="Quattrocento Sans" pitchFamily="34" charset="-122"/>
                <a:cs typeface="Quattrocento Sans" pitchFamily="34" charset="-120"/>
              </a:rPr>
              <a:t>Rs.22-35L</a:t>
            </a:r>
            <a:pPr>
              <a:lnSpc>
                <a:spcPct val="150000"/>
              </a:lnSpc>
              <a:spcBef>
                <a:spcPts val="600"/>
              </a:spcBef>
            </a:pPr>
            <a:r>
              <a:rPr lang="en-US" sz="1200" dirty="0">
                <a:solidFill>
                  <a:srgbClr val="1E293B"/>
                </a:solidFill>
                <a:latin typeface="Quattrocento Sans" pitchFamily="34" charset="0"/>
                <a:ea typeface="Quattrocento Sans" pitchFamily="34" charset="-122"/>
                <a:cs typeface="Quattrocento Sans" pitchFamily="34" charset="-120"/>
              </a:rPr>
              <a:t> narrow</a:t>
            </a:r>
            <a:endParaRPr lang="en-US" sz="1600" dirty="0"/>
          </a:p>
          <a:p>
            <a:pPr>
              <a:lnSpc>
                <a:spcPct val="150000"/>
              </a:lnSpc>
            </a:pPr>
            <a:r>
              <a:rPr lang="en-US" sz="1200" b="1" dirty="0">
                <a:solidFill>
                  <a:srgbClr val="1E293B"/>
                </a:solidFill>
                <a:latin typeface="Quattrocento Sans" pitchFamily="34" charset="0"/>
                <a:ea typeface="Quattrocento Sans" pitchFamily="34" charset="-122"/>
                <a:cs typeface="Quattrocento Sans" pitchFamily="34" charset="-120"/>
              </a:rPr>
              <a:t>Rs.30-45L</a:t>
            </a:r>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 broad</a:t>
            </a:r>
            <a:endParaRPr lang="en-US" sz="1600" dirty="0"/>
          </a:p>
          <a:p>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 Rs.0.8-1.5L/mo software</a:t>
            </a:r>
            <a:endParaRPr lang="en-US" sz="1600" dirty="0"/>
          </a:p>
        </p:txBody>
      </p:sp>
      <p:sp>
        <p:nvSpPr>
          <p:cNvPr id="23" name="Shape 21"/>
          <p:cNvSpPr/>
          <p:nvPr/>
        </p:nvSpPr>
        <p:spPr>
          <a:xfrm>
            <a:off x="5842000" y="2794000"/>
            <a:ext cx="2286000" cy="2286000"/>
          </a:xfrm>
          <a:prstGeom prst="rect">
            <a:avLst/>
          </a:prstGeom>
          <a:solidFill>
            <a:srgbClr val="F1F5F9"/>
          </a:solidFill>
          <a:ln w="12700">
            <a:solidFill>
              <a:srgbClr val="E2E8F0"/>
            </a:solidFill>
            <a:prstDash val="solid"/>
          </a:ln>
        </p:spPr>
      </p:sp>
      <p:sp>
        <p:nvSpPr>
          <p:cNvPr id="24" name="Text 22"/>
          <p:cNvSpPr/>
          <p:nvPr/>
        </p:nvSpPr>
        <p:spPr>
          <a:xfrm>
            <a:off x="5969000" y="2895600"/>
            <a:ext cx="2032000" cy="279400"/>
          </a:xfrm>
          <a:prstGeom prst="rect">
            <a:avLst/>
          </a:prstGeom>
          <a:noFill/>
          <a:ln/>
        </p:spPr>
        <p:txBody>
          <a:bodyPr wrap="none" lIns="0" tIns="0" rIns="0" bIns="0" rtlCol="0" anchor="ctr"/>
          <a:lstStyle/>
          <a:p>
            <a:pPr>
              <a:lnSpc>
                <a:spcPct val="100000"/>
              </a:lnSpc>
            </a:pPr>
            <a:r>
              <a:rPr lang="en-US" sz="1300" dirty="0">
                <a:solidFill>
                  <a:srgbClr val="D97706"/>
                </a:solidFill>
                <a:latin typeface="Liter" pitchFamily="34" charset="0"/>
                <a:ea typeface="Liter" pitchFamily="34" charset="-122"/>
                <a:cs typeface="Liter" pitchFamily="34" charset="-120"/>
              </a:rPr>
              <a:t>LIGHTHOUSE RaaS</a:t>
            </a:r>
            <a:endParaRPr lang="en-US" sz="1600" dirty="0"/>
          </a:p>
        </p:txBody>
      </p:sp>
      <p:sp>
        <p:nvSpPr>
          <p:cNvPr id="25" name="Text 23"/>
          <p:cNvSpPr/>
          <p:nvPr/>
        </p:nvSpPr>
        <p:spPr>
          <a:xfrm>
            <a:off x="5969000" y="3238500"/>
            <a:ext cx="2032000" cy="1714500"/>
          </a:xfrm>
          <a:prstGeom prst="rect">
            <a:avLst/>
          </a:prstGeom>
          <a:noFill/>
          <a:ln/>
        </p:spPr>
        <p:txBody>
          <a:bodyPr wrap="square" lIns="0" tIns="0" rIns="0" bIns="0" rtlCol="0" anchor="t"/>
          <a:lstStyle/>
          <a:p>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Chain hub pilot under selective RaaS</a:t>
            </a:r>
            <a:endParaRPr lang="en-US" sz="1600" dirty="0"/>
          </a:p>
          <a:p>
            <a:pPr>
              <a:lnSpc>
                <a:spcPct val="150000"/>
              </a:lnSpc>
              <a:spcBef>
                <a:spcPts val="600"/>
              </a:spcBef>
            </a:pPr>
            <a:r>
              <a:rPr lang="en-US" sz="1200" b="1" dirty="0">
                <a:solidFill>
                  <a:srgbClr val="1E293B"/>
                </a:solidFill>
                <a:latin typeface="Quattrocento Sans" pitchFamily="34" charset="0"/>
                <a:ea typeface="Quattrocento Sans" pitchFamily="34" charset="-122"/>
                <a:cs typeface="Quattrocento Sans" pitchFamily="34" charset="-120"/>
              </a:rPr>
              <a:t>Rs.2.5-4.5L/mo</a:t>
            </a:r>
            <a:endParaRPr lang="en-US" sz="1600" dirty="0"/>
          </a:p>
          <a:p>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 setup fee</a:t>
            </a:r>
            <a:endParaRPr lang="en-US" sz="1600" dirty="0"/>
          </a:p>
          <a:p>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36-48 month term</a:t>
            </a:r>
            <a:endParaRPr lang="en-US" sz="1600" dirty="0"/>
          </a:p>
        </p:txBody>
      </p:sp>
      <p:sp>
        <p:nvSpPr>
          <p:cNvPr id="26" name="Shape 24"/>
          <p:cNvSpPr/>
          <p:nvPr/>
        </p:nvSpPr>
        <p:spPr>
          <a:xfrm>
            <a:off x="8382000" y="2794000"/>
            <a:ext cx="2286000" cy="2286000"/>
          </a:xfrm>
          <a:prstGeom prst="rect">
            <a:avLst/>
          </a:prstGeom>
          <a:solidFill>
            <a:srgbClr val="F1F5F9"/>
          </a:solidFill>
          <a:ln w="12700">
            <a:solidFill>
              <a:srgbClr val="E2E8F0"/>
            </a:solidFill>
            <a:prstDash val="solid"/>
          </a:ln>
        </p:spPr>
      </p:sp>
      <p:sp>
        <p:nvSpPr>
          <p:cNvPr id="27" name="Text 25"/>
          <p:cNvSpPr/>
          <p:nvPr/>
        </p:nvSpPr>
        <p:spPr>
          <a:xfrm>
            <a:off x="8509000" y="2895600"/>
            <a:ext cx="2032000" cy="279400"/>
          </a:xfrm>
          <a:prstGeom prst="rect">
            <a:avLst/>
          </a:prstGeom>
          <a:noFill/>
          <a:ln/>
        </p:spPr>
        <p:txBody>
          <a:bodyPr wrap="none" lIns="0" tIns="0" rIns="0" bIns="0" rtlCol="0" anchor="ctr"/>
          <a:lstStyle/>
          <a:p>
            <a:pPr>
              <a:lnSpc>
                <a:spcPct val="100000"/>
              </a:lnSpc>
            </a:pPr>
            <a:r>
              <a:rPr lang="en-US" sz="1300" dirty="0">
                <a:solidFill>
                  <a:srgbClr val="D97706"/>
                </a:solidFill>
                <a:latin typeface="Liter" pitchFamily="34" charset="0"/>
                <a:ea typeface="Liter" pitchFamily="34" charset="-122"/>
                <a:cs typeface="Liter" pitchFamily="34" charset="-120"/>
              </a:rPr>
              <a:t>MULTI-SITE</a:t>
            </a:r>
            <a:endParaRPr lang="en-US" sz="1600" dirty="0"/>
          </a:p>
        </p:txBody>
      </p:sp>
      <p:sp>
        <p:nvSpPr>
          <p:cNvPr id="28" name="Text 26"/>
          <p:cNvSpPr/>
          <p:nvPr/>
        </p:nvSpPr>
        <p:spPr>
          <a:xfrm>
            <a:off x="8509000" y="3238500"/>
            <a:ext cx="2032000" cy="1714500"/>
          </a:xfrm>
          <a:prstGeom prst="rect">
            <a:avLst/>
          </a:prstGeom>
          <a:noFill/>
          <a:ln/>
        </p:spPr>
        <p:txBody>
          <a:bodyPr wrap="square" lIns="0" tIns="0" rIns="0" bIns="0" rtlCol="0" anchor="t"/>
          <a:lstStyle/>
          <a:p>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Multi-site rollouts based on pilot success</a:t>
            </a:r>
            <a:endParaRPr lang="en-US" sz="1600" dirty="0"/>
          </a:p>
          <a:p>
            <a:pPr>
              <a:lnSpc>
                <a:spcPct val="150000"/>
              </a:lnSpc>
              <a:spcBef>
                <a:spcPts val="600"/>
              </a:spcBef>
            </a:pPr>
            <a:r>
              <a:rPr lang="en-US" sz="1200" dirty="0">
                <a:solidFill>
                  <a:srgbClr val="1E293B"/>
                </a:solidFill>
                <a:latin typeface="Quattrocento Sans" pitchFamily="34" charset="0"/>
                <a:ea typeface="Quattrocento Sans" pitchFamily="34" charset="-122"/>
                <a:cs typeface="Quattrocento Sans" pitchFamily="34" charset="-120"/>
              </a:rPr>
              <a:t>Reference rights from lighthouse chains</a:t>
            </a:r>
            <a:endParaRPr lang="en-US" sz="1600" dirty="0"/>
          </a:p>
        </p:txBody>
      </p:sp>
      <p:sp>
        <p:nvSpPr>
          <p:cNvPr id="29" name="Shape 27"/>
          <p:cNvSpPr/>
          <p:nvPr/>
        </p:nvSpPr>
        <p:spPr>
          <a:xfrm>
            <a:off x="10922000" y="2794000"/>
            <a:ext cx="2286000" cy="2286000"/>
          </a:xfrm>
          <a:prstGeom prst="rect">
            <a:avLst/>
          </a:prstGeom>
          <a:solidFill>
            <a:srgbClr val="F1F5F9"/>
          </a:solidFill>
          <a:ln w="12700">
            <a:solidFill>
              <a:srgbClr val="E2E8F0"/>
            </a:solidFill>
            <a:prstDash val="solid"/>
          </a:ln>
        </p:spPr>
      </p:sp>
      <p:sp>
        <p:nvSpPr>
          <p:cNvPr id="30" name="Text 28"/>
          <p:cNvSpPr/>
          <p:nvPr/>
        </p:nvSpPr>
        <p:spPr>
          <a:xfrm>
            <a:off x="11049000" y="2895600"/>
            <a:ext cx="2032000" cy="279400"/>
          </a:xfrm>
          <a:prstGeom prst="rect">
            <a:avLst/>
          </a:prstGeom>
          <a:noFill/>
          <a:ln/>
        </p:spPr>
        <p:txBody>
          <a:bodyPr wrap="none" lIns="0" tIns="0" rIns="0" bIns="0" rtlCol="0" anchor="ctr"/>
          <a:lstStyle/>
          <a:p>
            <a:pPr>
              <a:lnSpc>
                <a:spcPct val="100000"/>
              </a:lnSpc>
            </a:pPr>
            <a:r>
              <a:rPr lang="en-US" sz="1300" dirty="0">
                <a:solidFill>
                  <a:srgbClr val="D97706"/>
                </a:solidFill>
                <a:latin typeface="Liter" pitchFamily="34" charset="0"/>
                <a:ea typeface="Liter" pitchFamily="34" charset="-122"/>
                <a:cs typeface="Liter" pitchFamily="34" charset="-120"/>
              </a:rPr>
              <a:t>PLATFORM</a:t>
            </a:r>
            <a:endParaRPr lang="en-US" sz="1600" dirty="0"/>
          </a:p>
        </p:txBody>
      </p:sp>
      <p:sp>
        <p:nvSpPr>
          <p:cNvPr id="31" name="Text 29"/>
          <p:cNvSpPr/>
          <p:nvPr/>
        </p:nvSpPr>
        <p:spPr>
          <a:xfrm>
            <a:off x="11049000" y="3238500"/>
            <a:ext cx="2032000" cy="1714500"/>
          </a:xfrm>
          <a:prstGeom prst="rect">
            <a:avLst/>
          </a:prstGeom>
          <a:noFill/>
          <a:ln/>
        </p:spPr>
        <p:txBody>
          <a:bodyPr wrap="square" lIns="0" tIns="0" rIns="0" bIns="0" rtlCol="0" anchor="t"/>
          <a:lstStyle/>
          <a:p>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Workflow libraries and dashboards</a:t>
            </a:r>
            <a:endParaRPr lang="en-US" sz="1600" dirty="0"/>
          </a:p>
          <a:p>
            <a:pPr>
              <a:lnSpc>
                <a:spcPct val="150000"/>
              </a:lnSpc>
              <a:spcBef>
                <a:spcPts val="600"/>
              </a:spcBef>
            </a:pPr>
            <a:r>
              <a:rPr lang="en-US" sz="1200" dirty="0">
                <a:solidFill>
                  <a:srgbClr val="1E293B"/>
                </a:solidFill>
                <a:latin typeface="Quattrocento Sans" pitchFamily="34" charset="0"/>
                <a:ea typeface="Quattrocento Sans" pitchFamily="34" charset="-122"/>
                <a:cs typeface="Quattrocento Sans" pitchFamily="34" charset="-120"/>
              </a:rPr>
              <a:t>Installation and validation playbooks</a:t>
            </a:r>
            <a:endParaRPr lang="en-US" sz="1600" dirty="0"/>
          </a:p>
        </p:txBody>
      </p:sp>
      <p:sp>
        <p:nvSpPr>
          <p:cNvPr id="32" name="Shape 30"/>
          <p:cNvSpPr/>
          <p:nvPr/>
        </p:nvSpPr>
        <p:spPr>
          <a:xfrm>
            <a:off x="13462000" y="2794000"/>
            <a:ext cx="2032000" cy="2286000"/>
          </a:xfrm>
          <a:prstGeom prst="rect">
            <a:avLst/>
          </a:prstGeom>
          <a:solidFill>
            <a:srgbClr val="F1F5F9"/>
          </a:solidFill>
          <a:ln w="12700">
            <a:solidFill>
              <a:srgbClr val="E2E8F0"/>
            </a:solidFill>
            <a:prstDash val="solid"/>
          </a:ln>
        </p:spPr>
      </p:sp>
      <p:sp>
        <p:nvSpPr>
          <p:cNvPr id="33" name="Text 31"/>
          <p:cNvSpPr/>
          <p:nvPr/>
        </p:nvSpPr>
        <p:spPr>
          <a:xfrm>
            <a:off x="13589000" y="2895600"/>
            <a:ext cx="1778000" cy="279400"/>
          </a:xfrm>
          <a:prstGeom prst="rect">
            <a:avLst/>
          </a:prstGeom>
          <a:noFill/>
          <a:ln/>
        </p:spPr>
        <p:txBody>
          <a:bodyPr wrap="none" lIns="0" tIns="0" rIns="0" bIns="0" rtlCol="0" anchor="ctr"/>
          <a:lstStyle/>
          <a:p>
            <a:pPr>
              <a:lnSpc>
                <a:spcPct val="100000"/>
              </a:lnSpc>
            </a:pPr>
            <a:r>
              <a:rPr lang="en-US" sz="1300" dirty="0">
                <a:solidFill>
                  <a:srgbClr val="D97706"/>
                </a:solidFill>
                <a:latin typeface="Liter" pitchFamily="34" charset="0"/>
                <a:ea typeface="Liter" pitchFamily="34" charset="-122"/>
                <a:cs typeface="Liter" pitchFamily="34" charset="-120"/>
              </a:rPr>
              <a:t>OEM / IP</a:t>
            </a:r>
            <a:endParaRPr lang="en-US" sz="1600" dirty="0"/>
          </a:p>
        </p:txBody>
      </p:sp>
      <p:sp>
        <p:nvSpPr>
          <p:cNvPr id="34" name="Text 32"/>
          <p:cNvSpPr/>
          <p:nvPr/>
        </p:nvSpPr>
        <p:spPr>
          <a:xfrm>
            <a:off x="13589000" y="3238500"/>
            <a:ext cx="1778000" cy="1714500"/>
          </a:xfrm>
          <a:prstGeom prst="rect">
            <a:avLst/>
          </a:prstGeom>
          <a:noFill/>
          <a:ln/>
        </p:spPr>
        <p:txBody>
          <a:bodyPr wrap="square" lIns="0" tIns="0" rIns="0" bIns="0" rtlCol="0" anchor="t"/>
          <a:lstStyle/>
          <a:p>
            <a:pPr>
              <a:lnSpc>
                <a:spcPct val="150000"/>
              </a:lnSpc>
            </a:pPr>
            <a:r>
              <a:rPr lang="en-US" sz="1200" dirty="0">
                <a:solidFill>
                  <a:srgbClr val="1E293B"/>
                </a:solidFill>
                <a:latin typeface="Quattrocento Sans" pitchFamily="34" charset="0"/>
                <a:ea typeface="Quattrocento Sans" pitchFamily="34" charset="-122"/>
                <a:cs typeface="Quattrocento Sans" pitchFamily="34" charset="-120"/>
              </a:rPr>
              <a:t>OEM and licensing exploration</a:t>
            </a:r>
            <a:endParaRPr lang="en-US" sz="1600" dirty="0"/>
          </a:p>
          <a:p>
            <a:pPr>
              <a:lnSpc>
                <a:spcPct val="150000"/>
              </a:lnSpc>
              <a:spcBef>
                <a:spcPts val="600"/>
              </a:spcBef>
            </a:pPr>
            <a:r>
              <a:rPr lang="en-US" sz="1200" dirty="0">
                <a:solidFill>
                  <a:srgbClr val="1E293B"/>
                </a:solidFill>
                <a:latin typeface="Quattrocento Sans" pitchFamily="34" charset="0"/>
                <a:ea typeface="Quattrocento Sans" pitchFamily="34" charset="-122"/>
                <a:cs typeface="Quattrocento Sans" pitchFamily="34" charset="-120"/>
              </a:rPr>
              <a:t>Partner-driven revenue streams</a:t>
            </a:r>
            <a:endParaRPr lang="en-US" sz="1600" dirty="0"/>
          </a:p>
        </p:txBody>
      </p:sp>
      <p:sp>
        <p:nvSpPr>
          <p:cNvPr id="35" name="Text 33"/>
          <p:cNvSpPr/>
          <p:nvPr/>
        </p:nvSpPr>
        <p:spPr>
          <a:xfrm>
            <a:off x="762000" y="5397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PRICE BOOK (12-18 MONTHS)</a:t>
            </a:r>
            <a:endParaRPr lang="en-US" sz="1600" dirty="0"/>
          </a:p>
        </p:txBody>
      </p:sp>
      <p:sp>
        <p:nvSpPr>
          <p:cNvPr id="36" name="Shape 34"/>
          <p:cNvSpPr/>
          <p:nvPr/>
        </p:nvSpPr>
        <p:spPr>
          <a:xfrm>
            <a:off x="762000" y="5842000"/>
            <a:ext cx="7112000" cy="1651000"/>
          </a:xfrm>
          <a:prstGeom prst="rect">
            <a:avLst/>
          </a:prstGeom>
          <a:solidFill>
            <a:srgbClr val="F1F5F9"/>
          </a:solidFill>
          <a:ln w="12700">
            <a:solidFill>
              <a:srgbClr val="E2E8F0"/>
            </a:solidFill>
            <a:prstDash val="solid"/>
          </a:ln>
        </p:spPr>
      </p:sp>
      <p:sp>
        <p:nvSpPr>
          <p:cNvPr id="37" name="Text 35"/>
          <p:cNvSpPr/>
          <p:nvPr/>
        </p:nvSpPr>
        <p:spPr>
          <a:xfrm>
            <a:off x="1016000" y="5943600"/>
            <a:ext cx="3175000" cy="279400"/>
          </a:xfrm>
          <a:prstGeom prst="rect">
            <a:avLst/>
          </a:prstGeom>
          <a:noFill/>
          <a:ln/>
        </p:spPr>
        <p:txBody>
          <a:bodyPr wrap="none" lIns="0" tIns="0" rIns="0" bIns="0" rtlCol="0" anchor="ctr"/>
          <a:lstStyle/>
          <a:p>
            <a:pPr>
              <a:lnSpc>
                <a:spcPct val="100000"/>
              </a:lnSpc>
            </a:pPr>
            <a:r>
              <a:rPr lang="en-US" sz="1400" dirty="0">
                <a:solidFill>
                  <a:srgbClr val="1E293B"/>
                </a:solidFill>
                <a:latin typeface="Liter" pitchFamily="34" charset="0"/>
                <a:ea typeface="Liter" pitchFamily="34" charset="-122"/>
                <a:cs typeface="Liter" pitchFamily="34" charset="-120"/>
              </a:rPr>
              <a:t>STANDARD PRODUCTION OFFER</a:t>
            </a:r>
            <a:endParaRPr lang="en-US" sz="1600" dirty="0"/>
          </a:p>
        </p:txBody>
      </p:sp>
      <p:sp>
        <p:nvSpPr>
          <p:cNvPr id="38" name="Text 36"/>
          <p:cNvSpPr/>
          <p:nvPr/>
        </p:nvSpPr>
        <p:spPr>
          <a:xfrm>
            <a:off x="1016000" y="6286500"/>
            <a:ext cx="6604000" cy="1143000"/>
          </a:xfrm>
          <a:prstGeom prst="rect">
            <a:avLst/>
          </a:prstGeom>
          <a:noFill/>
          <a:ln/>
        </p:spPr>
        <p:txBody>
          <a:bodyPr wrap="square" lIns="0" tIns="0" rIns="0" bIns="0" rtlCol="0" anchor="t"/>
          <a:lstStyle/>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Rs.22-35 lakh</a:t>
            </a:r>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 narrow deployment</a:t>
            </a:r>
            <a:endParaRPr lang="en-US" sz="1600" dirty="0"/>
          </a:p>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Rs.30-45 lakh</a:t>
            </a:r>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 broader version</a:t>
            </a:r>
            <a:endParaRPr lang="en-US" sz="1600" dirty="0"/>
          </a:p>
          <a:p>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 </a:t>
            </a:r>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Rs.0.8-1.5 lakh/month</a:t>
            </a:r>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 software, monitoring, support</a:t>
            </a:r>
            <a:endParaRPr lang="en-US" sz="1600" dirty="0"/>
          </a:p>
          <a:p>
            <a:pPr>
              <a:lnSpc>
                <a:spcPct val="140000"/>
              </a:lnSpc>
            </a:pPr>
            <a:r>
              <a:rPr lang="en-US" sz="1300" dirty="0">
                <a:solidFill>
                  <a:srgbClr val="1E293B"/>
                </a:solidFill>
                <a:latin typeface="Quattrocento Sans" pitchFamily="34" charset="0"/>
                <a:ea typeface="Quattrocento Sans" pitchFamily="34" charset="-122"/>
                <a:cs typeface="Quattrocento Sans" pitchFamily="34" charset="-120"/>
              </a:rPr>
              <a:t>+ Annual PM or wear-part revenue</a:t>
            </a:r>
            <a:endParaRPr lang="en-US" sz="1600" dirty="0"/>
          </a:p>
        </p:txBody>
      </p:sp>
      <p:sp>
        <p:nvSpPr>
          <p:cNvPr id="39" name="Shape 37"/>
          <p:cNvSpPr/>
          <p:nvPr/>
        </p:nvSpPr>
        <p:spPr>
          <a:xfrm>
            <a:off x="8382000" y="5842000"/>
            <a:ext cx="7112000" cy="1651000"/>
          </a:xfrm>
          <a:prstGeom prst="rect">
            <a:avLst/>
          </a:prstGeom>
          <a:solidFill>
            <a:srgbClr val="1E293B"/>
          </a:solidFill>
          <a:ln/>
        </p:spPr>
      </p:sp>
      <p:sp>
        <p:nvSpPr>
          <p:cNvPr id="40" name="Text 38"/>
          <p:cNvSpPr/>
          <p:nvPr/>
        </p:nvSpPr>
        <p:spPr>
          <a:xfrm>
            <a:off x="8636000" y="5943600"/>
            <a:ext cx="3810000" cy="279400"/>
          </a:xfrm>
          <a:prstGeom prst="rect">
            <a:avLst/>
          </a:prstGeom>
          <a:noFill/>
          <a:ln/>
        </p:spPr>
        <p:txBody>
          <a:bodyPr wrap="none" lIns="0" tIns="0" rIns="0" bIns="0" rtlCol="0" anchor="ctr"/>
          <a:lstStyle/>
          <a:p>
            <a:pPr>
              <a:lnSpc>
                <a:spcPct val="100000"/>
              </a:lnSpc>
            </a:pPr>
            <a:r>
              <a:rPr lang="en-US" sz="1400" dirty="0">
                <a:solidFill>
                  <a:srgbClr val="D97706"/>
                </a:solidFill>
                <a:latin typeface="Liter" pitchFamily="34" charset="0"/>
                <a:ea typeface="Liter" pitchFamily="34" charset="-122"/>
                <a:cs typeface="Liter" pitchFamily="34" charset="-120"/>
              </a:rPr>
              <a:t>LIGHTHOUSE MANAGED SERVICE</a:t>
            </a:r>
            <a:endParaRPr lang="en-US" sz="1600" dirty="0"/>
          </a:p>
        </p:txBody>
      </p:sp>
      <p:sp>
        <p:nvSpPr>
          <p:cNvPr id="41" name="Text 39"/>
          <p:cNvSpPr/>
          <p:nvPr/>
        </p:nvSpPr>
        <p:spPr>
          <a:xfrm>
            <a:off x="8636000" y="6286500"/>
            <a:ext cx="6604000" cy="1143000"/>
          </a:xfrm>
          <a:prstGeom prst="rect">
            <a:avLst/>
          </a:prstGeom>
          <a:noFill/>
          <a:ln/>
        </p:spPr>
        <p:txBody>
          <a:bodyPr wrap="square" lIns="0" tIns="0" rIns="0" bIns="0" rtlCol="0" anchor="t"/>
          <a:lstStyle/>
          <a:p>
            <a:pPr>
              <a:lnSpc>
                <a:spcPct val="140000"/>
              </a:lnSpc>
            </a:pPr>
            <a:r>
              <a:rPr lang="en-US" sz="1300" dirty="0">
                <a:solidFill>
                  <a:srgbClr val="F1F5F9"/>
                </a:solidFill>
                <a:latin typeface="Quattrocento Sans" pitchFamily="34" charset="0"/>
                <a:ea typeface="Quattrocento Sans" pitchFamily="34" charset="-122"/>
                <a:cs typeface="Quattrocento Sans" pitchFamily="34" charset="-120"/>
              </a:rPr>
              <a:t>Reserved for most referenceable accounts</a:t>
            </a:r>
            <a:endParaRPr lang="en-US" sz="1600" dirty="0"/>
          </a:p>
          <a:p>
            <a:pPr>
              <a:lnSpc>
                <a:spcPct val="140000"/>
              </a:lnSpc>
            </a:pPr>
            <a:r>
              <a:rPr lang="en-US" sz="1300" b="1" dirty="0">
                <a:solidFill>
                  <a:srgbClr val="F1F5F9"/>
                </a:solidFill>
                <a:latin typeface="Quattrocento Sans" pitchFamily="34" charset="0"/>
                <a:ea typeface="Quattrocento Sans" pitchFamily="34" charset="-122"/>
                <a:cs typeface="Quattrocento Sans" pitchFamily="34" charset="-120"/>
              </a:rPr>
              <a:t>Rs.2.5-4.5 lakh/month</a:t>
            </a:r>
            <a:endParaRPr lang="en-US" sz="1600" dirty="0"/>
          </a:p>
          <a:p>
            <a:pPr>
              <a:lnSpc>
                <a:spcPct val="140000"/>
              </a:lnSpc>
            </a:pPr>
            <a:r>
              <a:rPr lang="en-US" sz="1300" dirty="0">
                <a:solidFill>
                  <a:srgbClr val="F1F5F9"/>
                </a:solidFill>
                <a:latin typeface="Quattrocento Sans" pitchFamily="34" charset="0"/>
                <a:ea typeface="Quattrocento Sans" pitchFamily="34" charset="-122"/>
                <a:cs typeface="Quattrocento Sans" pitchFamily="34" charset="-120"/>
              </a:rPr>
              <a:t>+ Setup fee</a:t>
            </a:r>
            <a:endParaRPr lang="en-US" sz="1600" dirty="0"/>
          </a:p>
          <a:p>
            <a:pPr>
              <a:lnSpc>
                <a:spcPct val="140000"/>
              </a:lnSpc>
            </a:pPr>
            <a:r>
              <a:rPr lang="en-US" sz="1300" dirty="0">
                <a:solidFill>
                  <a:srgbClr val="F1F5F9"/>
                </a:solidFill>
                <a:latin typeface="Quattrocento Sans" pitchFamily="34" charset="0"/>
                <a:ea typeface="Quattrocento Sans" pitchFamily="34" charset="-122"/>
                <a:cs typeface="Quattrocento Sans" pitchFamily="34" charset="-120"/>
              </a:rPr>
              <a:t>36- to 48-month term</a:t>
            </a:r>
            <a:endParaRPr lang="en-US" sz="1600" dirty="0"/>
          </a:p>
        </p:txBody>
      </p:sp>
      <p:sp>
        <p:nvSpPr>
          <p:cNvPr id="42" name="Shape 40"/>
          <p:cNvSpPr/>
          <p:nvPr/>
        </p:nvSpPr>
        <p:spPr>
          <a:xfrm>
            <a:off x="762000" y="7810500"/>
            <a:ext cx="14732000" cy="444500"/>
          </a:xfrm>
          <a:prstGeom prst="rect">
            <a:avLst/>
          </a:prstGeom>
          <a:solidFill>
            <a:srgbClr val="FEF3C7"/>
          </a:solidFill>
          <a:ln w="12700">
            <a:solidFill>
              <a:srgbClr val="FCD34D"/>
            </a:solidFill>
            <a:prstDash val="solid"/>
          </a:ln>
        </p:spPr>
      </p:sp>
      <p:sp>
        <p:nvSpPr>
          <p:cNvPr id="43" name="Text 41"/>
          <p:cNvSpPr/>
          <p:nvPr/>
        </p:nvSpPr>
        <p:spPr>
          <a:xfrm>
            <a:off x="1016000" y="7848600"/>
            <a:ext cx="14224000" cy="355600"/>
          </a:xfrm>
          <a:prstGeom prst="rect">
            <a:avLst/>
          </a:prstGeom>
          <a:noFill/>
          <a:ln/>
        </p:spPr>
        <p:txBody>
          <a:bodyPr wrap="square" lIns="0" tIns="0" rIns="0" bIns="0" rtlCol="0" anchor="ctr"/>
          <a:lstStyle/>
          <a:p>
            <a:pPr>
              <a:lnSpc>
                <a:spcPct val="100000"/>
              </a:lnSpc>
            </a:pPr>
            <a:r>
              <a:rPr lang="en-US" sz="1500" b="1" dirty="0">
                <a:solidFill>
                  <a:srgbClr val="1E293B"/>
                </a:solidFill>
                <a:latin typeface="Quattrocento Sans" pitchFamily="34" charset="0"/>
                <a:ea typeface="Quattrocento Sans" pitchFamily="34" charset="-122"/>
                <a:cs typeface="Quattrocento Sans" pitchFamily="34" charset="-120"/>
              </a:rPr>
              <a:t>Important:</a:t>
            </a:r>
            <a:pPr>
              <a:lnSpc>
                <a:spcPct val="100000"/>
              </a:lnSpc>
            </a:pPr>
            <a:r>
              <a:rPr lang="en-US" sz="1500" dirty="0">
                <a:solidFill>
                  <a:srgbClr val="1E293B"/>
                </a:solidFill>
                <a:latin typeface="Quattrocento Sans" pitchFamily="34" charset="0"/>
                <a:ea typeface="Quattrocento Sans" pitchFamily="34" charset="-122"/>
                <a:cs typeface="Quattrocento Sans" pitchFamily="34" charset="-120"/>
              </a:rPr>
              <a:t> Do not default to low-fee per-test pricing unless the contract includes a floor that covers gross profit and financing cost.</a:t>
            </a:r>
            <a:endParaRPr lang="en-US" sz="1600" dirty="0"/>
          </a:p>
        </p:txBody>
      </p:sp>
      <p:sp>
        <p:nvSpPr>
          <p:cNvPr id="44" name="Shape 42"/>
          <p:cNvSpPr/>
          <p:nvPr/>
        </p:nvSpPr>
        <p:spPr>
          <a:xfrm>
            <a:off x="762000" y="8636000"/>
            <a:ext cx="14732000" cy="25400"/>
          </a:xfrm>
          <a:prstGeom prst="rect">
            <a:avLst/>
          </a:prstGeom>
          <a:solidFill>
            <a:srgbClr val="D97706"/>
          </a:solidFill>
          <a:ln/>
        </p:spPr>
      </p:sp>
      <p:sp>
        <p:nvSpPr>
          <p:cNvPr id="45" name="Text 43"/>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27</a:t>
            </a:r>
            <a:endParaRPr lang="en-US" sz="13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62000" y="2286000"/>
            <a:ext cx="3810000" cy="1524000"/>
          </a:xfrm>
          <a:prstGeom prst="rect">
            <a:avLst/>
          </a:prstGeom>
          <a:noFill/>
          <a:ln/>
        </p:spPr>
        <p:txBody>
          <a:bodyPr wrap="none" lIns="0" tIns="0" rIns="0" bIns="0" rtlCol="0" anchor="ctr"/>
          <a:lstStyle/>
          <a:p>
            <a:pPr>
              <a:lnSpc>
                <a:spcPct val="100000"/>
              </a:lnSpc>
            </a:pPr>
            <a:r>
              <a:rPr lang="en-US" sz="9600" dirty="0">
                <a:solidFill>
                  <a:srgbClr val="D97706"/>
                </a:solidFill>
                <a:latin typeface="Liter" pitchFamily="34" charset="0"/>
                <a:ea typeface="Liter" pitchFamily="34" charset="-122"/>
                <a:cs typeface="Liter" pitchFamily="34" charset="-120"/>
              </a:rPr>
              <a:t>06</a:t>
            </a:r>
            <a:endParaRPr lang="en-US" sz="1600" dirty="0"/>
          </a:p>
        </p:txBody>
      </p:sp>
      <p:sp>
        <p:nvSpPr>
          <p:cNvPr id="3" name="Text 1"/>
          <p:cNvSpPr/>
          <p:nvPr/>
        </p:nvSpPr>
        <p:spPr>
          <a:xfrm>
            <a:off x="762000" y="3937000"/>
            <a:ext cx="11430000" cy="698500"/>
          </a:xfrm>
          <a:prstGeom prst="rect">
            <a:avLst/>
          </a:prstGeom>
          <a:noFill/>
          <a:ln/>
        </p:spPr>
        <p:txBody>
          <a:bodyPr wrap="none" lIns="0" tIns="0" rIns="0" bIns="0" rtlCol="0" anchor="ctr"/>
          <a:lstStyle/>
          <a:p>
            <a:pPr>
              <a:lnSpc>
                <a:spcPct val="100000"/>
              </a:lnSpc>
            </a:pPr>
            <a:r>
              <a:rPr lang="en-US" sz="3800" spc="100" kern="0" dirty="0">
                <a:solidFill>
                  <a:srgbClr val="F1F5F9"/>
                </a:solidFill>
                <a:latin typeface="Liter" pitchFamily="34" charset="0"/>
                <a:ea typeface="Liter" pitchFamily="34" charset="-122"/>
                <a:cs typeface="Liter" pitchFamily="34" charset="-120"/>
              </a:rPr>
              <a:t>MODELS WE REJECTED &amp; WHY</a:t>
            </a:r>
            <a:endParaRPr lang="en-US" sz="1600" dirty="0"/>
          </a:p>
        </p:txBody>
      </p:sp>
      <p:sp>
        <p:nvSpPr>
          <p:cNvPr id="4" name="Shape 2"/>
          <p:cNvSpPr/>
          <p:nvPr/>
        </p:nvSpPr>
        <p:spPr>
          <a:xfrm>
            <a:off x="762000" y="4826000"/>
            <a:ext cx="1524000" cy="50800"/>
          </a:xfrm>
          <a:prstGeom prst="rect">
            <a:avLst/>
          </a:prstGeom>
          <a:solidFill>
            <a:srgbClr val="D97706"/>
          </a:solidFill>
          <a:ln/>
        </p:spPr>
      </p:sp>
      <p:sp>
        <p:nvSpPr>
          <p:cNvPr id="5" name="Text 3"/>
          <p:cNvSpPr/>
          <p:nvPr/>
        </p:nvSpPr>
        <p:spPr>
          <a:xfrm>
            <a:off x="762000" y="5080000"/>
            <a:ext cx="10160000" cy="444500"/>
          </a:xfrm>
          <a:prstGeom prst="rect">
            <a:avLst/>
          </a:prstGeom>
          <a:noFill/>
          <a:ln/>
        </p:spPr>
        <p:txBody>
          <a:bodyPr wrap="square" lIns="0" tIns="0" rIns="0" bIns="0" rtlCol="0" anchor="ctr"/>
          <a:lstStyle/>
          <a:p>
            <a:pPr>
              <a:lnSpc>
                <a:spcPct val="100000"/>
              </a:lnSpc>
            </a:pPr>
            <a:r>
              <a:rPr lang="en-US" sz="1800" dirty="0">
                <a:solidFill>
                  <a:srgbClr val="475569"/>
                </a:solidFill>
                <a:latin typeface="Quattrocento Sans" pitchFamily="34" charset="0"/>
                <a:ea typeface="Quattrocento Sans" pitchFamily="34" charset="-122"/>
                <a:cs typeface="Quattrocento Sans" pitchFamily="34" charset="-120"/>
              </a:rPr>
              <a:t>Transparent analysis of why alternative business models don't fit our phase-one product</a:t>
            </a:r>
            <a:endParaRPr lang="en-US" sz="1600" dirty="0"/>
          </a:p>
        </p:txBody>
      </p:sp>
      <p:sp>
        <p:nvSpPr>
          <p:cNvPr id="6" name="Shape 4"/>
          <p:cNvSpPr/>
          <p:nvPr/>
        </p:nvSpPr>
        <p:spPr>
          <a:xfrm>
            <a:off x="15240000" y="0"/>
            <a:ext cx="1016000" cy="9144000"/>
          </a:xfrm>
          <a:prstGeom prst="rect">
            <a:avLst/>
          </a:prstGeom>
          <a:solidFill>
            <a:srgbClr val="D97706">
              <a:alpha val="15000"/>
            </a:srgbClr>
          </a:solidFill>
          <a:ln/>
        </p:spPr>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Why We Rejected Pure CapEx, Pure RaaS, Per-Test, and Revenue-Share</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7112000" cy="1905000"/>
          </a:xfrm>
          <a:prstGeom prst="rect">
            <a:avLst/>
          </a:prstGeom>
          <a:solidFill>
            <a:srgbClr val="FEF2F2"/>
          </a:solidFill>
          <a:ln w="12700">
            <a:solidFill>
              <a:srgbClr val="FECACA"/>
            </a:solidFill>
            <a:prstDash val="solid"/>
          </a:ln>
        </p:spPr>
      </p:sp>
      <p:sp>
        <p:nvSpPr>
          <p:cNvPr id="5" name="Text 3"/>
          <p:cNvSpPr/>
          <p:nvPr/>
        </p:nvSpPr>
        <p:spPr>
          <a:xfrm>
            <a:off x="952500" y="1371600"/>
            <a:ext cx="3810000" cy="317500"/>
          </a:xfrm>
          <a:prstGeom prst="rect">
            <a:avLst/>
          </a:prstGeom>
          <a:noFill/>
          <a:ln/>
        </p:spPr>
        <p:txBody>
          <a:bodyPr wrap="none" lIns="0" tIns="0" rIns="0" bIns="0" rtlCol="0" anchor="ctr"/>
          <a:lstStyle/>
          <a:p>
            <a:pPr>
              <a:lnSpc>
                <a:spcPct val="100000"/>
              </a:lnSpc>
            </a:pPr>
            <a:r>
              <a:rPr lang="en-US" sz="1600" dirty="0">
                <a:solidFill>
                  <a:srgbClr val="DC2626"/>
                </a:solidFill>
                <a:latin typeface="Liter" pitchFamily="34" charset="0"/>
                <a:ea typeface="Liter" pitchFamily="34" charset="-122"/>
                <a:cs typeface="Liter" pitchFamily="34" charset="-120"/>
              </a:rPr>
              <a:t>PURE CapEx-ONLY</a:t>
            </a:r>
            <a:endParaRPr lang="en-US" sz="1600" dirty="0"/>
          </a:p>
        </p:txBody>
      </p:sp>
      <p:sp>
        <p:nvSpPr>
          <p:cNvPr id="6" name="Text 4"/>
          <p:cNvSpPr/>
          <p:nvPr/>
        </p:nvSpPr>
        <p:spPr>
          <a:xfrm>
            <a:off x="952500" y="1752600"/>
            <a:ext cx="6731000" cy="1333500"/>
          </a:xfrm>
          <a:prstGeom prst="rect">
            <a:avLst/>
          </a:prstGeom>
          <a:noFill/>
          <a:ln/>
        </p:spPr>
        <p:txBody>
          <a:bodyPr wrap="square" lIns="0" tIns="0" rIns="0" bIns="0" rtlCol="0" anchor="t"/>
          <a:lstStyle/>
          <a:p>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Works for big labs but startup needs </a:t>
            </a:r>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data to train model</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and analyze pain points. Once set up, only reason they need us is maintenance. Team doesn't want to build high-maintenance robots - maintenance adds throughput time, which goes against our mission.</a:t>
            </a:r>
            <a:endParaRPr lang="en-US" sz="1600" dirty="0"/>
          </a:p>
        </p:txBody>
      </p:sp>
      <p:sp>
        <p:nvSpPr>
          <p:cNvPr id="7" name="Shape 5"/>
          <p:cNvSpPr/>
          <p:nvPr/>
        </p:nvSpPr>
        <p:spPr>
          <a:xfrm>
            <a:off x="8382000" y="1270000"/>
            <a:ext cx="7112000" cy="1905000"/>
          </a:xfrm>
          <a:prstGeom prst="rect">
            <a:avLst/>
          </a:prstGeom>
          <a:solidFill>
            <a:srgbClr val="FEF2F2"/>
          </a:solidFill>
          <a:ln w="12700">
            <a:solidFill>
              <a:srgbClr val="FECACA"/>
            </a:solidFill>
            <a:prstDash val="solid"/>
          </a:ln>
        </p:spPr>
      </p:sp>
      <p:sp>
        <p:nvSpPr>
          <p:cNvPr id="8" name="Text 6"/>
          <p:cNvSpPr/>
          <p:nvPr/>
        </p:nvSpPr>
        <p:spPr>
          <a:xfrm>
            <a:off x="8572500" y="1371600"/>
            <a:ext cx="3810000" cy="317500"/>
          </a:xfrm>
          <a:prstGeom prst="rect">
            <a:avLst/>
          </a:prstGeom>
          <a:noFill/>
          <a:ln/>
        </p:spPr>
        <p:txBody>
          <a:bodyPr wrap="none" lIns="0" tIns="0" rIns="0" bIns="0" rtlCol="0" anchor="ctr"/>
          <a:lstStyle/>
          <a:p>
            <a:pPr>
              <a:lnSpc>
                <a:spcPct val="100000"/>
              </a:lnSpc>
            </a:pPr>
            <a:r>
              <a:rPr lang="en-US" sz="1600" dirty="0">
                <a:solidFill>
                  <a:srgbClr val="DC2626"/>
                </a:solidFill>
                <a:latin typeface="Liter" pitchFamily="34" charset="0"/>
                <a:ea typeface="Liter" pitchFamily="34" charset="-122"/>
                <a:cs typeface="Liter" pitchFamily="34" charset="-120"/>
              </a:rPr>
              <a:t>PURE RaaS AS DEFAULT</a:t>
            </a:r>
            <a:endParaRPr lang="en-US" sz="1600" dirty="0"/>
          </a:p>
        </p:txBody>
      </p:sp>
      <p:sp>
        <p:nvSpPr>
          <p:cNvPr id="9" name="Text 7"/>
          <p:cNvSpPr/>
          <p:nvPr/>
        </p:nvSpPr>
        <p:spPr>
          <a:xfrm>
            <a:off x="8572500" y="1752600"/>
            <a:ext cx="6731000" cy="1333500"/>
          </a:xfrm>
          <a:prstGeom prst="rect">
            <a:avLst/>
          </a:prstGeom>
          <a:noFill/>
          <a:ln/>
        </p:spPr>
        <p:txBody>
          <a:bodyPr wrap="square" lIns="0" tIns="0" rIns="0" bIns="0" rtlCol="0" anchor="t"/>
          <a:lstStyle/>
          <a:p>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Startup takes ALL the risk. Robot breaks, customer cancels, robot sits unused - </a:t>
            </a:r>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you lose money</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Example: Rs.20 lakh cost, Rs.1 lakh/month revenue = 20+ months to recover. If customer leaves after 6 months, you lose. That's why we stay general - we can repurpose the robot.</a:t>
            </a:r>
            <a:endParaRPr lang="en-US" sz="1600" dirty="0"/>
          </a:p>
        </p:txBody>
      </p:sp>
      <p:sp>
        <p:nvSpPr>
          <p:cNvPr id="10" name="Shape 8"/>
          <p:cNvSpPr/>
          <p:nvPr/>
        </p:nvSpPr>
        <p:spPr>
          <a:xfrm>
            <a:off x="762000" y="3365500"/>
            <a:ext cx="7112000" cy="1905000"/>
          </a:xfrm>
          <a:prstGeom prst="rect">
            <a:avLst/>
          </a:prstGeom>
          <a:solidFill>
            <a:srgbClr val="FEF2F2"/>
          </a:solidFill>
          <a:ln w="12700">
            <a:solidFill>
              <a:srgbClr val="FECACA"/>
            </a:solidFill>
            <a:prstDash val="solid"/>
          </a:ln>
        </p:spPr>
      </p:sp>
      <p:sp>
        <p:nvSpPr>
          <p:cNvPr id="11" name="Text 9"/>
          <p:cNvSpPr/>
          <p:nvPr/>
        </p:nvSpPr>
        <p:spPr>
          <a:xfrm>
            <a:off x="952500" y="3467100"/>
            <a:ext cx="3810000" cy="317500"/>
          </a:xfrm>
          <a:prstGeom prst="rect">
            <a:avLst/>
          </a:prstGeom>
          <a:noFill/>
          <a:ln/>
        </p:spPr>
        <p:txBody>
          <a:bodyPr wrap="none" lIns="0" tIns="0" rIns="0" bIns="0" rtlCol="0" anchor="ctr"/>
          <a:lstStyle/>
          <a:p>
            <a:pPr>
              <a:lnSpc>
                <a:spcPct val="100000"/>
              </a:lnSpc>
            </a:pPr>
            <a:r>
              <a:rPr lang="en-US" sz="1600" dirty="0">
                <a:solidFill>
                  <a:srgbClr val="DC2626"/>
                </a:solidFill>
                <a:latin typeface="Liter" pitchFamily="34" charset="0"/>
                <a:ea typeface="Liter" pitchFamily="34" charset="-122"/>
                <a:cs typeface="Liter" pitchFamily="34" charset="-120"/>
              </a:rPr>
              <a:t>PER-TEST PRICING</a:t>
            </a:r>
            <a:endParaRPr lang="en-US" sz="1600" dirty="0"/>
          </a:p>
        </p:txBody>
      </p:sp>
      <p:sp>
        <p:nvSpPr>
          <p:cNvPr id="12" name="Text 10"/>
          <p:cNvSpPr/>
          <p:nvPr/>
        </p:nvSpPr>
        <p:spPr>
          <a:xfrm>
            <a:off x="952500" y="3848100"/>
            <a:ext cx="6731000" cy="1333500"/>
          </a:xfrm>
          <a:prstGeom prst="rect">
            <a:avLst/>
          </a:prstGeom>
          <a:noFill/>
          <a:ln/>
        </p:spPr>
        <p:txBody>
          <a:bodyPr wrap="square" lIns="0" tIns="0" rIns="0" bIns="0" rtlCol="0" anchor="t"/>
          <a:lstStyle/>
          <a:p>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We don't control the expensive part (reagents, assays). Labs make money from tests, we only automate movement. Example: Lab earns Rs.500 for blood test, our robot saves Rs.5 worth of labor. If we charge Rs.1 per test, we may be </a:t>
            </a:r>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undercharging massively</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Value is up to lab's view - very hard to demand fair price.</a:t>
            </a:r>
            <a:endParaRPr lang="en-US" sz="1600" dirty="0"/>
          </a:p>
        </p:txBody>
      </p:sp>
      <p:sp>
        <p:nvSpPr>
          <p:cNvPr id="13" name="Shape 11"/>
          <p:cNvSpPr/>
          <p:nvPr/>
        </p:nvSpPr>
        <p:spPr>
          <a:xfrm>
            <a:off x="8382000" y="3365500"/>
            <a:ext cx="7112000" cy="1905000"/>
          </a:xfrm>
          <a:prstGeom prst="rect">
            <a:avLst/>
          </a:prstGeom>
          <a:solidFill>
            <a:srgbClr val="FEF2F2"/>
          </a:solidFill>
          <a:ln w="12700">
            <a:solidFill>
              <a:srgbClr val="FECACA"/>
            </a:solidFill>
            <a:prstDash val="solid"/>
          </a:ln>
        </p:spPr>
      </p:sp>
      <p:sp>
        <p:nvSpPr>
          <p:cNvPr id="14" name="Text 12"/>
          <p:cNvSpPr/>
          <p:nvPr/>
        </p:nvSpPr>
        <p:spPr>
          <a:xfrm>
            <a:off x="8572500" y="3467100"/>
            <a:ext cx="3810000" cy="317500"/>
          </a:xfrm>
          <a:prstGeom prst="rect">
            <a:avLst/>
          </a:prstGeom>
          <a:noFill/>
          <a:ln/>
        </p:spPr>
        <p:txBody>
          <a:bodyPr wrap="none" lIns="0" tIns="0" rIns="0" bIns="0" rtlCol="0" anchor="ctr"/>
          <a:lstStyle/>
          <a:p>
            <a:pPr>
              <a:lnSpc>
                <a:spcPct val="100000"/>
              </a:lnSpc>
            </a:pPr>
            <a:r>
              <a:rPr lang="en-US" sz="1600" dirty="0">
                <a:solidFill>
                  <a:srgbClr val="DC2626"/>
                </a:solidFill>
                <a:latin typeface="Liter" pitchFamily="34" charset="0"/>
                <a:ea typeface="Liter" pitchFamily="34" charset="-122"/>
                <a:cs typeface="Liter" pitchFamily="34" charset="-120"/>
              </a:rPr>
              <a:t>REVENUE-SHARE</a:t>
            </a:r>
            <a:endParaRPr lang="en-US" sz="1600" dirty="0"/>
          </a:p>
        </p:txBody>
      </p:sp>
      <p:sp>
        <p:nvSpPr>
          <p:cNvPr id="15" name="Text 13"/>
          <p:cNvSpPr/>
          <p:nvPr/>
        </p:nvSpPr>
        <p:spPr>
          <a:xfrm>
            <a:off x="8572500" y="3848100"/>
            <a:ext cx="6731000" cy="1333500"/>
          </a:xfrm>
          <a:prstGeom prst="rect">
            <a:avLst/>
          </a:prstGeom>
          <a:noFill/>
          <a:ln/>
        </p:spPr>
        <p:txBody>
          <a:bodyPr wrap="square" lIns="0" tIns="0" rIns="0" bIns="0" rtlCol="0" anchor="t"/>
          <a:lstStyle/>
          <a:p>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Hard to prove causality. Was the revenue increase from better marketing? More customers? New tests? Or your robot? Labs will say </a:t>
            </a:r>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"The extra revenue wasn't because of your robot."</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Endless arguments. For pre/post-analytical automation, this model is usually messy.</a:t>
            </a:r>
            <a:endParaRPr lang="en-US" sz="1600" dirty="0"/>
          </a:p>
        </p:txBody>
      </p:sp>
      <p:sp>
        <p:nvSpPr>
          <p:cNvPr id="16" name="Shape 14"/>
          <p:cNvSpPr/>
          <p:nvPr/>
        </p:nvSpPr>
        <p:spPr>
          <a:xfrm>
            <a:off x="762000" y="5461000"/>
            <a:ext cx="14732000" cy="1524000"/>
          </a:xfrm>
          <a:prstGeom prst="rect">
            <a:avLst/>
          </a:prstGeom>
          <a:solidFill>
            <a:srgbClr val="1E293B"/>
          </a:solidFill>
          <a:ln/>
        </p:spPr>
      </p:sp>
      <p:sp>
        <p:nvSpPr>
          <p:cNvPr id="17" name="Text 15"/>
          <p:cNvSpPr/>
          <p:nvPr/>
        </p:nvSpPr>
        <p:spPr>
          <a:xfrm>
            <a:off x="1016000" y="5524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THE COMMON THREAD</a:t>
            </a:r>
            <a:endParaRPr lang="en-US" sz="1600" dirty="0"/>
          </a:p>
        </p:txBody>
      </p:sp>
      <p:sp>
        <p:nvSpPr>
          <p:cNvPr id="18" name="Text 16"/>
          <p:cNvSpPr/>
          <p:nvPr/>
        </p:nvSpPr>
        <p:spPr>
          <a:xfrm>
            <a:off x="1016000" y="5943600"/>
            <a:ext cx="14224000" cy="952500"/>
          </a:xfrm>
          <a:prstGeom prst="rect">
            <a:avLst/>
          </a:prstGeom>
          <a:noFill/>
          <a:ln/>
        </p:spPr>
        <p:txBody>
          <a:bodyPr wrap="square" lIns="0" tIns="0" rIns="0" bIns="0" rtlCol="0" anchor="t"/>
          <a:lstStyle/>
          <a:p>
            <a:pPr>
              <a:lnSpc>
                <a:spcPct val="140000"/>
              </a:lnSpc>
            </a:pPr>
            <a:r>
              <a:rPr lang="en-US" sz="1400" dirty="0">
                <a:solidFill>
                  <a:srgbClr val="F1F5F9"/>
                </a:solidFill>
                <a:latin typeface="Quattrocento Sans" pitchFamily="34" charset="0"/>
                <a:ea typeface="Quattrocento Sans" pitchFamily="34" charset="-122"/>
                <a:cs typeface="Quattrocento Sans" pitchFamily="34" charset="-120"/>
              </a:rPr>
              <a:t>All four rejected models share one fundamental problem: </a:t>
            </a:r>
            <a:pPr>
              <a:lnSpc>
                <a:spcPct val="140000"/>
              </a:lnSpc>
            </a:pPr>
            <a:r>
              <a:rPr lang="en-US" sz="1400" b="1" dirty="0">
                <a:solidFill>
                  <a:srgbClr val="F1F5F9"/>
                </a:solidFill>
                <a:latin typeface="Quattrocento Sans" pitchFamily="34" charset="0"/>
                <a:ea typeface="Quattrocento Sans" pitchFamily="34" charset="-122"/>
                <a:cs typeface="Quattrocento Sans" pitchFamily="34" charset="-120"/>
              </a:rPr>
              <a:t>they either don't give us the data we need to improve our VLA model, or they don't compensate us fairly for the value we create, or they put too much risk on our balance sheet.</a:t>
            </a:r>
            <a:pPr>
              <a:lnSpc>
                <a:spcPct val="140000"/>
              </a:lnSpc>
            </a:pPr>
            <a:r>
              <a:rPr lang="en-US" sz="1400" dirty="0">
                <a:solidFill>
                  <a:srgbClr val="F1F5F9"/>
                </a:solidFill>
                <a:latin typeface="Quattrocento Sans" pitchFamily="34" charset="0"/>
                <a:ea typeface="Quattrocento Sans" pitchFamily="34" charset="-122"/>
                <a:cs typeface="Quattrocento Sans" pitchFamily="34" charset="-120"/>
              </a:rPr>
              <a:t> The hybrid model is the only approach that balances upfront cash recovery with recurring revenue, data collection, and risk management.</a:t>
            </a:r>
            <a:endParaRPr lang="en-US" sz="1600" dirty="0"/>
          </a:p>
        </p:txBody>
      </p:sp>
      <p:sp>
        <p:nvSpPr>
          <p:cNvPr id="19" name="Shape 17"/>
          <p:cNvSpPr/>
          <p:nvPr/>
        </p:nvSpPr>
        <p:spPr>
          <a:xfrm>
            <a:off x="762000" y="7175500"/>
            <a:ext cx="14732000" cy="889000"/>
          </a:xfrm>
          <a:prstGeom prst="rect">
            <a:avLst/>
          </a:prstGeom>
          <a:solidFill>
            <a:srgbClr val="FEF3C7"/>
          </a:solidFill>
          <a:ln w="12700">
            <a:solidFill>
              <a:srgbClr val="FCD34D"/>
            </a:solidFill>
            <a:prstDash val="solid"/>
          </a:ln>
        </p:spPr>
      </p:sp>
      <p:sp>
        <p:nvSpPr>
          <p:cNvPr id="20" name="Text 18"/>
          <p:cNvSpPr/>
          <p:nvPr/>
        </p:nvSpPr>
        <p:spPr>
          <a:xfrm>
            <a:off x="1016000" y="7264400"/>
            <a:ext cx="14224000" cy="698500"/>
          </a:xfrm>
          <a:prstGeom prst="rect">
            <a:avLst/>
          </a:prstGeom>
          <a:noFill/>
          <a:ln/>
        </p:spPr>
        <p:txBody>
          <a:bodyPr wrap="square" lIns="0" tIns="0" rIns="0" bIns="0" rtlCol="0" anchor="ctr"/>
          <a:lstStyle/>
          <a:p>
            <a:pPr>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The VLA advantage:</a:t>
            </a:r>
            <a:pPr>
              <a:lnSpc>
                <a:spcPct val="140000"/>
              </a:lnSpc>
            </a:pPr>
            <a:r>
              <a:rPr lang="en-US" sz="1500" dirty="0">
                <a:solidFill>
                  <a:srgbClr val="1E293B"/>
                </a:solidFill>
                <a:latin typeface="Quattrocento Sans" pitchFamily="34" charset="0"/>
                <a:ea typeface="Quattrocento Sans" pitchFamily="34" charset="-122"/>
                <a:cs typeface="Quattrocento Sans" pitchFamily="34" charset="-120"/>
              </a:rPr>
              <a:t> Because our robot is general-purpose, even if a partner leaves we can repurpose the robot for a different process just by fine-tuning. That's the magic of a VLA-based approach - the robot is never stranded.</a:t>
            </a:r>
            <a:endParaRPr lang="en-US" sz="1600" dirty="0"/>
          </a:p>
        </p:txBody>
      </p:sp>
      <p:sp>
        <p:nvSpPr>
          <p:cNvPr id="21" name="Shape 19"/>
          <p:cNvSpPr/>
          <p:nvPr/>
        </p:nvSpPr>
        <p:spPr>
          <a:xfrm>
            <a:off x="762000" y="8636000"/>
            <a:ext cx="14732000" cy="25400"/>
          </a:xfrm>
          <a:prstGeom prst="rect">
            <a:avLst/>
          </a:prstGeom>
          <a:solidFill>
            <a:srgbClr val="D97706"/>
          </a:solidFill>
          <a:ln/>
        </p:spPr>
      </p:sp>
      <p:sp>
        <p:nvSpPr>
          <p:cNvPr id="22" name="Text 20"/>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29</a:t>
            </a:r>
            <a:endParaRPr lang="en-US" sz="13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62000" y="2286000"/>
            <a:ext cx="3810000" cy="1524000"/>
          </a:xfrm>
          <a:prstGeom prst="rect">
            <a:avLst/>
          </a:prstGeom>
          <a:noFill/>
          <a:ln/>
        </p:spPr>
        <p:txBody>
          <a:bodyPr wrap="none" lIns="0" tIns="0" rIns="0" bIns="0" rtlCol="0" anchor="ctr"/>
          <a:lstStyle/>
          <a:p>
            <a:pPr>
              <a:lnSpc>
                <a:spcPct val="100000"/>
              </a:lnSpc>
            </a:pPr>
            <a:r>
              <a:rPr lang="en-US" sz="9600" dirty="0">
                <a:solidFill>
                  <a:srgbClr val="D97706"/>
                </a:solidFill>
                <a:latin typeface="Liter" pitchFamily="34" charset="0"/>
                <a:ea typeface="Liter" pitchFamily="34" charset="-122"/>
                <a:cs typeface="Liter" pitchFamily="34" charset="-120"/>
              </a:rPr>
              <a:t>07</a:t>
            </a:r>
            <a:endParaRPr lang="en-US" sz="1600" dirty="0"/>
          </a:p>
        </p:txBody>
      </p:sp>
      <p:sp>
        <p:nvSpPr>
          <p:cNvPr id="3" name="Text 1"/>
          <p:cNvSpPr/>
          <p:nvPr/>
        </p:nvSpPr>
        <p:spPr>
          <a:xfrm>
            <a:off x="762000" y="3937000"/>
            <a:ext cx="11430000" cy="698500"/>
          </a:xfrm>
          <a:prstGeom prst="rect">
            <a:avLst/>
          </a:prstGeom>
          <a:noFill/>
          <a:ln/>
        </p:spPr>
        <p:txBody>
          <a:bodyPr wrap="none" lIns="0" tIns="0" rIns="0" bIns="0" rtlCol="0" anchor="ctr"/>
          <a:lstStyle/>
          <a:p>
            <a:pPr>
              <a:lnSpc>
                <a:spcPct val="100000"/>
              </a:lnSpc>
            </a:pPr>
            <a:r>
              <a:rPr lang="en-US" sz="3800" spc="100" kern="0" dirty="0">
                <a:solidFill>
                  <a:srgbClr val="F1F5F9"/>
                </a:solidFill>
                <a:latin typeface="Liter" pitchFamily="34" charset="0"/>
                <a:ea typeface="Liter" pitchFamily="34" charset="-122"/>
                <a:cs typeface="Liter" pitchFamily="34" charset="-120"/>
              </a:rPr>
              <a:t>RISKS, LIMITATIONS &amp; CONCLUSION</a:t>
            </a:r>
            <a:endParaRPr lang="en-US" sz="1600" dirty="0"/>
          </a:p>
        </p:txBody>
      </p:sp>
      <p:sp>
        <p:nvSpPr>
          <p:cNvPr id="4" name="Shape 2"/>
          <p:cNvSpPr/>
          <p:nvPr/>
        </p:nvSpPr>
        <p:spPr>
          <a:xfrm>
            <a:off x="762000" y="4826000"/>
            <a:ext cx="1524000" cy="50800"/>
          </a:xfrm>
          <a:prstGeom prst="rect">
            <a:avLst/>
          </a:prstGeom>
          <a:solidFill>
            <a:srgbClr val="D97706"/>
          </a:solidFill>
          <a:ln/>
        </p:spPr>
      </p:sp>
      <p:sp>
        <p:nvSpPr>
          <p:cNvPr id="5" name="Text 3"/>
          <p:cNvSpPr/>
          <p:nvPr/>
        </p:nvSpPr>
        <p:spPr>
          <a:xfrm>
            <a:off x="762000" y="5080000"/>
            <a:ext cx="10160000" cy="444500"/>
          </a:xfrm>
          <a:prstGeom prst="rect">
            <a:avLst/>
          </a:prstGeom>
          <a:noFill/>
          <a:ln/>
        </p:spPr>
        <p:txBody>
          <a:bodyPr wrap="square" lIns="0" tIns="0" rIns="0" bIns="0" rtlCol="0" anchor="ctr"/>
          <a:lstStyle/>
          <a:p>
            <a:pPr>
              <a:lnSpc>
                <a:spcPct val="100000"/>
              </a:lnSpc>
            </a:pPr>
            <a:r>
              <a:rPr lang="en-US" sz="1800" dirty="0">
                <a:solidFill>
                  <a:srgbClr val="475569"/>
                </a:solidFill>
                <a:latin typeface="Quattrocento Sans" pitchFamily="34" charset="0"/>
                <a:ea typeface="Quattrocento Sans" pitchFamily="34" charset="-122"/>
                <a:cs typeface="Quattrocento Sans" pitchFamily="34" charset="-120"/>
              </a:rPr>
              <a:t>Honest assessment of uncertainties and the path forward</a:t>
            </a:r>
            <a:endParaRPr lang="en-US" sz="1600" dirty="0"/>
          </a:p>
        </p:txBody>
      </p:sp>
      <p:sp>
        <p:nvSpPr>
          <p:cNvPr id="6" name="Shape 4"/>
          <p:cNvSpPr/>
          <p:nvPr/>
        </p:nvSpPr>
        <p:spPr>
          <a:xfrm>
            <a:off x="15240000" y="0"/>
            <a:ext cx="1016000" cy="9144000"/>
          </a:xfrm>
          <a:prstGeom prst="rect">
            <a:avLst/>
          </a:prstGeom>
          <a:solidFill>
            <a:srgbClr val="D97706">
              <a:alpha val="15000"/>
            </a:srgbClr>
          </a:solidFill>
          <a:ln/>
        </p:spPr>
      </p:sp>
    </p:spTree>
  </p:cSld>
  <p:clrMapOvr>
    <a:masterClrMapping/>
  </p:clrMapOvr>
  <p:transition>
    <p:fade/>
    <p:spd val="med"/>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Open Questions &amp; Honest Limitations</a:t>
            </a:r>
            <a:endParaRPr lang="en-US" sz="2800" dirty="0"/>
          </a:p>
        </p:txBody>
      </p:sp>
      <p:sp>
        <p:nvSpPr>
          <p:cNvPr id="3" name="Shape 1"/>
          <p:cNvSpPr/>
          <p:nvPr/>
        </p:nvSpPr>
        <p:spPr>
          <a:xfrm>
            <a:off x="762000" y="1016000"/>
            <a:ext cx="14732000" cy="25400"/>
          </a:xfrm>
          <a:prstGeom prst="rect">
            <a:avLst/>
          </a:prstGeom>
          <a:solidFill>
            <a:srgbClr val="D97706"/>
          </a:solidFill>
          <a:ln/>
        </p:spPr>
      </p:sp>
      <p:sp>
        <p:nvSpPr>
          <p:cNvPr id="4" name="Shape 2"/>
          <p:cNvSpPr/>
          <p:nvPr/>
        </p:nvSpPr>
        <p:spPr>
          <a:xfrm>
            <a:off x="762000" y="1270000"/>
            <a:ext cx="7112000" cy="1968500"/>
          </a:xfrm>
          <a:prstGeom prst="rect">
            <a:avLst/>
          </a:prstGeom>
          <a:solidFill>
            <a:srgbClr val="F1F5F9"/>
          </a:solidFill>
          <a:ln w="12700">
            <a:solidFill>
              <a:srgbClr val="E2E8F0"/>
            </a:solidFill>
            <a:prstDash val="solid"/>
          </a:ln>
        </p:spPr>
      </p:sp>
      <p:sp>
        <p:nvSpPr>
          <p:cNvPr id="5" name="Text 3"/>
          <p:cNvSpPr/>
          <p:nvPr/>
        </p:nvSpPr>
        <p:spPr>
          <a:xfrm>
            <a:off x="952500" y="1371600"/>
            <a:ext cx="508000" cy="381000"/>
          </a:xfrm>
          <a:prstGeom prst="rect">
            <a:avLst/>
          </a:prstGeom>
          <a:noFill/>
          <a:ln/>
        </p:spPr>
        <p:txBody>
          <a:bodyPr wrap="none" lIns="0" tIns="0" rIns="0" bIns="0" rtlCol="0" anchor="ctr"/>
          <a:lstStyle/>
          <a:p>
            <a:pPr algn="ctr">
              <a:lnSpc>
                <a:spcPct val="100000"/>
              </a:lnSpc>
            </a:pPr>
            <a:r>
              <a:rPr lang="en-US" sz="2400" dirty="0">
                <a:solidFill>
                  <a:srgbClr val="D97706"/>
                </a:solidFill>
                <a:latin typeface="Liter" pitchFamily="34" charset="0"/>
                <a:ea typeface="Liter" pitchFamily="34" charset="-122"/>
                <a:cs typeface="Liter" pitchFamily="34" charset="-120"/>
              </a:rPr>
              <a:t>1</a:t>
            </a:r>
            <a:endParaRPr lang="en-US" sz="1600" dirty="0"/>
          </a:p>
        </p:txBody>
      </p:sp>
      <p:sp>
        <p:nvSpPr>
          <p:cNvPr id="6" name="Text 4"/>
          <p:cNvSpPr/>
          <p:nvPr/>
        </p:nvSpPr>
        <p:spPr>
          <a:xfrm>
            <a:off x="1524000" y="1397000"/>
            <a:ext cx="6096000" cy="317500"/>
          </a:xfrm>
          <a:prstGeom prst="rect">
            <a:avLst/>
          </a:prstGeom>
          <a:noFill/>
          <a:ln/>
        </p:spPr>
        <p:txBody>
          <a:bodyPr wrap="none" lIns="0" tIns="0" rIns="0" bIns="0" rtlCol="0" anchor="ctr"/>
          <a:lstStyle/>
          <a:p>
            <a:pPr>
              <a:lnSpc>
                <a:spcPct val="100000"/>
              </a:lnSpc>
            </a:pPr>
            <a:r>
              <a:rPr lang="en-US" sz="1600" dirty="0">
                <a:solidFill>
                  <a:srgbClr val="1E293B"/>
                </a:solidFill>
                <a:latin typeface="Liter" pitchFamily="34" charset="0"/>
                <a:ea typeface="Liter" pitchFamily="34" charset="-122"/>
                <a:cs typeface="Liter" pitchFamily="34" charset="-120"/>
              </a:rPr>
              <a:t>BOM &amp; COST STACK UNCERTAINTY</a:t>
            </a:r>
            <a:endParaRPr lang="en-US" sz="1600" dirty="0"/>
          </a:p>
        </p:txBody>
      </p:sp>
      <p:sp>
        <p:nvSpPr>
          <p:cNvPr id="7" name="Text 5"/>
          <p:cNvSpPr/>
          <p:nvPr/>
        </p:nvSpPr>
        <p:spPr>
          <a:xfrm>
            <a:off x="952500" y="1803400"/>
            <a:ext cx="6731000" cy="1333500"/>
          </a:xfrm>
          <a:prstGeom prst="rect">
            <a:avLst/>
          </a:prstGeom>
          <a:noFill/>
          <a:ln/>
        </p:spPr>
        <p:txBody>
          <a:bodyPr wrap="square" lIns="0" tIns="0" rIns="0" bIns="0" rtlCol="0" anchor="t"/>
          <a:lstStyle/>
          <a:p>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The BOM and deployed-cost stack is a </a:t>
            </a:r>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modeled assumption</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anchored to public comparables, not supplier quotations for the exact motion system, safety architecture, vision stack, or local assembly approach. Real vendor quotes could move those numbers materially.</a:t>
            </a:r>
            <a:endParaRPr lang="en-US" sz="1600" dirty="0"/>
          </a:p>
        </p:txBody>
      </p:sp>
      <p:sp>
        <p:nvSpPr>
          <p:cNvPr id="8" name="Shape 6"/>
          <p:cNvSpPr/>
          <p:nvPr/>
        </p:nvSpPr>
        <p:spPr>
          <a:xfrm>
            <a:off x="8382000" y="1270000"/>
            <a:ext cx="7112000" cy="1968500"/>
          </a:xfrm>
          <a:prstGeom prst="rect">
            <a:avLst/>
          </a:prstGeom>
          <a:solidFill>
            <a:srgbClr val="F1F5F9"/>
          </a:solidFill>
          <a:ln w="12700">
            <a:solidFill>
              <a:srgbClr val="E2E8F0"/>
            </a:solidFill>
            <a:prstDash val="solid"/>
          </a:ln>
        </p:spPr>
      </p:sp>
      <p:sp>
        <p:nvSpPr>
          <p:cNvPr id="9" name="Text 7"/>
          <p:cNvSpPr/>
          <p:nvPr/>
        </p:nvSpPr>
        <p:spPr>
          <a:xfrm>
            <a:off x="8572500" y="1371600"/>
            <a:ext cx="508000" cy="381000"/>
          </a:xfrm>
          <a:prstGeom prst="rect">
            <a:avLst/>
          </a:prstGeom>
          <a:noFill/>
          <a:ln/>
        </p:spPr>
        <p:txBody>
          <a:bodyPr wrap="none" lIns="0" tIns="0" rIns="0" bIns="0" rtlCol="0" anchor="ctr"/>
          <a:lstStyle/>
          <a:p>
            <a:pPr algn="ctr">
              <a:lnSpc>
                <a:spcPct val="100000"/>
              </a:lnSpc>
            </a:pPr>
            <a:r>
              <a:rPr lang="en-US" sz="2400" dirty="0">
                <a:solidFill>
                  <a:srgbClr val="D97706"/>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9144000" y="1397000"/>
            <a:ext cx="6096000" cy="317500"/>
          </a:xfrm>
          <a:prstGeom prst="rect">
            <a:avLst/>
          </a:prstGeom>
          <a:noFill/>
          <a:ln/>
        </p:spPr>
        <p:txBody>
          <a:bodyPr wrap="none" lIns="0" tIns="0" rIns="0" bIns="0" rtlCol="0" anchor="ctr"/>
          <a:lstStyle/>
          <a:p>
            <a:pPr>
              <a:lnSpc>
                <a:spcPct val="100000"/>
              </a:lnSpc>
            </a:pPr>
            <a:r>
              <a:rPr lang="en-US" sz="1600" dirty="0">
                <a:solidFill>
                  <a:srgbClr val="1E293B"/>
                </a:solidFill>
                <a:latin typeface="Liter" pitchFamily="34" charset="0"/>
                <a:ea typeface="Liter" pitchFamily="34" charset="-122"/>
                <a:cs typeface="Liter" pitchFamily="34" charset="-120"/>
              </a:rPr>
              <a:t>REGULATORY CLASSIFICATION PATH</a:t>
            </a:r>
            <a:endParaRPr lang="en-US" sz="1600" dirty="0"/>
          </a:p>
        </p:txBody>
      </p:sp>
      <p:sp>
        <p:nvSpPr>
          <p:cNvPr id="11" name="Text 9"/>
          <p:cNvSpPr/>
          <p:nvPr/>
        </p:nvSpPr>
        <p:spPr>
          <a:xfrm>
            <a:off x="8572500" y="1803400"/>
            <a:ext cx="6731000" cy="1333500"/>
          </a:xfrm>
          <a:prstGeom prst="rect">
            <a:avLst/>
          </a:prstGeom>
          <a:noFill/>
          <a:ln/>
        </p:spPr>
        <p:txBody>
          <a:bodyPr wrap="square" lIns="0" tIns="0" rIns="0" bIns="0" rtlCol="0" anchor="t"/>
          <a:lstStyle/>
          <a:p>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The best regulatory classification path depends on </a:t>
            </a:r>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product claims</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If positioned as pre/post-analytical automation and traceability infrastructure, the path is different than if making diagnostic claims or becoming tightly embedded in an IVD decision chain.</a:t>
            </a:r>
            <a:endParaRPr lang="en-US" sz="1600" dirty="0"/>
          </a:p>
        </p:txBody>
      </p:sp>
      <p:sp>
        <p:nvSpPr>
          <p:cNvPr id="12" name="Shape 10"/>
          <p:cNvSpPr/>
          <p:nvPr/>
        </p:nvSpPr>
        <p:spPr>
          <a:xfrm>
            <a:off x="762000" y="3429000"/>
            <a:ext cx="7112000" cy="1968500"/>
          </a:xfrm>
          <a:prstGeom prst="rect">
            <a:avLst/>
          </a:prstGeom>
          <a:solidFill>
            <a:srgbClr val="F1F5F9"/>
          </a:solidFill>
          <a:ln w="12700">
            <a:solidFill>
              <a:srgbClr val="E2E8F0"/>
            </a:solidFill>
            <a:prstDash val="solid"/>
          </a:ln>
        </p:spPr>
      </p:sp>
      <p:sp>
        <p:nvSpPr>
          <p:cNvPr id="13" name="Text 11"/>
          <p:cNvSpPr/>
          <p:nvPr/>
        </p:nvSpPr>
        <p:spPr>
          <a:xfrm>
            <a:off x="952500" y="3530600"/>
            <a:ext cx="508000" cy="381000"/>
          </a:xfrm>
          <a:prstGeom prst="rect">
            <a:avLst/>
          </a:prstGeom>
          <a:noFill/>
          <a:ln/>
        </p:spPr>
        <p:txBody>
          <a:bodyPr wrap="none" lIns="0" tIns="0" rIns="0" bIns="0" rtlCol="0" anchor="ctr"/>
          <a:lstStyle/>
          <a:p>
            <a:pPr algn="ctr">
              <a:lnSpc>
                <a:spcPct val="100000"/>
              </a:lnSpc>
            </a:pPr>
            <a:r>
              <a:rPr lang="en-US" sz="2400" dirty="0">
                <a:solidFill>
                  <a:srgbClr val="D97706"/>
                </a:solidFill>
                <a:latin typeface="Liter" pitchFamily="34" charset="0"/>
                <a:ea typeface="Liter" pitchFamily="34" charset="-122"/>
                <a:cs typeface="Liter" pitchFamily="34" charset="-120"/>
              </a:rPr>
              <a:t>3</a:t>
            </a:r>
            <a:endParaRPr lang="en-US" sz="1600" dirty="0"/>
          </a:p>
        </p:txBody>
      </p:sp>
      <p:sp>
        <p:nvSpPr>
          <p:cNvPr id="14" name="Text 12"/>
          <p:cNvSpPr/>
          <p:nvPr/>
        </p:nvSpPr>
        <p:spPr>
          <a:xfrm>
            <a:off x="1524000" y="3429000"/>
            <a:ext cx="6096000" cy="317500"/>
          </a:xfrm>
          <a:prstGeom prst="rect">
            <a:avLst/>
          </a:prstGeom>
          <a:noFill/>
          <a:ln/>
        </p:spPr>
        <p:txBody>
          <a:bodyPr wrap="none" lIns="0" tIns="0" rIns="0" bIns="0" rtlCol="0" anchor="ctr"/>
          <a:lstStyle/>
          <a:p>
            <a:pPr>
              <a:lnSpc>
                <a:spcPct val="100000"/>
              </a:lnSpc>
            </a:pPr>
            <a:r>
              <a:rPr lang="en-US" sz="1600" dirty="0">
                <a:solidFill>
                  <a:srgbClr val="1E293B"/>
                </a:solidFill>
                <a:latin typeface="Liter" pitchFamily="34" charset="0"/>
                <a:ea typeface="Liter" pitchFamily="34" charset="-122"/>
                <a:cs typeface="Liter" pitchFamily="34" charset="-120"/>
              </a:rPr>
              <a:t>PER-TEST PRICING VALIDATION</a:t>
            </a:r>
            <a:endParaRPr lang="en-US" sz="1600" dirty="0"/>
          </a:p>
        </p:txBody>
      </p:sp>
      <p:sp>
        <p:nvSpPr>
          <p:cNvPr id="15" name="Text 13"/>
          <p:cNvSpPr/>
          <p:nvPr/>
        </p:nvSpPr>
        <p:spPr>
          <a:xfrm>
            <a:off x="952500" y="3962400"/>
            <a:ext cx="6731000" cy="1333500"/>
          </a:xfrm>
          <a:prstGeom prst="rect">
            <a:avLst/>
          </a:prstGeom>
          <a:noFill/>
          <a:ln/>
        </p:spPr>
        <p:txBody>
          <a:bodyPr wrap="square" lIns="0" tIns="0" rIns="0" bIns="0" rtlCol="0" anchor="t"/>
          <a:lstStyle/>
          <a:p>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The per-test pricing discussion is anchored partly to </a:t>
            </a:r>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public retail test prices at Metropolis</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which are useful as a visible market ceiling but are not the same as every lab's realized B2B economics. Transactional pricing should be validated against actual customer mix before productizing it.</a:t>
            </a:r>
            <a:endParaRPr lang="en-US" sz="1600" dirty="0"/>
          </a:p>
        </p:txBody>
      </p:sp>
      <p:sp>
        <p:nvSpPr>
          <p:cNvPr id="16" name="Shape 14"/>
          <p:cNvSpPr/>
          <p:nvPr/>
        </p:nvSpPr>
        <p:spPr>
          <a:xfrm>
            <a:off x="8382000" y="3429000"/>
            <a:ext cx="7112000" cy="1968500"/>
          </a:xfrm>
          <a:prstGeom prst="rect">
            <a:avLst/>
          </a:prstGeom>
          <a:solidFill>
            <a:srgbClr val="F1F5F9"/>
          </a:solidFill>
          <a:ln w="12700">
            <a:solidFill>
              <a:srgbClr val="E2E8F0"/>
            </a:solidFill>
            <a:prstDash val="solid"/>
          </a:ln>
        </p:spPr>
      </p:sp>
      <p:sp>
        <p:nvSpPr>
          <p:cNvPr id="17" name="Text 15"/>
          <p:cNvSpPr/>
          <p:nvPr/>
        </p:nvSpPr>
        <p:spPr>
          <a:xfrm>
            <a:off x="8572500" y="3530600"/>
            <a:ext cx="508000" cy="381000"/>
          </a:xfrm>
          <a:prstGeom prst="rect">
            <a:avLst/>
          </a:prstGeom>
          <a:noFill/>
          <a:ln/>
        </p:spPr>
        <p:txBody>
          <a:bodyPr wrap="none" lIns="0" tIns="0" rIns="0" bIns="0" rtlCol="0" anchor="ctr"/>
          <a:lstStyle/>
          <a:p>
            <a:pPr algn="ctr">
              <a:lnSpc>
                <a:spcPct val="100000"/>
              </a:lnSpc>
            </a:pPr>
            <a:r>
              <a:rPr lang="en-US" sz="2400" dirty="0">
                <a:solidFill>
                  <a:srgbClr val="D97706"/>
                </a:solidFill>
                <a:latin typeface="Liter" pitchFamily="34" charset="0"/>
                <a:ea typeface="Liter" pitchFamily="34" charset="-122"/>
                <a:cs typeface="Liter" pitchFamily="34" charset="-120"/>
              </a:rPr>
              <a:t>4</a:t>
            </a:r>
            <a:endParaRPr lang="en-US" sz="1600" dirty="0"/>
          </a:p>
        </p:txBody>
      </p:sp>
      <p:sp>
        <p:nvSpPr>
          <p:cNvPr id="18" name="Text 16"/>
          <p:cNvSpPr/>
          <p:nvPr/>
        </p:nvSpPr>
        <p:spPr>
          <a:xfrm>
            <a:off x="9144000" y="3429000"/>
            <a:ext cx="6096000" cy="317500"/>
          </a:xfrm>
          <a:prstGeom prst="rect">
            <a:avLst/>
          </a:prstGeom>
          <a:noFill/>
          <a:ln/>
        </p:spPr>
        <p:txBody>
          <a:bodyPr wrap="none" lIns="0" tIns="0" rIns="0" bIns="0" rtlCol="0" anchor="ctr"/>
          <a:lstStyle/>
          <a:p>
            <a:pPr>
              <a:lnSpc>
                <a:spcPct val="100000"/>
              </a:lnSpc>
            </a:pPr>
            <a:r>
              <a:rPr lang="en-US" sz="1600" dirty="0">
                <a:solidFill>
                  <a:srgbClr val="1E293B"/>
                </a:solidFill>
                <a:latin typeface="Liter" pitchFamily="34" charset="0"/>
                <a:ea typeface="Liter" pitchFamily="34" charset="-122"/>
                <a:cs typeface="Liter" pitchFamily="34" charset="-120"/>
              </a:rPr>
              <a:t>PUBLIC PROCUREMENT COMPLEXITY</a:t>
            </a:r>
            <a:endParaRPr lang="en-US" sz="1600" dirty="0"/>
          </a:p>
        </p:txBody>
      </p:sp>
      <p:sp>
        <p:nvSpPr>
          <p:cNvPr id="19" name="Text 17"/>
          <p:cNvSpPr/>
          <p:nvPr/>
        </p:nvSpPr>
        <p:spPr>
          <a:xfrm>
            <a:off x="8572500" y="3962400"/>
            <a:ext cx="6731000" cy="1333500"/>
          </a:xfrm>
          <a:prstGeom prst="rect">
            <a:avLst/>
          </a:prstGeom>
          <a:noFill/>
          <a:ln/>
        </p:spPr>
        <p:txBody>
          <a:bodyPr wrap="square" lIns="0" tIns="0" rIns="0" bIns="0" rtlCol="0" anchor="t"/>
          <a:lstStyle/>
          <a:p>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Public procurement for hospital and government customers is </a:t>
            </a:r>
            <a:pPr>
              <a:lnSpc>
                <a:spcPct val="140000"/>
              </a:lnSpc>
            </a:pPr>
            <a:r>
              <a:rPr lang="en-US" sz="1400" b="1" dirty="0">
                <a:solidFill>
                  <a:srgbClr val="1E293B"/>
                </a:solidFill>
                <a:latin typeface="Quattrocento Sans" pitchFamily="34" charset="0"/>
                <a:ea typeface="Quattrocento Sans" pitchFamily="34" charset="-122"/>
                <a:cs typeface="Quattrocento Sans" pitchFamily="34" charset="-120"/>
              </a:rPr>
              <a:t>structurally slower and less uniform</a:t>
            </a:r>
            <a:pPr>
              <a:lnSpc>
                <a:spcPct val="140000"/>
              </a:lnSpc>
            </a:pPr>
            <a:r>
              <a:rPr lang="en-US" sz="1400" dirty="0">
                <a:solidFill>
                  <a:srgbClr val="1E293B"/>
                </a:solidFill>
                <a:latin typeface="Quattrocento Sans" pitchFamily="34" charset="0"/>
                <a:ea typeface="Quattrocento Sans" pitchFamily="34" charset="-122"/>
                <a:cs typeface="Quattrocento Sans" pitchFamily="34" charset="-120"/>
              </a:rPr>
              <a:t> than private procurement. GeM-linked procurement norms exist, and some state hospital systems have tightened controls over direct purchasing, but actual route-to-market still varies by institution and state.</a:t>
            </a:r>
            <a:endParaRPr lang="en-US" sz="1600" dirty="0"/>
          </a:p>
        </p:txBody>
      </p:sp>
      <p:sp>
        <p:nvSpPr>
          <p:cNvPr id="20" name="Shape 18"/>
          <p:cNvSpPr/>
          <p:nvPr/>
        </p:nvSpPr>
        <p:spPr>
          <a:xfrm>
            <a:off x="762000" y="5397500"/>
            <a:ext cx="14732000" cy="1270000"/>
          </a:xfrm>
          <a:prstGeom prst="rect">
            <a:avLst/>
          </a:prstGeom>
          <a:solidFill>
            <a:srgbClr val="1E293B"/>
          </a:solidFill>
          <a:ln/>
        </p:spPr>
      </p:sp>
      <p:sp>
        <p:nvSpPr>
          <p:cNvPr id="21" name="Text 19"/>
          <p:cNvSpPr/>
          <p:nvPr/>
        </p:nvSpPr>
        <p:spPr>
          <a:xfrm>
            <a:off x="1016000" y="5524500"/>
            <a:ext cx="508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A NOTE ON METHODOLOGY</a:t>
            </a:r>
            <a:endParaRPr lang="en-US" sz="1600" dirty="0"/>
          </a:p>
        </p:txBody>
      </p:sp>
      <p:sp>
        <p:nvSpPr>
          <p:cNvPr id="22" name="Text 20"/>
          <p:cNvSpPr/>
          <p:nvPr/>
        </p:nvSpPr>
        <p:spPr>
          <a:xfrm>
            <a:off x="1016000" y="5969000"/>
            <a:ext cx="14224000" cy="635000"/>
          </a:xfrm>
          <a:prstGeom prst="rect">
            <a:avLst/>
          </a:prstGeom>
          <a:noFill/>
          <a:ln/>
        </p:spPr>
        <p:txBody>
          <a:bodyPr wrap="square" lIns="0" tIns="0" rIns="0" bIns="0" rtlCol="0" anchor="ctr"/>
          <a:lstStyle/>
          <a:p>
            <a:pPr>
              <a:lnSpc>
                <a:spcPct val="130000"/>
              </a:lnSpc>
            </a:pPr>
            <a:r>
              <a:rPr lang="en-US" sz="1300" dirty="0">
                <a:solidFill>
                  <a:srgbClr val="F1F5F9"/>
                </a:solidFill>
                <a:latin typeface="Quattrocento Sans" pitchFamily="34" charset="0"/>
                <a:ea typeface="Quattrocento Sans" pitchFamily="34" charset="-122"/>
                <a:cs typeface="Quattrocento Sans" pitchFamily="34" charset="-120"/>
              </a:rPr>
              <a:t>This report is rigorous on commercial structure, but these items remain inherently uncertain and should be treated that way. The report treats regulation mainly as a procurement-and-validation burden rather than giving formal legal classification advice.</a:t>
            </a:r>
            <a:endParaRPr lang="en-US" sz="1600" dirty="0"/>
          </a:p>
        </p:txBody>
      </p:sp>
      <p:sp>
        <p:nvSpPr>
          <p:cNvPr id="23" name="Shape 21"/>
          <p:cNvSpPr/>
          <p:nvPr/>
        </p:nvSpPr>
        <p:spPr>
          <a:xfrm>
            <a:off x="762000" y="6921500"/>
            <a:ext cx="14732000" cy="1079500"/>
          </a:xfrm>
          <a:prstGeom prst="rect">
            <a:avLst/>
          </a:prstGeom>
          <a:solidFill>
            <a:srgbClr val="FEF3C7"/>
          </a:solidFill>
          <a:ln w="12700">
            <a:solidFill>
              <a:srgbClr val="FCD34D"/>
            </a:solidFill>
            <a:prstDash val="solid"/>
          </a:ln>
        </p:spPr>
      </p:sp>
      <p:sp>
        <p:nvSpPr>
          <p:cNvPr id="24" name="Text 22"/>
          <p:cNvSpPr/>
          <p:nvPr/>
        </p:nvSpPr>
        <p:spPr>
          <a:xfrm>
            <a:off x="1016000" y="7010400"/>
            <a:ext cx="14224000" cy="914400"/>
          </a:xfrm>
          <a:prstGeom prst="rect">
            <a:avLst/>
          </a:prstGeom>
          <a:noFill/>
          <a:ln/>
        </p:spPr>
        <p:txBody>
          <a:bodyPr wrap="square" lIns="0" tIns="0" rIns="0" bIns="0" rtlCol="0" anchor="ctr"/>
          <a:lstStyle/>
          <a:p>
            <a:pPr>
              <a:lnSpc>
                <a:spcPct val="140000"/>
              </a:lnSpc>
            </a:pPr>
            <a:r>
              <a:rPr lang="en-US" sz="1500" b="1" dirty="0">
                <a:solidFill>
                  <a:srgbClr val="1E293B"/>
                </a:solidFill>
                <a:latin typeface="Quattrocento Sans" pitchFamily="34" charset="0"/>
                <a:ea typeface="Quattrocento Sans" pitchFamily="34" charset="-122"/>
                <a:cs typeface="Quattrocento Sans" pitchFamily="34" charset="-120"/>
              </a:rPr>
              <a:t>On balance,</a:t>
            </a:r>
            <a:pPr>
              <a:lnSpc>
                <a:spcPct val="140000"/>
              </a:lnSpc>
            </a:pPr>
            <a:r>
              <a:rPr lang="en-US" sz="1500" dirty="0">
                <a:solidFill>
                  <a:srgbClr val="1E293B"/>
                </a:solidFill>
                <a:latin typeface="Quattrocento Sans" pitchFamily="34" charset="0"/>
                <a:ea typeface="Quattrocento Sans" pitchFamily="34" charset="-122"/>
                <a:cs typeface="Quattrocento Sans" pitchFamily="34" charset="-120"/>
              </a:rPr>
              <a:t> the evidence supports a clear answer: sell the phase-one product as focused operational infrastructure with recurring software and service, not as a one-off robot and not as a thin per-test utility. That is the model most consistent with the market, the product wedge, and the current maturity of the concept.</a:t>
            </a:r>
            <a:endParaRPr lang="en-US" sz="1600" dirty="0"/>
          </a:p>
        </p:txBody>
      </p:sp>
      <p:sp>
        <p:nvSpPr>
          <p:cNvPr id="25" name="Shape 23"/>
          <p:cNvSpPr/>
          <p:nvPr/>
        </p:nvSpPr>
        <p:spPr>
          <a:xfrm>
            <a:off x="762000" y="8636000"/>
            <a:ext cx="14732000" cy="25400"/>
          </a:xfrm>
          <a:prstGeom prst="rect">
            <a:avLst/>
          </a:prstGeom>
          <a:solidFill>
            <a:srgbClr val="D97706"/>
          </a:solidFill>
          <a:ln/>
        </p:spPr>
      </p:sp>
      <p:sp>
        <p:nvSpPr>
          <p:cNvPr id="26" name="Text 24"/>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31</a:t>
            </a:r>
            <a:endParaRPr lang="en-US" sz="1300" dirty="0"/>
          </a:p>
        </p:txBody>
      </p:sp>
    </p:spTree>
  </p:cSld>
  <p:clrMapOvr>
    <a:masterClrMapping/>
  </p:clrMapOvr>
  <p:transition>
    <p:fade/>
    <p:spd val="med"/>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6F3"/>
        </a:solidFill>
      </p:bgPr>
    </p:bg>
    <p:spTree>
      <p:nvGrpSpPr>
        <p:cNvPr id="1" name=""/>
        <p:cNvGrpSpPr/>
        <p:nvPr/>
      </p:nvGrpSpPr>
      <p:grpSpPr>
        <a:xfrm>
          <a:off x="0" y="0"/>
          <a:ext cx="0" cy="0"/>
          <a:chOff x="0" y="0"/>
          <a:chExt cx="0" cy="0"/>
        </a:xfrm>
      </p:grpSpPr>
      <p:sp>
        <p:nvSpPr>
          <p:cNvPr id="2" name="Text 0"/>
          <p:cNvSpPr/>
          <p:nvPr/>
        </p:nvSpPr>
        <p:spPr>
          <a:xfrm>
            <a:off x="762000" y="444500"/>
            <a:ext cx="1270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Liter" pitchFamily="34" charset="0"/>
                <a:ea typeface="Liter" pitchFamily="34" charset="-122"/>
                <a:cs typeface="Liter" pitchFamily="34" charset="-120"/>
              </a:rPr>
              <a:t>The Final Recommendation: Sell Infrastructure, Not Novelty</a:t>
            </a:r>
            <a:endParaRPr lang="en-US" sz="2800" dirty="0"/>
          </a:p>
        </p:txBody>
      </p:sp>
      <p:sp>
        <p:nvSpPr>
          <p:cNvPr id="3" name="Shape 1"/>
          <p:cNvSpPr/>
          <p:nvPr/>
        </p:nvSpPr>
        <p:spPr>
          <a:xfrm>
            <a:off x="762000" y="1016000"/>
            <a:ext cx="14732000" cy="25400"/>
          </a:xfrm>
          <a:prstGeom prst="rect">
            <a:avLst/>
          </a:prstGeom>
          <a:solidFill>
            <a:srgbClr val="D97706"/>
          </a:solidFill>
          <a:ln/>
        </p:spPr>
      </p:sp>
      <p:pic>
        <p:nvPicPr>
          <p:cNvPr id="4" name="Image 0" descr="https://kimi-img.moonshot.cn/pub/slides/okc/twrgmxeyd52h4/mnt/agents/output/business_model/images/10_What_Is_Gantry_Control.png">    </p:cNvPr>
          <p:cNvPicPr>
            <a:picLocks noChangeAspect="1"/>
          </p:cNvPicPr>
          <p:nvPr/>
        </p:nvPicPr>
        <p:blipFill>
          <a:blip r:embed="rId1"/>
          <a:srcRect l="1702" r="1702" t="0" b="0"/>
          <a:stretch/>
        </p:blipFill>
        <p:spPr>
          <a:xfrm>
            <a:off x="762000" y="1270000"/>
            <a:ext cx="5080000" cy="3302000"/>
          </a:xfrm>
          <a:prstGeom prst="rect">
            <a:avLst/>
          </a:prstGeom>
        </p:spPr>
      </p:pic>
      <p:sp>
        <p:nvSpPr>
          <p:cNvPr id="5" name="Text 2"/>
          <p:cNvSpPr/>
          <p:nvPr/>
        </p:nvSpPr>
        <p:spPr>
          <a:xfrm>
            <a:off x="6223000" y="1270000"/>
            <a:ext cx="6350000" cy="355600"/>
          </a:xfrm>
          <a:prstGeom prst="rect">
            <a:avLst/>
          </a:prstGeom>
          <a:noFill/>
          <a:ln/>
        </p:spPr>
        <p:txBody>
          <a:bodyPr wrap="none" lIns="0" tIns="0" rIns="0" bIns="0" rtlCol="0" anchor="ctr"/>
          <a:lstStyle/>
          <a:p>
            <a:pPr>
              <a:lnSpc>
                <a:spcPct val="100000"/>
              </a:lnSpc>
            </a:pPr>
            <a:r>
              <a:rPr lang="en-US" sz="1800" dirty="0">
                <a:solidFill>
                  <a:srgbClr val="D97706"/>
                </a:solidFill>
                <a:latin typeface="Liter" pitchFamily="34" charset="0"/>
                <a:ea typeface="Liter" pitchFamily="34" charset="-122"/>
                <a:cs typeface="Liter" pitchFamily="34" charset="-120"/>
              </a:rPr>
              <a:t>WHAT CUSTOMERS ACTUALLY CARE ABOUT</a:t>
            </a:r>
            <a:endParaRPr lang="en-US" sz="1600" dirty="0"/>
          </a:p>
        </p:txBody>
      </p:sp>
      <p:sp>
        <p:nvSpPr>
          <p:cNvPr id="6" name="Text 3"/>
          <p:cNvSpPr/>
          <p:nvPr/>
        </p:nvSpPr>
        <p:spPr>
          <a:xfrm>
            <a:off x="6223000" y="1714500"/>
            <a:ext cx="9271000" cy="2857500"/>
          </a:xfrm>
          <a:prstGeom prst="rect">
            <a:avLst/>
          </a:prstGeom>
          <a:noFill/>
          <a:ln/>
        </p:spPr>
        <p:txBody>
          <a:bodyPr wrap="square" lIns="0" tIns="0" rIns="0" bIns="0" rtlCol="0" anchor="t"/>
          <a:lstStyle/>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a:t>
            </a:r>
            <a:pPr>
              <a:lnSpc>
                <a:spcPct val="170000"/>
              </a:lnSpc>
            </a:pPr>
            <a:r>
              <a:rPr lang="en-US" sz="1600" b="1" dirty="0">
                <a:solidFill>
                  <a:srgbClr val="1E293B"/>
                </a:solidFill>
                <a:latin typeface="Quattrocento Sans" pitchFamily="34" charset="0"/>
                <a:ea typeface="Quattrocento Sans" pitchFamily="34" charset="-122"/>
                <a:cs typeface="Quattrocento Sans" pitchFamily="34" charset="-120"/>
              </a:rPr>
              <a:t>Fewer mistakes</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 wrong sample handling costs money</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a:t>
            </a:r>
            <a:pPr>
              <a:lnSpc>
                <a:spcPct val="170000"/>
              </a:lnSpc>
            </a:pPr>
            <a:r>
              <a:rPr lang="en-US" sz="1600" b="1" dirty="0">
                <a:solidFill>
                  <a:srgbClr val="1E293B"/>
                </a:solidFill>
                <a:latin typeface="Quattrocento Sans" pitchFamily="34" charset="0"/>
                <a:ea typeface="Quattrocento Sans" pitchFamily="34" charset="-122"/>
                <a:cs typeface="Quattrocento Sans" pitchFamily="34" charset="-120"/>
              </a:rPr>
              <a:t>Faster reporting</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 happier doctors and patients</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a:t>
            </a:r>
            <a:pPr>
              <a:lnSpc>
                <a:spcPct val="170000"/>
              </a:lnSpc>
            </a:pPr>
            <a:r>
              <a:rPr lang="en-US" sz="1600" b="1" dirty="0">
                <a:solidFill>
                  <a:srgbClr val="1E293B"/>
                </a:solidFill>
                <a:latin typeface="Quattrocento Sans" pitchFamily="34" charset="0"/>
                <a:ea typeface="Quattrocento Sans" pitchFamily="34" charset="-122"/>
                <a:cs typeface="Quattrocento Sans" pitchFamily="34" charset="-120"/>
              </a:rPr>
              <a:t>Less labor</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 less repetitive work for skilled staff</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a:t>
            </a:r>
            <a:pPr>
              <a:lnSpc>
                <a:spcPct val="170000"/>
              </a:lnSpc>
            </a:pPr>
            <a:r>
              <a:rPr lang="en-US" sz="1600" b="1" dirty="0">
                <a:solidFill>
                  <a:srgbClr val="1E293B"/>
                </a:solidFill>
                <a:latin typeface="Quattrocento Sans" pitchFamily="34" charset="0"/>
                <a:ea typeface="Quattrocento Sans" pitchFamily="34" charset="-122"/>
                <a:cs typeface="Quattrocento Sans" pitchFamily="34" charset="-120"/>
              </a:rPr>
              <a:t>Better compliance</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 easier accreditation</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a:t>
            </a:r>
            <a:pPr>
              <a:lnSpc>
                <a:spcPct val="170000"/>
              </a:lnSpc>
            </a:pPr>
            <a:r>
              <a:rPr lang="en-US" sz="1600" b="1" dirty="0">
                <a:solidFill>
                  <a:srgbClr val="1E293B"/>
                </a:solidFill>
                <a:latin typeface="Quattrocento Sans" pitchFamily="34" charset="0"/>
                <a:ea typeface="Quattrocento Sans" pitchFamily="34" charset="-122"/>
                <a:cs typeface="Quattrocento Sans" pitchFamily="34" charset="-120"/>
              </a:rPr>
              <a:t>Better tracking</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 know where every sample is</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a:t>
            </a:r>
            <a:pPr>
              <a:lnSpc>
                <a:spcPct val="170000"/>
              </a:lnSpc>
            </a:pPr>
            <a:r>
              <a:rPr lang="en-US" sz="1600" b="1" dirty="0">
                <a:solidFill>
                  <a:srgbClr val="1E293B"/>
                </a:solidFill>
                <a:latin typeface="Quattrocento Sans" pitchFamily="34" charset="0"/>
                <a:ea typeface="Quattrocento Sans" pitchFamily="34" charset="-122"/>
                <a:cs typeface="Quattrocento Sans" pitchFamily="34" charset="-120"/>
              </a:rPr>
              <a:t>Better utilization</a:t>
            </a:r>
            <a:pPr>
              <a:lnSpc>
                <a:spcPct val="170000"/>
              </a:lnSpc>
            </a:pPr>
            <a:r>
              <a:rPr lang="en-US" sz="1600" dirty="0">
                <a:solidFill>
                  <a:srgbClr val="1E293B"/>
                </a:solidFill>
                <a:latin typeface="Quattrocento Sans" pitchFamily="34" charset="0"/>
                <a:ea typeface="Quattrocento Sans" pitchFamily="34" charset="-122"/>
                <a:cs typeface="Quattrocento Sans" pitchFamily="34" charset="-120"/>
              </a:rPr>
              <a:t> - keep analyzers busy</a:t>
            </a:r>
            <a:endParaRPr lang="en-US" sz="1600" dirty="0"/>
          </a:p>
        </p:txBody>
      </p:sp>
      <p:sp>
        <p:nvSpPr>
          <p:cNvPr id="7" name="Shape 4"/>
          <p:cNvSpPr/>
          <p:nvPr/>
        </p:nvSpPr>
        <p:spPr>
          <a:xfrm>
            <a:off x="762000" y="4889500"/>
            <a:ext cx="14732000" cy="1397000"/>
          </a:xfrm>
          <a:prstGeom prst="rect">
            <a:avLst/>
          </a:prstGeom>
          <a:solidFill>
            <a:srgbClr val="1E293B"/>
          </a:solidFill>
          <a:ln/>
        </p:spPr>
      </p:sp>
      <p:sp>
        <p:nvSpPr>
          <p:cNvPr id="8" name="Text 5"/>
          <p:cNvSpPr/>
          <p:nvPr/>
        </p:nvSpPr>
        <p:spPr>
          <a:xfrm>
            <a:off x="1016000" y="5016500"/>
            <a:ext cx="7620000" cy="317500"/>
          </a:xfrm>
          <a:prstGeom prst="rect">
            <a:avLst/>
          </a:prstGeom>
          <a:noFill/>
          <a:ln/>
        </p:spPr>
        <p:txBody>
          <a:bodyPr wrap="none" lIns="0" tIns="0" rIns="0" bIns="0" rtlCol="0" anchor="ctr"/>
          <a:lstStyle/>
          <a:p>
            <a:pPr>
              <a:lnSpc>
                <a:spcPct val="100000"/>
              </a:lnSpc>
            </a:pPr>
            <a:r>
              <a:rPr lang="en-US" sz="1600" dirty="0">
                <a:solidFill>
                  <a:srgbClr val="D97706"/>
                </a:solidFill>
                <a:latin typeface="Liter" pitchFamily="34" charset="0"/>
                <a:ea typeface="Liter" pitchFamily="34" charset="-122"/>
                <a:cs typeface="Liter" pitchFamily="34" charset="-120"/>
              </a:rPr>
              <a:t>WHAT CUSTOMERS DO NOT CARE ABOUT</a:t>
            </a:r>
            <a:endParaRPr lang="en-US" sz="1600" dirty="0"/>
          </a:p>
        </p:txBody>
      </p:sp>
      <p:sp>
        <p:nvSpPr>
          <p:cNvPr id="9" name="Text 6"/>
          <p:cNvSpPr/>
          <p:nvPr/>
        </p:nvSpPr>
        <p:spPr>
          <a:xfrm>
            <a:off x="1016000" y="5397500"/>
            <a:ext cx="14224000" cy="698500"/>
          </a:xfrm>
          <a:prstGeom prst="rect">
            <a:avLst/>
          </a:prstGeom>
          <a:noFill/>
          <a:ln/>
        </p:spPr>
        <p:txBody>
          <a:bodyPr wrap="square" lIns="0" tIns="0" rIns="0" bIns="0" rtlCol="0" anchor="ctr"/>
          <a:lstStyle/>
          <a:p>
            <a:pPr>
              <a:lnSpc>
                <a:spcPct val="150000"/>
              </a:lnSpc>
            </a:pPr>
            <a:r>
              <a:rPr lang="en-US" sz="1500" dirty="0">
                <a:solidFill>
                  <a:srgbClr val="F1F5F9"/>
                </a:solidFill>
                <a:latin typeface="Quattrocento Sans" pitchFamily="34" charset="0"/>
                <a:ea typeface="Quattrocento Sans" pitchFamily="34" charset="-122"/>
                <a:cs typeface="Quattrocento Sans" pitchFamily="34" charset="-120"/>
              </a:rPr>
              <a:t>They don't care about VLA, transformers, neural networks, or motion planning. The founder says "Look at my amazing AI-powered gantry robot!" The customer says </a:t>
            </a:r>
            <a:pPr>
              <a:lnSpc>
                <a:spcPct val="150000"/>
              </a:lnSpc>
            </a:pPr>
            <a:r>
              <a:rPr lang="en-US" sz="1500" b="1" dirty="0">
                <a:solidFill>
                  <a:srgbClr val="F1F5F9"/>
                </a:solidFill>
                <a:latin typeface="Quattrocento Sans" pitchFamily="34" charset="0"/>
                <a:ea typeface="Quattrocento Sans" pitchFamily="34" charset="-122"/>
                <a:cs typeface="Quattrocento Sans" pitchFamily="34" charset="-120"/>
              </a:rPr>
              <a:t>"Will this reduce errors by 30%?"</a:t>
            </a:r>
            <a:pPr>
              <a:lnSpc>
                <a:spcPct val="150000"/>
              </a:lnSpc>
            </a:pPr>
            <a:r>
              <a:rPr lang="en-US" sz="1500" dirty="0">
                <a:solidFill>
                  <a:srgbClr val="F1F5F9"/>
                </a:solidFill>
                <a:latin typeface="Quattrocento Sans" pitchFamily="34" charset="0"/>
                <a:ea typeface="Quattrocento Sans" pitchFamily="34" charset="-122"/>
                <a:cs typeface="Quattrocento Sans" pitchFamily="34" charset="-120"/>
              </a:rPr>
              <a:t> The robot is simply a tool to achieve operational goals.</a:t>
            </a:r>
            <a:endParaRPr lang="en-US" sz="1600" dirty="0"/>
          </a:p>
        </p:txBody>
      </p:sp>
      <p:sp>
        <p:nvSpPr>
          <p:cNvPr id="10" name="Shape 7"/>
          <p:cNvSpPr/>
          <p:nvPr/>
        </p:nvSpPr>
        <p:spPr>
          <a:xfrm>
            <a:off x="762000" y="6604000"/>
            <a:ext cx="14732000" cy="1270000"/>
          </a:xfrm>
          <a:prstGeom prst="rect">
            <a:avLst/>
          </a:prstGeom>
          <a:solidFill>
            <a:srgbClr val="FEF3C7"/>
          </a:solidFill>
          <a:ln w="12700">
            <a:solidFill>
              <a:srgbClr val="FCD34D"/>
            </a:solidFill>
            <a:prstDash val="solid"/>
          </a:ln>
        </p:spPr>
      </p:sp>
      <p:sp>
        <p:nvSpPr>
          <p:cNvPr id="11" name="Shape 8"/>
          <p:cNvSpPr/>
          <p:nvPr/>
        </p:nvSpPr>
        <p:spPr>
          <a:xfrm>
            <a:off x="1041400" y="6921500"/>
            <a:ext cx="355600" cy="406400"/>
          </a:xfrm>
          <a:custGeom>
            <a:avLst/>
            <a:gdLst/>
            <a:ahLst/>
            <a:cxnLst/>
            <a:rect l="l" t="t" r="r" b="b"/>
            <a:pathLst>
              <a:path w="355600" h="406400">
                <a:moveTo>
                  <a:pt x="0" y="171450"/>
                </a:moveTo>
                <a:cubicBezTo>
                  <a:pt x="0" y="118824"/>
                  <a:pt x="42624" y="76200"/>
                  <a:pt x="95250" y="76200"/>
                </a:cubicBezTo>
                <a:lnTo>
                  <a:pt x="101600" y="76200"/>
                </a:lnTo>
                <a:cubicBezTo>
                  <a:pt x="115649" y="76200"/>
                  <a:pt x="127000" y="87551"/>
                  <a:pt x="127000" y="101600"/>
                </a:cubicBezTo>
                <a:cubicBezTo>
                  <a:pt x="127000" y="115649"/>
                  <a:pt x="115649" y="127000"/>
                  <a:pt x="101600" y="127000"/>
                </a:cubicBezTo>
                <a:lnTo>
                  <a:pt x="95250" y="127000"/>
                </a:lnTo>
                <a:cubicBezTo>
                  <a:pt x="70723" y="127000"/>
                  <a:pt x="50800" y="146923"/>
                  <a:pt x="50800" y="171450"/>
                </a:cubicBezTo>
                <a:lnTo>
                  <a:pt x="50800" y="177800"/>
                </a:lnTo>
                <a:lnTo>
                  <a:pt x="101600" y="177800"/>
                </a:lnTo>
                <a:cubicBezTo>
                  <a:pt x="129619" y="177800"/>
                  <a:pt x="152400" y="200581"/>
                  <a:pt x="152400" y="228600"/>
                </a:cubicBezTo>
                <a:lnTo>
                  <a:pt x="152400" y="279400"/>
                </a:lnTo>
                <a:cubicBezTo>
                  <a:pt x="152400" y="307419"/>
                  <a:pt x="129619" y="330200"/>
                  <a:pt x="101600" y="330200"/>
                </a:cubicBezTo>
                <a:lnTo>
                  <a:pt x="50800" y="330200"/>
                </a:lnTo>
                <a:cubicBezTo>
                  <a:pt x="22781" y="330200"/>
                  <a:pt x="0" y="307419"/>
                  <a:pt x="0" y="279400"/>
                </a:cubicBezTo>
                <a:lnTo>
                  <a:pt x="0" y="171450"/>
                </a:lnTo>
                <a:close/>
                <a:moveTo>
                  <a:pt x="203200" y="171450"/>
                </a:moveTo>
                <a:cubicBezTo>
                  <a:pt x="203200" y="118824"/>
                  <a:pt x="245824" y="76200"/>
                  <a:pt x="298450" y="76200"/>
                </a:cubicBezTo>
                <a:lnTo>
                  <a:pt x="304800" y="76200"/>
                </a:lnTo>
                <a:cubicBezTo>
                  <a:pt x="318849" y="76200"/>
                  <a:pt x="330200" y="87551"/>
                  <a:pt x="330200" y="101600"/>
                </a:cubicBezTo>
                <a:cubicBezTo>
                  <a:pt x="330200" y="115649"/>
                  <a:pt x="318849" y="127000"/>
                  <a:pt x="304800" y="127000"/>
                </a:cubicBezTo>
                <a:lnTo>
                  <a:pt x="298450" y="127000"/>
                </a:lnTo>
                <a:cubicBezTo>
                  <a:pt x="273923" y="127000"/>
                  <a:pt x="254000" y="146923"/>
                  <a:pt x="254000" y="171450"/>
                </a:cubicBezTo>
                <a:lnTo>
                  <a:pt x="254000" y="177800"/>
                </a:lnTo>
                <a:lnTo>
                  <a:pt x="304800" y="177800"/>
                </a:lnTo>
                <a:cubicBezTo>
                  <a:pt x="332819" y="177800"/>
                  <a:pt x="355600" y="200581"/>
                  <a:pt x="355600" y="228600"/>
                </a:cubicBezTo>
                <a:lnTo>
                  <a:pt x="355600" y="279400"/>
                </a:lnTo>
                <a:cubicBezTo>
                  <a:pt x="355600" y="307419"/>
                  <a:pt x="332819" y="330200"/>
                  <a:pt x="304800" y="330200"/>
                </a:cubicBezTo>
                <a:lnTo>
                  <a:pt x="254000" y="330200"/>
                </a:lnTo>
                <a:cubicBezTo>
                  <a:pt x="225981" y="330200"/>
                  <a:pt x="203200" y="307419"/>
                  <a:pt x="203200" y="279400"/>
                </a:cubicBezTo>
                <a:lnTo>
                  <a:pt x="203200" y="171450"/>
                </a:lnTo>
                <a:close/>
              </a:path>
            </a:pathLst>
          </a:custGeom>
          <a:solidFill>
            <a:srgbClr val="D97706"/>
          </a:solidFill>
          <a:ln/>
        </p:spPr>
      </p:sp>
      <p:sp>
        <p:nvSpPr>
          <p:cNvPr id="12" name="Text 9"/>
          <p:cNvSpPr/>
          <p:nvPr/>
        </p:nvSpPr>
        <p:spPr>
          <a:xfrm>
            <a:off x="1587500" y="6794500"/>
            <a:ext cx="13652500" cy="889000"/>
          </a:xfrm>
          <a:prstGeom prst="rect">
            <a:avLst/>
          </a:prstGeom>
          <a:noFill/>
          <a:ln/>
        </p:spPr>
        <p:txBody>
          <a:bodyPr wrap="square" lIns="0" tIns="0" rIns="0" bIns="0" rtlCol="0" anchor="ctr"/>
          <a:lstStyle/>
          <a:p>
            <a:pPr>
              <a:lnSpc>
                <a:spcPct val="140000"/>
              </a:lnSpc>
            </a:pPr>
            <a:r>
              <a:rPr lang="en-US" sz="2000" dirty="0">
                <a:solidFill>
                  <a:srgbClr val="1E293B"/>
                </a:solidFill>
                <a:latin typeface="Liter" pitchFamily="34" charset="0"/>
                <a:ea typeface="Liter" pitchFamily="34" charset="-122"/>
                <a:cs typeface="Liter" pitchFamily="34" charset="-120"/>
              </a:rPr>
              <a:t>"Our robots keep all the other robots in your lab busy."</a:t>
            </a:r>
            <a:endParaRPr lang="en-US" sz="1600" dirty="0"/>
          </a:p>
        </p:txBody>
      </p:sp>
      <p:sp>
        <p:nvSpPr>
          <p:cNvPr id="13" name="Text 10"/>
          <p:cNvSpPr/>
          <p:nvPr/>
        </p:nvSpPr>
        <p:spPr>
          <a:xfrm>
            <a:off x="762000" y="8064500"/>
            <a:ext cx="14732000" cy="317500"/>
          </a:xfrm>
          <a:prstGeom prst="rect">
            <a:avLst/>
          </a:prstGeom>
          <a:noFill/>
          <a:ln/>
        </p:spPr>
        <p:txBody>
          <a:bodyPr wrap="square" lIns="0" tIns="0" rIns="0" bIns="0" rtlCol="0" anchor="ctr"/>
          <a:lstStyle/>
          <a:p>
            <a:pP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The evidence supports a clear answer: sell the phase-one product as focused operational infrastructure with recurring software and service.</a:t>
            </a:r>
            <a:endParaRPr lang="en-US" sz="1300" dirty="0"/>
          </a:p>
        </p:txBody>
      </p:sp>
      <p:sp>
        <p:nvSpPr>
          <p:cNvPr id="14" name="Shape 11"/>
          <p:cNvSpPr/>
          <p:nvPr/>
        </p:nvSpPr>
        <p:spPr>
          <a:xfrm>
            <a:off x="762000" y="8636000"/>
            <a:ext cx="14732000" cy="25400"/>
          </a:xfrm>
          <a:prstGeom prst="rect">
            <a:avLst/>
          </a:prstGeom>
          <a:solidFill>
            <a:srgbClr val="D97706"/>
          </a:solidFill>
          <a:ln/>
        </p:spPr>
      </p:sp>
      <p:sp>
        <p:nvSpPr>
          <p:cNvPr id="15" name="Text 12"/>
          <p:cNvSpPr/>
          <p:nvPr/>
        </p:nvSpPr>
        <p:spPr>
          <a:xfrm>
            <a:off x="14732000" y="8763000"/>
            <a:ext cx="762000" cy="254000"/>
          </a:xfrm>
          <a:prstGeom prst="rect">
            <a:avLst/>
          </a:prstGeom>
          <a:noFill/>
          <a:ln/>
        </p:spPr>
        <p:txBody>
          <a:bodyPr wrap="none" lIns="0" tIns="0" rIns="0" bIns="0" rtlCol="0" anchor="ctr"/>
          <a:lstStyle/>
          <a:p>
            <a:pPr algn="r">
              <a:lnSpc>
                <a:spcPct val="140000"/>
              </a:lnSpc>
            </a:pPr>
            <a:r>
              <a:rPr lang="en-US" sz="1300" dirty="0">
                <a:solidFill>
                  <a:srgbClr val="475569"/>
                </a:solidFill>
                <a:latin typeface="QuattrocentoSans" pitchFamily="34" charset="0"/>
                <a:ea typeface="QuattrocentoSans" pitchFamily="34" charset="-122"/>
                <a:cs typeface="QuattrocentoSans" pitchFamily="34" charset="-120"/>
              </a:rPr>
              <a:t>32</a:t>
            </a:r>
            <a:endParaRPr lang="en-US" sz="1300" dirty="0"/>
          </a:p>
        </p:txBody>
      </p:sp>
    </p:spTree>
  </p:cSld>
  <p:clrMapOvr>
    <a:masterClrMapping/>
  </p:clrMapOvr>
  <p:transition>
    <p:fade/>
    <p:spd val="med"/>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https://kimi-img.moonshot.cn/pub/slides/okc/twrgmxeyd52h4/mnt/agents/output/business_model/images/5_Free_Robotic_lab_automation_Image.png">    </p:cNvPr>
          <p:cNvPicPr>
            <a:picLocks noChangeAspect="1"/>
          </p:cNvPicPr>
          <p:nvPr/>
        </p:nvPicPr>
        <p:blipFill>
          <a:blip r:embed="rId1"/>
          <a:srcRect l="183" r="183"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172A">
                  <a:alpha val="90000"/>
                </a:srgbClr>
              </a:gs>
              <a:gs pos="50000">
                <a:srgbClr val="0F172A">
                  <a:alpha val="80000"/>
                </a:srgbClr>
              </a:gs>
              <a:gs pos="100000">
                <a:srgbClr val="0F172A">
                  <a:alpha val="94000"/>
                </a:srgbClr>
              </a:gs>
            </a:gsLst>
            <a:lin ang="5400000" scaled="1"/>
          </a:gradFill>
          <a:ln w="12700">
            <a:solidFill>
              <a:srgbClr val="333333"/>
            </a:solidFill>
            <a:prstDash val="solid"/>
          </a:ln>
        </p:spPr>
      </p:sp>
      <p:sp>
        <p:nvSpPr>
          <p:cNvPr id="4" name="Shape 1"/>
          <p:cNvSpPr/>
          <p:nvPr/>
        </p:nvSpPr>
        <p:spPr>
          <a:xfrm>
            <a:off x="6858000" y="2540000"/>
            <a:ext cx="2540000" cy="38100"/>
          </a:xfrm>
          <a:prstGeom prst="rect">
            <a:avLst/>
          </a:prstGeom>
          <a:solidFill>
            <a:srgbClr val="D97706"/>
          </a:solidFill>
          <a:ln/>
        </p:spPr>
      </p:sp>
      <p:sp>
        <p:nvSpPr>
          <p:cNvPr id="5" name="Text 2"/>
          <p:cNvSpPr/>
          <p:nvPr/>
        </p:nvSpPr>
        <p:spPr>
          <a:xfrm>
            <a:off x="1270000" y="2794000"/>
            <a:ext cx="13716000" cy="889000"/>
          </a:xfrm>
          <a:prstGeom prst="rect">
            <a:avLst/>
          </a:prstGeom>
          <a:noFill/>
          <a:ln/>
        </p:spPr>
        <p:txBody>
          <a:bodyPr wrap="square" lIns="0" tIns="0" rIns="0" bIns="0" rtlCol="0" anchor="ctr"/>
          <a:lstStyle/>
          <a:p>
            <a:pPr algn="ctr">
              <a:lnSpc>
                <a:spcPct val="100000"/>
              </a:lnSpc>
            </a:pPr>
            <a:r>
              <a:rPr lang="en-US" sz="3800" spc="200" kern="0" dirty="0">
                <a:solidFill>
                  <a:srgbClr val="F1F5F9"/>
                </a:solidFill>
                <a:latin typeface="Liter" pitchFamily="34" charset="0"/>
                <a:ea typeface="Liter" pitchFamily="34" charset="-122"/>
                <a:cs typeface="Liter" pitchFamily="34" charset="-120"/>
              </a:rPr>
              <a:t>BUILDING THE FUTURE OF LAB AUTOMATION IN INDIA</a:t>
            </a:r>
            <a:endParaRPr lang="en-US" sz="1600" dirty="0"/>
          </a:p>
        </p:txBody>
      </p:sp>
      <p:sp>
        <p:nvSpPr>
          <p:cNvPr id="6" name="Shape 3"/>
          <p:cNvSpPr/>
          <p:nvPr/>
        </p:nvSpPr>
        <p:spPr>
          <a:xfrm>
            <a:off x="6858000" y="3873500"/>
            <a:ext cx="2540000" cy="38100"/>
          </a:xfrm>
          <a:prstGeom prst="rect">
            <a:avLst/>
          </a:prstGeom>
          <a:solidFill>
            <a:srgbClr val="D97706"/>
          </a:solidFill>
          <a:ln/>
        </p:spPr>
      </p:sp>
      <p:sp>
        <p:nvSpPr>
          <p:cNvPr id="7" name="Text 4"/>
          <p:cNvSpPr/>
          <p:nvPr/>
        </p:nvSpPr>
        <p:spPr>
          <a:xfrm>
            <a:off x="2540000" y="4127500"/>
            <a:ext cx="11176000" cy="508000"/>
          </a:xfrm>
          <a:prstGeom prst="rect">
            <a:avLst/>
          </a:prstGeom>
          <a:noFill/>
          <a:ln/>
        </p:spPr>
        <p:txBody>
          <a:bodyPr wrap="square" lIns="0" tIns="0" rIns="0" bIns="0" rtlCol="0" anchor="ctr"/>
          <a:lstStyle/>
          <a:p>
            <a:pPr algn="ctr">
              <a:lnSpc>
                <a:spcPct val="100000"/>
              </a:lnSpc>
            </a:pPr>
            <a:r>
              <a:rPr lang="en-US" sz="2000" spc="300" kern="0" dirty="0">
                <a:solidFill>
                  <a:srgbClr val="D97706"/>
                </a:solidFill>
                <a:latin typeface="Quattrocento Sans" pitchFamily="34" charset="0"/>
                <a:ea typeface="Quattrocento Sans" pitchFamily="34" charset="-122"/>
                <a:cs typeface="Quattrocento Sans" pitchFamily="34" charset="-120"/>
              </a:rPr>
              <a:t>HYBRID MODEL | PAID PILOTS | QUALITY NARRATIVE</a:t>
            </a:r>
            <a:endParaRPr lang="en-US" sz="1600" dirty="0"/>
          </a:p>
        </p:txBody>
      </p:sp>
      <p:sp>
        <p:nvSpPr>
          <p:cNvPr id="8" name="Text 5"/>
          <p:cNvSpPr/>
          <p:nvPr/>
        </p:nvSpPr>
        <p:spPr>
          <a:xfrm>
            <a:off x="2540000" y="4953000"/>
            <a:ext cx="11176000" cy="1270000"/>
          </a:xfrm>
          <a:prstGeom prst="rect">
            <a:avLst/>
          </a:prstGeom>
          <a:noFill/>
          <a:ln/>
        </p:spPr>
        <p:txBody>
          <a:bodyPr wrap="square" lIns="0" tIns="0" rIns="0" bIns="0" rtlCol="0" anchor="ctr"/>
          <a:lstStyle/>
          <a:p>
            <a:pPr algn="ctr">
              <a:lnSpc>
                <a:spcPct val="160000"/>
              </a:lnSpc>
            </a:pPr>
            <a:r>
              <a:rPr lang="en-US" sz="1800" dirty="0">
                <a:solidFill>
                  <a:srgbClr val="F1F5F9"/>
                </a:solidFill>
                <a:latin typeface="Quattrocento Sans" pitchFamily="34" charset="0"/>
                <a:ea typeface="Quattrocento Sans" pitchFamily="34" charset="-122"/>
                <a:cs typeface="Quattrocento Sans" pitchFamily="34" charset="-120"/>
              </a:rPr>
              <a:t>Data-driven evolution. Every phase funds the next.</a:t>
            </a:r>
            <a:endParaRPr lang="en-US" sz="1600" dirty="0"/>
          </a:p>
          <a:p>
            <a:pPr algn="ctr">
              <a:lnSpc>
                <a:spcPct val="160000"/>
              </a:lnSpc>
            </a:pPr>
            <a:r>
              <a:rPr lang="en-US" sz="1800" dirty="0">
                <a:solidFill>
                  <a:srgbClr val="F1F5F9"/>
                </a:solidFill>
                <a:latin typeface="Quattrocento Sans" pitchFamily="34" charset="0"/>
                <a:ea typeface="Quattrocento Sans" pitchFamily="34" charset="-122"/>
                <a:cs typeface="Quattrocento Sans" pitchFamily="34" charset="-120"/>
              </a:rPr>
              <a:t>Every deployment makes the model smarter.</a:t>
            </a:r>
            <a:endParaRPr lang="en-US" sz="1600" dirty="0"/>
          </a:p>
        </p:txBody>
      </p:sp>
      <p:sp>
        <p:nvSpPr>
          <p:cNvPr id="9" name="Text 6"/>
          <p:cNvSpPr/>
          <p:nvPr/>
        </p:nvSpPr>
        <p:spPr>
          <a:xfrm>
            <a:off x="2540000" y="6477000"/>
            <a:ext cx="11176000" cy="1016000"/>
          </a:xfrm>
          <a:prstGeom prst="rect">
            <a:avLst/>
          </a:prstGeom>
          <a:noFill/>
          <a:ln/>
        </p:spPr>
        <p:txBody>
          <a:bodyPr wrap="square" lIns="0" tIns="0" rIns="0" bIns="0" rtlCol="0" anchor="ctr"/>
          <a:lstStyle/>
          <a:p>
            <a:pPr algn="ctr">
              <a:lnSpc>
                <a:spcPct val="160000"/>
              </a:lnSpc>
            </a:pPr>
            <a:r>
              <a:rPr lang="en-US" sz="1600" dirty="0">
                <a:solidFill>
                  <a:srgbClr val="94A3B8"/>
                </a:solidFill>
                <a:latin typeface="Quattrocento Sans" pitchFamily="34" charset="0"/>
                <a:ea typeface="Quattrocento Sans" pitchFamily="34" charset="-122"/>
                <a:cs typeface="Quattrocento Sans" pitchFamily="34" charset="-120"/>
              </a:rPr>
              <a:t>Rs.15-30L Deployment + Rs.50K-2L/mo Software + Annual Service Tiers</a:t>
            </a:r>
            <a:endParaRPr lang="en-US" sz="1600" dirty="0"/>
          </a:p>
          <a:p>
            <a:pPr algn="ctr">
              <a:lnSpc>
                <a:spcPct val="160000"/>
              </a:lnSpc>
            </a:pPr>
            <a:r>
              <a:rPr lang="en-US" sz="1600" dirty="0">
                <a:solidFill>
                  <a:srgbClr val="94A3B8"/>
                </a:solidFill>
                <a:latin typeface="Quattrocento Sans" pitchFamily="34" charset="0"/>
                <a:ea typeface="Quattrocento Sans" pitchFamily="34" charset="-122"/>
                <a:cs typeface="Quattrocento Sans" pitchFamily="34" charset="-120"/>
              </a:rPr>
              <a:t>Phase 0 Simulations | Phase 1 Gantry | Phase 2 +Arm | Phase 3 +2 Arms</a:t>
            </a:r>
            <a:endParaRPr lang="en-US" sz="1600" dirty="0"/>
          </a:p>
        </p:txBody>
      </p:sp>
      <p:sp>
        <p:nvSpPr>
          <p:cNvPr id="10" name="Text 7"/>
          <p:cNvSpPr/>
          <p:nvPr/>
        </p:nvSpPr>
        <p:spPr>
          <a:xfrm>
            <a:off x="5588000" y="8128000"/>
            <a:ext cx="5080000" cy="317500"/>
          </a:xfrm>
          <a:prstGeom prst="rect">
            <a:avLst/>
          </a:prstGeom>
          <a:noFill/>
          <a:ln/>
        </p:spPr>
        <p:txBody>
          <a:bodyPr wrap="square" lIns="0" tIns="0" rIns="0" bIns="0" rtlCol="0" anchor="ctr"/>
          <a:lstStyle/>
          <a:p>
            <a:pPr algn="ctr">
              <a:lnSpc>
                <a:spcPct val="100000"/>
              </a:lnSpc>
            </a:pPr>
            <a:r>
              <a:rPr lang="en-US" sz="1400" dirty="0">
                <a:solidFill>
                  <a:srgbClr val="94A3B8"/>
                </a:solidFill>
                <a:latin typeface="Quattrocento Sans" pitchFamily="34" charset="0"/>
                <a:ea typeface="Quattrocento Sans" pitchFamily="34" charset="-122"/>
                <a:cs typeface="Quattrocento Sans" pitchFamily="34" charset="-120"/>
              </a:rPr>
              <a:t>June 2026</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India-first Business Models for Adaptive Gantry and VLA Lab Automation in Diagnostic Labs</dc:title>
  <dc:subject>India-first Business Models for Adaptive Gantry and VLA Lab Automation in Diagnostic Labs</dc:subject>
  <dc:creator>Kimi</dc:creator>
  <cp:lastModifiedBy>Kimi</cp:lastModifiedBy>
  <cp:revision>1</cp:revision>
  <dcterms:created xsi:type="dcterms:W3CDTF">2026-06-06T08:02:54Z</dcterms:created>
  <dcterms:modified xsi:type="dcterms:W3CDTF">2026-06-06T08:02:54Z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{"Label":"India-first Business Models for Adaptive Gantry and VLA Lab Automation in Diagnostic Labs","ContentProducer":"001191110108MACG2KBH8F10000","ProduceID":"19e9bed9-bc92-8cc1-8000-000061035628","ReservedCode1":"","ContentPropagator":"001191110108MACG2KBH8F20000","PropagateID":"19e9bed9-bc92-8cc1-8000-000061035628","ReservedCode2":""}</vt:lpwstr>
  </property>
</Properties>
</file>